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 id="2147483675" r:id="rId5"/>
    <p:sldMasterId id="2147483676" r:id="rId6"/>
    <p:sldMasterId id="2147483677" r:id="rId7"/>
    <p:sldMasterId id="2147483678"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Lst>
  <p:sldSz cy="5143500" cx="9144000"/>
  <p:notesSz cx="6858000" cy="9144000"/>
  <p:embeddedFontLst>
    <p:embeddedFont>
      <p:font typeface="Comic Neue"/>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1.xml"/><Relationship Id="rId11" Type="http://schemas.openxmlformats.org/officeDocument/2006/relationships/slide" Target="slides/slide2.xml"/><Relationship Id="rId22" Type="http://schemas.openxmlformats.org/officeDocument/2006/relationships/font" Target="fonts/ComicNeue-bold.fntdata"/><Relationship Id="rId10" Type="http://schemas.openxmlformats.org/officeDocument/2006/relationships/slide" Target="slides/slide1.xml"/><Relationship Id="rId21" Type="http://schemas.openxmlformats.org/officeDocument/2006/relationships/font" Target="fonts/ComicNeue-regular.fntdata"/><Relationship Id="rId13" Type="http://schemas.openxmlformats.org/officeDocument/2006/relationships/slide" Target="slides/slide4.xml"/><Relationship Id="rId24" Type="http://schemas.openxmlformats.org/officeDocument/2006/relationships/font" Target="fonts/ComicNeue-boldItalic.fntdata"/><Relationship Id="rId12" Type="http://schemas.openxmlformats.org/officeDocument/2006/relationships/slide" Target="slides/slide3.xml"/><Relationship Id="rId23" Type="http://schemas.openxmlformats.org/officeDocument/2006/relationships/font" Target="fonts/ComicNeue-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5" Type="http://schemas.openxmlformats.org/officeDocument/2006/relationships/slideMaster" Target="slideMasters/slideMaster2.xml"/><Relationship Id="rId19" Type="http://schemas.openxmlformats.org/officeDocument/2006/relationships/slide" Target="slides/slide10.xml"/><Relationship Id="rId6" Type="http://schemas.openxmlformats.org/officeDocument/2006/relationships/slideMaster" Target="slideMasters/slideMaster3.xml"/><Relationship Id="rId18" Type="http://schemas.openxmlformats.org/officeDocument/2006/relationships/slide" Target="slides/slide9.xml"/><Relationship Id="rId7" Type="http://schemas.openxmlformats.org/officeDocument/2006/relationships/slideMaster" Target="slideMasters/slideMaster4.xml"/><Relationship Id="rId8" Type="http://schemas.openxmlformats.org/officeDocument/2006/relationships/slideMaster" Target="slideMasters/slideMaster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b82286656_3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fb82286656_3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A04 | ITAI 2376 | Group 4</a:t>
            </a:r>
            <a:br>
              <a:rPr lang="en"/>
            </a:br>
            <a:r>
              <a:rPr lang="en"/>
              <a:t>Deep Learning for an 11-Year-Old</a:t>
            </a:r>
            <a:br>
              <a:rPr lang="en"/>
            </a:br>
            <a:br>
              <a:rPr lang="en"/>
            </a:br>
            <a:r>
              <a:rPr lang="en"/>
              <a:t>Can a Computer Learn From Its Mistakes?</a:t>
            </a:r>
            <a:br>
              <a:rPr lang="en"/>
            </a:br>
            <a:r>
              <a:rPr lang="en"/>
              <a:t>How Artificial Intelligence (AI) Gets Better at Guessing</a:t>
            </a:r>
            <a:br>
              <a:rPr lang="en"/>
            </a:br>
            <a:br>
              <a:rPr lang="en"/>
            </a:br>
            <a:r>
              <a:rPr lang="en"/>
              <a:t>Presented by Esther Odaibo, King Owusu, Louis Delgado, and Zain Ahmed.</a:t>
            </a:r>
            <a:br>
              <a:rPr lang="en"/>
            </a:br>
            <a:br>
              <a:rPr lang="en"/>
            </a:br>
            <a:r>
              <a:rPr lang="en"/>
              <a:t>One practice round: the computer guesses “Dog?” but the answer key says “Cat.” A mistake is a place to start.</a:t>
            </a:r>
            <a:br>
              <a:rPr lang="en"/>
            </a:br>
            <a:br>
              <a:rPr lang="en"/>
            </a:br>
            <a:r>
              <a:rPr lang="en"/>
              <a:t>The cartoon computer is a visual character used to introduce the training example.</a:t>
            </a:r>
            <a:endParaRPr/>
          </a:p>
        </p:txBody>
      </p:sp>
      <p:sp>
        <p:nvSpPr>
          <p:cNvPr id="165" name="Google Shape;165;g3fb82286656_3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b82286656_3_3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fb82286656_3_3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How Does a Computer Know When It’s Wrong?</a:t>
            </a:r>
            <a:br>
              <a:rPr lang="en"/>
            </a:br>
            <a:br>
              <a:rPr lang="en"/>
            </a:br>
            <a:r>
              <a:rPr lang="en"/>
              <a:t>Imagine teaching a computer to tell cats from dogs. People label the practice photos “cat” or “dog.” Those labels are the answer key, saved for checking after the computer guesses.</a:t>
            </a:r>
            <a:br>
              <a:rPr lang="en"/>
            </a:br>
            <a:br>
              <a:rPr lang="en"/>
            </a:br>
            <a:r>
              <a:rPr lang="en"/>
              <a:t>Input → Forward Pass → Loss Calculation → Weight Update → Next Iteration</a:t>
            </a:r>
            <a:br>
              <a:rPr lang="en"/>
            </a:br>
            <a:br>
              <a:rPr lang="en"/>
            </a:br>
            <a:r>
              <a:rPr lang="en"/>
              <a:t>INPUT — “Look at the Picture”</a:t>
            </a:r>
            <a:br>
              <a:rPr lang="en"/>
            </a:br>
            <a:r>
              <a:rPr lang="en"/>
              <a:t>The computer receives a photo, but it does not get to peek at the answer label.</a:t>
            </a:r>
            <a:br>
              <a:rPr lang="en"/>
            </a:br>
            <a:br>
              <a:rPr lang="en"/>
            </a:br>
            <a:r>
              <a:rPr lang="en"/>
              <a:t>FORWARD PASS — “Make a Guess”</a:t>
            </a:r>
            <a:br>
              <a:rPr lang="en"/>
            </a:br>
            <a:r>
              <a:rPr lang="en"/>
              <a:t>The photo’s information passes through the neural network. Using its current settings, the computer predicts: “I think it’s a dog!”</a:t>
            </a:r>
            <a:br>
              <a:rPr lang="en"/>
            </a:br>
            <a:br>
              <a:rPr lang="en"/>
            </a:br>
            <a:r>
              <a:rPr lang="en"/>
              <a:t>LOSS CALCULATION — “Check the Answer”</a:t>
            </a:r>
            <a:br>
              <a:rPr lang="en"/>
            </a:br>
            <a:r>
              <a:rPr lang="en"/>
              <a:t>The answer key says “cat.” The computer compares its prediction with that label. Its loss is an error score: a bigger score means a bigger mismatch.</a:t>
            </a:r>
            <a:br>
              <a:rPr lang="en"/>
            </a:br>
            <a:br>
              <a:rPr lang="en"/>
            </a:br>
            <a:r>
              <a:rPr lang="en"/>
              <a:t>WEIGHT UPDATE — “Adjust the Controls”</a:t>
            </a:r>
            <a:br>
              <a:rPr lang="en"/>
            </a:br>
            <a:r>
              <a:rPr lang="en"/>
              <a:t>Think of turning a speaker’s volume from 2 to 5. Those numbers are settings that control how strongly you hear the sound. Weights work a little like volume controls: they change how strongly signals inside the network influence its guess. The computer adjusts these settings to try to lower its error score. There are no actual knobs; the settings are stored as numbers.</a:t>
            </a:r>
            <a:br>
              <a:rPr lang="en"/>
            </a:br>
            <a:br>
              <a:rPr lang="en"/>
            </a:br>
            <a:r>
              <a:rPr lang="en"/>
              <a:t>NEXT ITERATION — “Practice Again”</a:t>
            </a:r>
            <a:br>
              <a:rPr lang="en"/>
            </a:br>
            <a:r>
              <a:rPr lang="en"/>
              <a:t>The computer tries more labeled photos using its adjusted settings. Each new practice round is an iteration.</a:t>
            </a:r>
            <a:br>
              <a:rPr lang="en"/>
            </a:br>
            <a:br>
              <a:rPr lang="en"/>
            </a:br>
            <a:r>
              <a:rPr lang="en"/>
              <a:t>Our big question: Which controls should we adjust, and by how much?</a:t>
            </a:r>
            <a:br>
              <a:rPr lang="en"/>
            </a:br>
            <a:br>
              <a:rPr lang="en"/>
            </a:br>
            <a:r>
              <a:rPr lang="en"/>
              <a:t>Source basis: the explanation and examples developed and approved in this conversation. This redesign changes the visual presentation, not the instructional framing. Full explanations are kept here so that slide text can remain readable.</a:t>
            </a:r>
            <a:endParaRPr/>
          </a:p>
        </p:txBody>
      </p:sp>
      <p:sp>
        <p:nvSpPr>
          <p:cNvPr id="200" name="Google Shape;200;g3fb82286656_3_3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b8ebe14a6_5_75:notes"/>
          <p:cNvSpPr/>
          <p:nvPr>
            <p:ph idx="2" type="sldImg"/>
          </p:nvPr>
        </p:nvSpPr>
        <p:spPr>
          <a:xfrm>
            <a:off x="-3" y="0"/>
            <a:ext cx="3000006"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g3fb8ebe14a6_5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PRESENTER: Louis (James) Delgado | Group 4</a:t>
            </a:r>
            <a:endParaRPr/>
          </a:p>
          <a:p>
            <a:pPr indent="0" lvl="0" marL="0" rtl="0" algn="l">
              <a:spcBef>
                <a:spcPts val="0"/>
              </a:spcBef>
              <a:spcAft>
                <a:spcPts val="0"/>
              </a:spcAft>
              <a:buNone/>
            </a:pPr>
            <a:r>
              <a:rPr lang="en"/>
              <a:t>SUGGESTED NARRATION (about 60 seconds)</a:t>
            </a:r>
            <a:endParaRPr/>
          </a:p>
          <a:p>
            <a:pPr indent="0" lvl="0" marL="0" rtl="0" algn="l">
              <a:spcBef>
                <a:spcPts val="0"/>
              </a:spcBef>
              <a:spcAft>
                <a:spcPts val="0"/>
              </a:spcAft>
              <a:buNone/>
            </a:pPr>
            <a:r>
              <a:rPr lang="en"/>
              <a:t>Remember our cat photo and the computer that guessed “Dog?” The way we improve that guess has a history long before AI. In 1847, Augustin-Louis Cauchy described a method motivated by difficult astronomical calculations, including determining the orbit of a celestial body. Instead of solving every unknown in one giant leap, use slope information to improve a starting estimate.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our bridge: an orbit calculation has settings describing the orbit, while a neural network has weights describing how signals influence its guess. In each case, we can measure a mismatch. Picture that error as height on a map. The gradient tells us which way is steepest uphill. Descent means taking a controlled step in the opposite direction, then calculating the slope again. The cat photo and CAT answer key do not change. The computer changes its settings.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HISTORICAL PRECISION</a:t>
            </a:r>
            <a:endParaRPr/>
          </a:p>
          <a:p>
            <a:pPr indent="0" lvl="0" marL="0" rtl="0" algn="l">
              <a:spcBef>
                <a:spcPts val="0"/>
              </a:spcBef>
              <a:spcAft>
                <a:spcPts val="0"/>
              </a:spcAft>
              <a:buNone/>
            </a:pPr>
            <a:r>
              <a:rPr lang="en"/>
              <a:t>Lemaréchal reproduces and analyzes Cauchy’s 1847 note. The opening specifically identifies astronomical calculation as the motivation and orbital elements as the unknowns. Cauchy discusses algebraic equations describing motion, not directly integrating the differential equations of an orbit. It is accurate to link the method’s motivation to orbit calculation; do not claim that Cauchy invented orbital mechanics or artificial intelligence.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CONCEPTUAL PRECISION</a:t>
            </a:r>
            <a:endParaRPr/>
          </a:p>
          <a:p>
            <a:pPr indent="0" lvl="0" marL="0" rtl="0" algn="l">
              <a:spcBef>
                <a:spcPts val="0"/>
              </a:spcBef>
              <a:spcAft>
                <a:spcPts val="0"/>
              </a:spcAft>
              <a:buNone/>
            </a:pPr>
            <a:r>
              <a:rPr lang="en"/>
              <a:t>The gradient is a vector of partial derivatives in a multi-parameter setting. It points toward steepest local increase in the ordinary Euclidean geometry. For a sufficiently small step at a differentiable point with a nonzero gradient, moving opposite it lowers the objective locally. The drawn path is an analogy, not a literal space orbit or a measured training result. Global optimality is not guaranteed. We use “slope information” rather than implying the gradient points downhill.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REFERENCES</a:t>
            </a:r>
            <a:endParaRPr/>
          </a:p>
          <a:p>
            <a:pPr indent="0" lvl="0" marL="0" rtl="0" algn="l">
              <a:spcBef>
                <a:spcPts val="0"/>
              </a:spcBef>
              <a:spcAft>
                <a:spcPts val="0"/>
              </a:spcAft>
              <a:buNone/>
            </a:pPr>
            <a:r>
              <a:rPr lang="en"/>
              <a:t>Cauchy, A.-L. (1847). Méthode générale pour la résolution des systèmes d’équations simultanées. Comptes rendus de l’Académie des sciences, 25, 536–538.</a:t>
            </a:r>
            <a:endParaRPr/>
          </a:p>
          <a:p>
            <a:pPr indent="0" lvl="0" marL="0" rtl="0" algn="l">
              <a:spcBef>
                <a:spcPts val="0"/>
              </a:spcBef>
              <a:spcAft>
                <a:spcPts val="0"/>
              </a:spcAft>
              <a:buNone/>
            </a:pPr>
            <a:r>
              <a:rPr lang="en"/>
              <a:t>Lemaréchal, C. (2012). Cauchy and the gradient method. Documenta Mathematica, Extra Volume ISMP, 251–254. https://doi.org/10.4171/DMS/6/27 ; https://ems.press/books/dms/251/4938</a:t>
            </a:r>
            <a:endParaRPr/>
          </a:p>
          <a:p>
            <a:pPr indent="0" lvl="0" marL="0" rtl="0" algn="l">
              <a:spcBef>
                <a:spcPts val="0"/>
              </a:spcBef>
              <a:spcAft>
                <a:spcPts val="0"/>
              </a:spcAft>
              <a:buNone/>
            </a:pPr>
            <a:r>
              <a:rPr lang="en"/>
              <a:t>Google. Machine Learning Crash Course: Linear regression — Gradient descent. https://developers.google.com/machine-learning/crash-course/linear-regression/gradient-descent</a:t>
            </a:r>
            <a:endParaRPr/>
          </a:p>
          <a:p>
            <a:pPr indent="0" lvl="0" marL="0" rtl="0" algn="l">
              <a:spcBef>
                <a:spcPts val="0"/>
              </a:spcBef>
              <a:spcAft>
                <a:spcPts val="0"/>
              </a:spcAft>
              <a:buNone/>
            </a:pPr>
            <a:r>
              <a:rPr lang="en"/>
              <a:t>Google. Convolutional neural networks, with Keras and TPUs, section “Gradient descent.” https://codelabs.developers.google.com/codelabs/keras-flowers-convnets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ARTWORK</a:t>
            </a:r>
            <a:endParaRPr/>
          </a:p>
          <a:p>
            <a:pPr indent="0" lvl="0" marL="0" rtl="0" algn="l">
              <a:spcBef>
                <a:spcPts val="0"/>
              </a:spcBef>
              <a:spcAft>
                <a:spcPts val="0"/>
              </a:spcAft>
              <a:buNone/>
            </a:pPr>
            <a:r>
              <a:rPr lang="en"/>
              <a:t>Cat photo, cartoon computer, speech bubble, paper background, speaker and control artwork match the user-supplied A04_Group4_Title_Intro_Comic(1).pptx. The lesson keeps the ongoing cat-versus-dog practice story. The orbit and loss-map diagrams are illustrative, not real observations.</a:t>
            </a:r>
            <a:endParaRPr/>
          </a:p>
          <a:p>
            <a:pPr indent="0" lvl="0" marL="0" rtl="0" algn="l">
              <a:spcBef>
                <a:spcPts val="0"/>
              </a:spcBef>
              <a:spcAft>
                <a:spcPts val="0"/>
              </a:spcAft>
              <a:buNone/>
            </a:pPr>
            <a:r>
              <a:t/>
            </a:r>
            <a:endParaRPr/>
          </a:p>
        </p:txBody>
      </p:sp>
      <p:sp>
        <p:nvSpPr>
          <p:cNvPr id="262" name="Google Shape;262;g3fb8ebe14a6_5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b8ebe14a6_5_131:notes"/>
          <p:cNvSpPr/>
          <p:nvPr>
            <p:ph idx="2" type="sldImg"/>
          </p:nvPr>
        </p:nvSpPr>
        <p:spPr>
          <a:xfrm>
            <a:off x="-3" y="0"/>
            <a:ext cx="3000006"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g3fb8ebe14a6_5_1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PRESENTER: Louis (James) Delgado | Group 4</a:t>
            </a:r>
            <a:endParaRPr/>
          </a:p>
          <a:p>
            <a:pPr indent="0" lvl="0" marL="0" rtl="0" algn="l">
              <a:spcBef>
                <a:spcPts val="0"/>
              </a:spcBef>
              <a:spcAft>
                <a:spcPts val="0"/>
              </a:spcAft>
              <a:buNone/>
            </a:pPr>
            <a:r>
              <a:rPr lang="en"/>
              <a:t>SUGGESTED NARRATION (about 60 seconds)</a:t>
            </a:r>
            <a:endParaRPr/>
          </a:p>
          <a:p>
            <a:pPr indent="0" lvl="0" marL="0" rtl="0" algn="l">
              <a:spcBef>
                <a:spcPts val="0"/>
              </a:spcBef>
              <a:spcAft>
                <a:spcPts val="0"/>
              </a:spcAft>
              <a:buNone/>
            </a:pPr>
            <a:r>
              <a:rPr lang="en"/>
              <a:t>The answer key still says CAT. We do not fix the wrong guess by changing that answer. We change the network’s weights. Think about turning a speaker from volume 2 to volume 5: the numbers are settings, and changing them changes the result. Weights are numerical settings that change how strongly signals influence the prediction. There are no physical knobs inside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this map, moving left or right changes one weight setting. Moving up or down changes the error score, called loss. A point higher up disagrees more strongly with our CAT label. A lower point has less mismatch. The slope gives the local clue, and gradient descent moves the setting in the opposite direction to try to lower loss. Our key discovery was that going downhill does NOT necessarily mean making a weight smaller: sometimes a weight must increase for error to decrease.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learning rate controls how strongly we apply the update. Tiny steps may be slow; giant steps may overshoot. Recalculate and repeat on many training examples.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CONNECTION TO KING’S SECTION</a:t>
            </a:r>
            <a:endParaRPr/>
          </a:p>
          <a:p>
            <a:pPr indent="0" lvl="0" marL="0" rtl="0" algn="l">
              <a:spcBef>
                <a:spcPts val="0"/>
              </a:spcBef>
              <a:spcAft>
                <a:spcPts val="0"/>
              </a:spcAft>
              <a:buNone/>
            </a:pPr>
            <a:r>
              <a:rPr lang="en"/>
              <a:t>Backpropagation calculates gradients. Gradient descent uses those gradients to update weights. A natural transition: “King explained how we find the slopes. Now we use them to change the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ACCURACY NOTES</a:t>
            </a:r>
            <a:endParaRPr/>
          </a:p>
          <a:p>
            <a:pPr indent="0" lvl="0" marL="0" rtl="0" algn="l">
              <a:spcBef>
                <a:spcPts val="0"/>
              </a:spcBef>
              <a:spcAft>
                <a:spcPts val="0"/>
              </a:spcAft>
              <a:buNone/>
            </a:pPr>
            <a:r>
              <a:rPr lang="en"/>
              <a:t>The plotted horizontal axis is a weight, not time, practice rounds, or the position of the cat. It is a simplified illustrative slice of a loss landscape with other parameters held fixed, not data from a trained classifier. Values 2 and 5 are speaker-volume examples, not actual cat/dog model weights. Weights do not normally correspond one-to-one with hand-labeled features like ears, whiskers, or tails. The CAT target comes from the label attached to the training example. Classifier loss generally depends on predicted probabilities and the target, not merely whether a class name is right. Not every finite step reduces loss, and mini-batch updates need not improve every individual example. A globally best solution is not guaranteed.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UPDATE RULE (for presenter understanding, not required on the slide)</a:t>
            </a:r>
            <a:endParaRPr/>
          </a:p>
          <a:p>
            <a:pPr indent="0" lvl="0" marL="0" rtl="0" algn="l">
              <a:spcBef>
                <a:spcPts val="0"/>
              </a:spcBef>
              <a:spcAft>
                <a:spcPts val="0"/>
              </a:spcAft>
              <a:buNone/>
            </a:pPr>
            <a:r>
              <a:rPr lang="en"/>
              <a:t>new weight = old weight - learning rate × gradient component</a:t>
            </a:r>
            <a:endParaRPr/>
          </a:p>
          <a:p>
            <a:pPr indent="0" lvl="0" marL="0" rtl="0" algn="l">
              <a:spcBef>
                <a:spcPts val="0"/>
              </a:spcBef>
              <a:spcAft>
                <a:spcPts val="0"/>
              </a:spcAft>
              <a:buNone/>
            </a:pPr>
            <a:r>
              <a:rPr lang="en"/>
              <a:t>The learning rate scales the gradient; actual update magnitude depends on both.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REFERENCES</a:t>
            </a:r>
            <a:endParaRPr/>
          </a:p>
          <a:p>
            <a:pPr indent="0" lvl="0" marL="0" rtl="0" algn="l">
              <a:spcBef>
                <a:spcPts val="0"/>
              </a:spcBef>
              <a:spcAft>
                <a:spcPts val="0"/>
              </a:spcAft>
              <a:buNone/>
            </a:pPr>
            <a:r>
              <a:rPr lang="en"/>
              <a:t>Google. Machine Learning Crash Course: Linear regression — Gradient descent. https://developers.google.com/machine-learning/crash-course/linear-regression/gradient-descent</a:t>
            </a:r>
            <a:endParaRPr/>
          </a:p>
          <a:p>
            <a:pPr indent="0" lvl="0" marL="0" rtl="0" algn="l">
              <a:spcBef>
                <a:spcPts val="0"/>
              </a:spcBef>
              <a:spcAft>
                <a:spcPts val="0"/>
              </a:spcAft>
              <a:buNone/>
            </a:pPr>
            <a:r>
              <a:rPr lang="en"/>
              <a:t>Google. Machine Learning Crash Course: Linear regression — Hyperparameters. https://developers.google.com/machine-learning/crash-course/linear-regression/hyperparameters</a:t>
            </a:r>
            <a:endParaRPr/>
          </a:p>
          <a:p>
            <a:pPr indent="0" lvl="0" marL="0" rtl="0" algn="l">
              <a:spcBef>
                <a:spcPts val="0"/>
              </a:spcBef>
              <a:spcAft>
                <a:spcPts val="0"/>
              </a:spcAft>
              <a:buNone/>
            </a:pPr>
            <a:r>
              <a:rPr lang="en"/>
              <a:t>Google. Convolutional neural networks, with Keras and TPUs, section “Gradient descent.” https://codelabs.developers.google.com/codelabs/keras-flowers-convnets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ARTWORK</a:t>
            </a:r>
            <a:endParaRPr/>
          </a:p>
          <a:p>
            <a:pPr indent="0" lvl="0" marL="0" rtl="0" algn="l">
              <a:spcBef>
                <a:spcPts val="0"/>
              </a:spcBef>
              <a:spcAft>
                <a:spcPts val="0"/>
              </a:spcAft>
              <a:buNone/>
            </a:pPr>
            <a:r>
              <a:rPr lang="en"/>
              <a:t>The illustrated cat photo, cartoon computer, speech bubble, speaker, number controls and paper texture continue the graphics and characters from the user’s uploaded comic title/introduction deck. The text and diagrams are editable PowerPoint objects; illustrations remain image assets.</a:t>
            </a:r>
            <a:endParaRPr/>
          </a:p>
          <a:p>
            <a:pPr indent="0" lvl="0" marL="0" rtl="0" algn="l">
              <a:spcBef>
                <a:spcPts val="0"/>
              </a:spcBef>
              <a:spcAft>
                <a:spcPts val="0"/>
              </a:spcAft>
              <a:buNone/>
            </a:pPr>
            <a:r>
              <a:t/>
            </a:r>
            <a:endParaRPr/>
          </a:p>
        </p:txBody>
      </p:sp>
      <p:sp>
        <p:nvSpPr>
          <p:cNvPr id="318" name="Google Shape;318;g3fb8ebe14a6_5_1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fb8ebe14a6_2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g3fb8ebe14a6_2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Speaker notes: Think of a mystery bag. If four answers each have about the same chance, the computer has high uncertainty, so entropy is high. If one answer has most of the probability, entropy is low. Entropy measures uncertainty inside one probability distribution. It does not say whether the favorite answer is correct.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200"/>
              <a:t>Source: Google for Developers, Machine Learning Glossary. https://developers.google.com/machine-learning/glossary</a:t>
            </a:r>
            <a:endParaRPr/>
          </a:p>
        </p:txBody>
      </p:sp>
      <p:sp>
        <p:nvSpPr>
          <p:cNvPr id="375" name="Google Shape;375;g3fb8ebe14a6_2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fb8ebe14a6_2_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g3fb8ebe14a6_2_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Speaker notes: Now we reveal the answer key. Cross entropy looks at the probability the model gave the correct class. Giving the correct class a high chance produces a small loss. Being confidently wrong produces a much larger loss. During training, the network tries to reduce this loss. The mistake-score analogy stops here because cross entropy measures the error, while backpropagation calculates how the weights contributed to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200"/>
              <a:t>Source: TensorFlow, tf.keras.losses.CategoricalCrossentropy. https://www.tensorflow.org/api_docs/python/tf/keras/losses/CategoricalCrossentropy</a:t>
            </a:r>
            <a:endParaRPr/>
          </a:p>
        </p:txBody>
      </p:sp>
      <p:sp>
        <p:nvSpPr>
          <p:cNvPr id="405" name="Google Shape;405;g3fb8ebe14a6_2_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b98e0eea2_16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fb98e0eea2_16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h756fce1a29e38134_1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h756fce1a29e38134_1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fb98e0eea2_9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g3fb98e0eea2_9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fb98e0eea2_9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g3fb98e0eea2_9_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fb98e0eea2_9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3fb98e0eea2_9_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6"/>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 name="Google Shape;17;p6"/>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 name="Google Shape;18;p6"/>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7"/>
          <p:cNvSpPr txBox="1"/>
          <p:nvPr>
            <p:ph type="ctrTitle"/>
          </p:nvPr>
        </p:nvSpPr>
        <p:spPr>
          <a:xfrm>
            <a:off x="514351" y="1597819"/>
            <a:ext cx="5829312"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7"/>
          <p:cNvSpPr txBox="1"/>
          <p:nvPr>
            <p:ph idx="1" type="subTitle"/>
          </p:nvPr>
        </p:nvSpPr>
        <p:spPr>
          <a:xfrm>
            <a:off x="1028702" y="2914650"/>
            <a:ext cx="4800610"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22" name="Google Shape;22;p7"/>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 name="Google Shape;23;p7"/>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 name="Google Shape;24;p7"/>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8"/>
          <p:cNvSpPr txBox="1"/>
          <p:nvPr>
            <p:ph type="title"/>
          </p:nvPr>
        </p:nvSpPr>
        <p:spPr>
          <a:xfrm>
            <a:off x="342901" y="205978"/>
            <a:ext cx="6172213"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 name="Google Shape;27;p8"/>
          <p:cNvSpPr txBox="1"/>
          <p:nvPr>
            <p:ph idx="1" type="body"/>
          </p:nvPr>
        </p:nvSpPr>
        <p:spPr>
          <a:xfrm>
            <a:off x="342901" y="1200150"/>
            <a:ext cx="6172213"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28" name="Google Shape;28;p8"/>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 name="Google Shape;29;p8"/>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 name="Google Shape;30;p8"/>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9"/>
          <p:cNvSpPr txBox="1"/>
          <p:nvPr>
            <p:ph type="title"/>
          </p:nvPr>
        </p:nvSpPr>
        <p:spPr>
          <a:xfrm>
            <a:off x="541736" y="3305175"/>
            <a:ext cx="5829312"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 name="Google Shape;33;p9"/>
          <p:cNvSpPr txBox="1"/>
          <p:nvPr>
            <p:ph idx="1" type="body"/>
          </p:nvPr>
        </p:nvSpPr>
        <p:spPr>
          <a:xfrm>
            <a:off x="541736" y="2180035"/>
            <a:ext cx="5829312"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34" name="Google Shape;34;p9"/>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Google Shape;35;p9"/>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 name="Google Shape;36;p9"/>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0"/>
          <p:cNvSpPr txBox="1"/>
          <p:nvPr>
            <p:ph type="title"/>
          </p:nvPr>
        </p:nvSpPr>
        <p:spPr>
          <a:xfrm>
            <a:off x="342901" y="205978"/>
            <a:ext cx="6172213"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9" name="Google Shape;39;p10"/>
          <p:cNvSpPr txBox="1"/>
          <p:nvPr>
            <p:ph idx="1" type="body"/>
          </p:nvPr>
        </p:nvSpPr>
        <p:spPr>
          <a:xfrm>
            <a:off x="342901" y="1200150"/>
            <a:ext cx="3028956"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40" name="Google Shape;40;p10"/>
          <p:cNvSpPr txBox="1"/>
          <p:nvPr>
            <p:ph idx="2" type="body"/>
          </p:nvPr>
        </p:nvSpPr>
        <p:spPr>
          <a:xfrm>
            <a:off x="3486157" y="1200150"/>
            <a:ext cx="3028956"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41" name="Google Shape;41;p10"/>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 name="Google Shape;42;p10"/>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Google Shape;43;p10"/>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1"/>
          <p:cNvSpPr txBox="1"/>
          <p:nvPr>
            <p:ph type="title"/>
          </p:nvPr>
        </p:nvSpPr>
        <p:spPr>
          <a:xfrm>
            <a:off x="342901" y="205978"/>
            <a:ext cx="6172213"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6" name="Google Shape;46;p11"/>
          <p:cNvSpPr txBox="1"/>
          <p:nvPr>
            <p:ph idx="1" type="body"/>
          </p:nvPr>
        </p:nvSpPr>
        <p:spPr>
          <a:xfrm>
            <a:off x="342901" y="1151335"/>
            <a:ext cx="3030147"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7" name="Google Shape;47;p11"/>
          <p:cNvSpPr txBox="1"/>
          <p:nvPr>
            <p:ph idx="2" type="body"/>
          </p:nvPr>
        </p:nvSpPr>
        <p:spPr>
          <a:xfrm>
            <a:off x="342901" y="1631156"/>
            <a:ext cx="3030147"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8" name="Google Shape;48;p11"/>
          <p:cNvSpPr txBox="1"/>
          <p:nvPr>
            <p:ph idx="3" type="body"/>
          </p:nvPr>
        </p:nvSpPr>
        <p:spPr>
          <a:xfrm>
            <a:off x="3483776" y="1151335"/>
            <a:ext cx="3031337"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9" name="Google Shape;49;p11"/>
          <p:cNvSpPr txBox="1"/>
          <p:nvPr>
            <p:ph idx="4" type="body"/>
          </p:nvPr>
        </p:nvSpPr>
        <p:spPr>
          <a:xfrm>
            <a:off x="3483776" y="1631156"/>
            <a:ext cx="3031337"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50" name="Google Shape;50;p11"/>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1" name="Google Shape;51;p11"/>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Google Shape;52;p11"/>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2"/>
          <p:cNvSpPr txBox="1"/>
          <p:nvPr>
            <p:ph type="title"/>
          </p:nvPr>
        </p:nvSpPr>
        <p:spPr>
          <a:xfrm>
            <a:off x="342901" y="205978"/>
            <a:ext cx="6172213"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 name="Google Shape;55;p12"/>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6" name="Google Shape;56;p12"/>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 name="Google Shape;57;p12"/>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3"/>
          <p:cNvSpPr txBox="1"/>
          <p:nvPr>
            <p:ph type="title"/>
          </p:nvPr>
        </p:nvSpPr>
        <p:spPr>
          <a:xfrm>
            <a:off x="342901" y="204788"/>
            <a:ext cx="2256239"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0" name="Google Shape;60;p13"/>
          <p:cNvSpPr txBox="1"/>
          <p:nvPr>
            <p:ph idx="1" type="body"/>
          </p:nvPr>
        </p:nvSpPr>
        <p:spPr>
          <a:xfrm>
            <a:off x="2681293" y="204788"/>
            <a:ext cx="3833820"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61" name="Google Shape;61;p13"/>
          <p:cNvSpPr txBox="1"/>
          <p:nvPr>
            <p:ph idx="2" type="body"/>
          </p:nvPr>
        </p:nvSpPr>
        <p:spPr>
          <a:xfrm>
            <a:off x="342901" y="1076325"/>
            <a:ext cx="2256239"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62" name="Google Shape;62;p13"/>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3" name="Google Shape;63;p13"/>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3"/>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1344219" y="3600450"/>
            <a:ext cx="4114808"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 name="Google Shape;67;p14"/>
          <p:cNvSpPr/>
          <p:nvPr>
            <p:ph idx="2" type="pic"/>
          </p:nvPr>
        </p:nvSpPr>
        <p:spPr>
          <a:xfrm>
            <a:off x="1344219" y="459581"/>
            <a:ext cx="4114808" cy="3086100"/>
          </a:xfrm>
          <a:prstGeom prst="rect">
            <a:avLst/>
          </a:prstGeom>
          <a:noFill/>
          <a:ln>
            <a:noFill/>
          </a:ln>
        </p:spPr>
      </p:sp>
      <p:sp>
        <p:nvSpPr>
          <p:cNvPr id="68" name="Google Shape;68;p14"/>
          <p:cNvSpPr txBox="1"/>
          <p:nvPr>
            <p:ph idx="1" type="body"/>
          </p:nvPr>
        </p:nvSpPr>
        <p:spPr>
          <a:xfrm>
            <a:off x="1344219" y="4025503"/>
            <a:ext cx="4114808"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69" name="Google Shape;69;p14"/>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4"/>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4"/>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5"/>
          <p:cNvSpPr txBox="1"/>
          <p:nvPr>
            <p:ph type="title"/>
          </p:nvPr>
        </p:nvSpPr>
        <p:spPr>
          <a:xfrm>
            <a:off x="342901" y="205978"/>
            <a:ext cx="6172213"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5"/>
          <p:cNvSpPr txBox="1"/>
          <p:nvPr>
            <p:ph idx="1" type="body"/>
          </p:nvPr>
        </p:nvSpPr>
        <p:spPr>
          <a:xfrm rot="5400000">
            <a:off x="1731771" y="-188720"/>
            <a:ext cx="3394472" cy="6172213"/>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5" name="Google Shape;75;p15"/>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5"/>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5"/>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6"/>
          <p:cNvSpPr txBox="1"/>
          <p:nvPr>
            <p:ph type="title"/>
          </p:nvPr>
        </p:nvSpPr>
        <p:spPr>
          <a:xfrm rot="5400000">
            <a:off x="3549265" y="1628774"/>
            <a:ext cx="4388644" cy="1543053"/>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6"/>
          <p:cNvSpPr txBox="1"/>
          <p:nvPr>
            <p:ph idx="1" type="body"/>
          </p:nvPr>
        </p:nvSpPr>
        <p:spPr>
          <a:xfrm rot="5400000">
            <a:off x="406008" y="142871"/>
            <a:ext cx="4388644" cy="4514859"/>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81" name="Google Shape;81;p16"/>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6"/>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6"/>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7" name="Google Shape;9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9" name="Google Shape;109;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5" name="Google Shape;115;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6" name="Google Shape;11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2" name="Google Shape;122;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3" name="Google Shape;123;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4" name="Google Shape;124;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5" name="Google Shape;12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6" name="Google Shape;136;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7" name="Google Shape;13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26"/>
          <p:cNvSpPr/>
          <p:nvPr>
            <p:ph idx="2" type="pic"/>
          </p:nvPr>
        </p:nvSpPr>
        <p:spPr>
          <a:xfrm>
            <a:off x="1792288" y="612775"/>
            <a:ext cx="5486400" cy="4114800"/>
          </a:xfrm>
          <a:prstGeom prst="rect">
            <a:avLst/>
          </a:prstGeom>
          <a:noFill/>
          <a:ln>
            <a:noFill/>
          </a:ln>
        </p:spPr>
      </p:sp>
      <p:sp>
        <p:nvSpPr>
          <p:cNvPr id="143" name="Google Shape;143;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4" name="Google Shape;14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 name="Google Shape;15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6" name="Google Shape;15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0" name="Shape 160"/>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b98e0eea2_31_0)">
  <p:cSld name="Generated (g3fb98e0eea2_31_0)">
    <p:spTree>
      <p:nvGrpSpPr>
        <p:cNvPr id="161" name="Shape 16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2" Type="http://schemas.openxmlformats.org/officeDocument/2006/relationships/theme" Target="../theme/theme1.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6.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 name="Shape 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342901" y="205978"/>
            <a:ext cx="6172213"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p5"/>
          <p:cNvSpPr txBox="1"/>
          <p:nvPr>
            <p:ph idx="1" type="body"/>
          </p:nvPr>
        </p:nvSpPr>
        <p:spPr>
          <a:xfrm>
            <a:off x="342901" y="1200150"/>
            <a:ext cx="6172213"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 name="Google Shape;12;p5"/>
          <p:cNvSpPr txBox="1"/>
          <p:nvPr>
            <p:ph idx="10" type="dt"/>
          </p:nvPr>
        </p:nvSpPr>
        <p:spPr>
          <a:xfrm>
            <a:off x="342901" y="4767263"/>
            <a:ext cx="160020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3" name="Google Shape;13;p5"/>
          <p:cNvSpPr txBox="1"/>
          <p:nvPr>
            <p:ph idx="11" type="ftr"/>
          </p:nvPr>
        </p:nvSpPr>
        <p:spPr>
          <a:xfrm>
            <a:off x="2343155" y="4767263"/>
            <a:ext cx="2171704"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4" name="Google Shape;14;p5"/>
          <p:cNvSpPr txBox="1"/>
          <p:nvPr>
            <p:ph idx="12" type="sldNum"/>
          </p:nvPr>
        </p:nvSpPr>
        <p:spPr>
          <a:xfrm>
            <a:off x="4914910" y="4767263"/>
            <a:ext cx="160020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2" r:id="rId1"/>
    <p:sldLayoutId id="214748367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10" Type="http://schemas.openxmlformats.org/officeDocument/2006/relationships/image" Target="../media/image8.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mnt/data/a04_comic_assets/paper.png" id="167" name="Google Shape;167;p3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68" name="Google Shape;168;p32"/>
          <p:cNvSpPr/>
          <p:nvPr/>
        </p:nvSpPr>
        <p:spPr>
          <a:xfrm rot="-60000">
            <a:off x="456057" y="360045"/>
            <a:ext cx="2194560" cy="212598"/>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9" name="Google Shape;169;p32"/>
          <p:cNvSpPr/>
          <p:nvPr/>
        </p:nvSpPr>
        <p:spPr>
          <a:xfrm rot="-60000">
            <a:off x="425196" y="329184"/>
            <a:ext cx="2194560" cy="212598"/>
          </a:xfrm>
          <a:prstGeom prst="rect">
            <a:avLst/>
          </a:prstGeom>
          <a:solidFill>
            <a:srgbClr val="FFE16A"/>
          </a:solidFill>
          <a:ln cap="flat" cmpd="sng" w="1395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32"/>
          <p:cNvSpPr/>
          <p:nvPr/>
        </p:nvSpPr>
        <p:spPr>
          <a:xfrm rot="-60000">
            <a:off x="480060" y="346329"/>
            <a:ext cx="2084832" cy="17487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900"/>
              <a:buFont typeface="Arial"/>
              <a:buNone/>
            </a:pPr>
            <a:r>
              <a:rPr b="1" i="0" lang="en" sz="900" u="none" cap="none" strike="noStrike">
                <a:solidFill>
                  <a:srgbClr val="202536"/>
                </a:solidFill>
                <a:latin typeface="Arial"/>
                <a:ea typeface="Arial"/>
                <a:cs typeface="Arial"/>
                <a:sym typeface="Arial"/>
              </a:rPr>
              <a:t>A04  /  ITAI 2376  /  GROUP 4</a:t>
            </a:r>
            <a:endParaRPr b="0" i="0" sz="900" u="none" cap="none" strike="noStrike">
              <a:solidFill>
                <a:schemeClr val="dk1"/>
              </a:solidFill>
              <a:latin typeface="Arial"/>
              <a:ea typeface="Arial"/>
              <a:cs typeface="Arial"/>
              <a:sym typeface="Arial"/>
            </a:endParaRPr>
          </a:p>
        </p:txBody>
      </p:sp>
      <p:sp>
        <p:nvSpPr>
          <p:cNvPr id="171" name="Google Shape;171;p32"/>
          <p:cNvSpPr/>
          <p:nvPr/>
        </p:nvSpPr>
        <p:spPr>
          <a:xfrm>
            <a:off x="452628" y="678942"/>
            <a:ext cx="3977640"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15B"/>
              </a:buClr>
              <a:buSzPts val="800"/>
              <a:buFont typeface="Arial"/>
              <a:buNone/>
            </a:pPr>
            <a:r>
              <a:rPr b="1" i="0" lang="en" sz="800" u="none" cap="none" strike="noStrike">
                <a:solidFill>
                  <a:srgbClr val="56615B"/>
                </a:solidFill>
                <a:latin typeface="Arial"/>
                <a:ea typeface="Arial"/>
                <a:cs typeface="Arial"/>
                <a:sym typeface="Arial"/>
              </a:rPr>
              <a:t>DEEP LEARNING FOR AN 11-YEAR-OLD</a:t>
            </a:r>
            <a:endParaRPr b="0" i="0" sz="800" u="none" cap="none" strike="noStrike">
              <a:solidFill>
                <a:schemeClr val="dk1"/>
              </a:solidFill>
              <a:latin typeface="Arial"/>
              <a:ea typeface="Arial"/>
              <a:cs typeface="Arial"/>
              <a:sym typeface="Arial"/>
            </a:endParaRPr>
          </a:p>
        </p:txBody>
      </p:sp>
      <p:sp>
        <p:nvSpPr>
          <p:cNvPr id="172" name="Google Shape;172;p32"/>
          <p:cNvSpPr/>
          <p:nvPr/>
        </p:nvSpPr>
        <p:spPr>
          <a:xfrm>
            <a:off x="425196" y="987552"/>
            <a:ext cx="4210812" cy="118643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02536"/>
              </a:buClr>
              <a:buSzPts val="3700"/>
              <a:buFont typeface="Comic Neue"/>
              <a:buNone/>
            </a:pPr>
            <a:r>
              <a:rPr b="1" i="0" lang="en" sz="3700" u="none" cap="none" strike="noStrike">
                <a:solidFill>
                  <a:srgbClr val="202536"/>
                </a:solidFill>
                <a:latin typeface="Comic Neue"/>
                <a:ea typeface="Comic Neue"/>
                <a:cs typeface="Comic Neue"/>
                <a:sym typeface="Comic Neue"/>
              </a:rPr>
              <a:t>Can a Computer</a:t>
            </a:r>
            <a:endParaRPr b="0" i="0" sz="3700" u="none" cap="none" strike="noStrike">
              <a:solidFill>
                <a:schemeClr val="dk1"/>
              </a:solidFill>
              <a:latin typeface="Arial"/>
              <a:ea typeface="Arial"/>
              <a:cs typeface="Arial"/>
              <a:sym typeface="Arial"/>
            </a:endParaRPr>
          </a:p>
          <a:p>
            <a:pPr indent="0" lvl="0" marL="0" marR="0" rtl="0" algn="l">
              <a:lnSpc>
                <a:spcPct val="105000"/>
              </a:lnSpc>
              <a:spcBef>
                <a:spcPts val="0"/>
              </a:spcBef>
              <a:spcAft>
                <a:spcPts val="0"/>
              </a:spcAft>
              <a:buClr>
                <a:srgbClr val="202536"/>
              </a:buClr>
              <a:buSzPts val="3700"/>
              <a:buFont typeface="Comic Neue"/>
              <a:buNone/>
            </a:pPr>
            <a:r>
              <a:rPr b="1" i="0" lang="en" sz="3700" u="none" cap="none" strike="noStrike">
                <a:solidFill>
                  <a:srgbClr val="202536"/>
                </a:solidFill>
                <a:latin typeface="Comic Neue"/>
                <a:ea typeface="Comic Neue"/>
                <a:cs typeface="Comic Neue"/>
                <a:sym typeface="Comic Neue"/>
              </a:rPr>
              <a:t>Learn From Its</a:t>
            </a:r>
            <a:endParaRPr b="0" i="0" sz="3700" u="none" cap="none" strike="noStrike">
              <a:solidFill>
                <a:schemeClr val="dk1"/>
              </a:solidFill>
              <a:latin typeface="Arial"/>
              <a:ea typeface="Arial"/>
              <a:cs typeface="Arial"/>
              <a:sym typeface="Arial"/>
            </a:endParaRPr>
          </a:p>
        </p:txBody>
      </p:sp>
      <p:sp>
        <p:nvSpPr>
          <p:cNvPr id="173" name="Google Shape;173;p32"/>
          <p:cNvSpPr/>
          <p:nvPr/>
        </p:nvSpPr>
        <p:spPr>
          <a:xfrm rot="-75000">
            <a:off x="425196" y="2167128"/>
            <a:ext cx="3792474" cy="521208"/>
          </a:xfrm>
          <a:prstGeom prst="rect">
            <a:avLst/>
          </a:prstGeom>
          <a:solidFill>
            <a:srgbClr val="FFE16A"/>
          </a:solidFill>
          <a:ln cap="flat" cmpd="sng" w="12700">
            <a:solidFill>
              <a:srgbClr val="FFE1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32"/>
          <p:cNvSpPr/>
          <p:nvPr/>
        </p:nvSpPr>
        <p:spPr>
          <a:xfrm>
            <a:off x="452628" y="2084832"/>
            <a:ext cx="39090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4800"/>
              <a:buFont typeface="Comic Neue"/>
              <a:buNone/>
            </a:pPr>
            <a:r>
              <a:rPr b="1" i="0" lang="en" sz="4800" u="none" cap="none" strike="noStrike">
                <a:solidFill>
                  <a:srgbClr val="202536"/>
                </a:solidFill>
                <a:latin typeface="Comic Neue"/>
                <a:ea typeface="Comic Neue"/>
                <a:cs typeface="Comic Neue"/>
                <a:sym typeface="Comic Neue"/>
              </a:rPr>
              <a:t>Mistakes?</a:t>
            </a:r>
            <a:endParaRPr b="0" i="0" sz="4800" u="none" cap="none" strike="noStrike">
              <a:solidFill>
                <a:schemeClr val="dk1"/>
              </a:solidFill>
              <a:latin typeface="Arial"/>
              <a:ea typeface="Arial"/>
              <a:cs typeface="Arial"/>
              <a:sym typeface="Arial"/>
            </a:endParaRPr>
          </a:p>
        </p:txBody>
      </p:sp>
      <p:cxnSp>
        <p:nvCxnSpPr>
          <p:cNvPr id="175" name="Google Shape;175;p32"/>
          <p:cNvCxnSpPr/>
          <p:nvPr/>
        </p:nvCxnSpPr>
        <p:spPr>
          <a:xfrm rot="-60000">
            <a:off x="582930" y="2756916"/>
            <a:ext cx="2955798" cy="12344"/>
          </a:xfrm>
          <a:prstGeom prst="straightConnector1">
            <a:avLst/>
          </a:prstGeom>
          <a:noFill/>
          <a:ln cap="flat" cmpd="sng" w="52050">
            <a:solidFill>
              <a:srgbClr val="FF9364"/>
            </a:solidFill>
            <a:prstDash val="solid"/>
            <a:round/>
            <a:headEnd len="sm" w="sm" type="none"/>
            <a:tailEnd len="sm" w="sm" type="none"/>
          </a:ln>
        </p:spPr>
      </p:cxnSp>
      <p:sp>
        <p:nvSpPr>
          <p:cNvPr id="176" name="Google Shape;176;p32"/>
          <p:cNvSpPr/>
          <p:nvPr/>
        </p:nvSpPr>
        <p:spPr>
          <a:xfrm>
            <a:off x="459486" y="2955798"/>
            <a:ext cx="3867912" cy="52806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700"/>
              <a:buFont typeface="Arial"/>
              <a:buNone/>
            </a:pPr>
            <a:r>
              <a:rPr b="0" i="0" lang="en" sz="1700" u="none" cap="none" strike="noStrike">
                <a:solidFill>
                  <a:srgbClr val="202536"/>
                </a:solidFill>
                <a:latin typeface="Arial"/>
                <a:ea typeface="Arial"/>
                <a:cs typeface="Arial"/>
                <a:sym typeface="Arial"/>
              </a:rPr>
              <a:t>How Artificial Intelligence (AI)</a:t>
            </a:r>
            <a:endParaRPr b="0" i="0" sz="1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02536"/>
              </a:buClr>
              <a:buSzPts val="1700"/>
              <a:buFont typeface="Arial"/>
              <a:buNone/>
            </a:pPr>
            <a:r>
              <a:rPr b="0" i="0" lang="en" sz="1700" u="none" cap="none" strike="noStrike">
                <a:solidFill>
                  <a:srgbClr val="202536"/>
                </a:solidFill>
                <a:latin typeface="Arial"/>
                <a:ea typeface="Arial"/>
                <a:cs typeface="Arial"/>
                <a:sym typeface="Arial"/>
              </a:rPr>
              <a:t>Gets Better at Guessing</a:t>
            </a:r>
            <a:endParaRPr b="0" i="0" sz="1700" u="none" cap="none" strike="noStrike">
              <a:solidFill>
                <a:schemeClr val="dk1"/>
              </a:solidFill>
              <a:latin typeface="Arial"/>
              <a:ea typeface="Arial"/>
              <a:cs typeface="Arial"/>
              <a:sym typeface="Arial"/>
            </a:endParaRPr>
          </a:p>
        </p:txBody>
      </p:sp>
      <p:sp>
        <p:nvSpPr>
          <p:cNvPr id="177" name="Google Shape;177;p32"/>
          <p:cNvSpPr/>
          <p:nvPr/>
        </p:nvSpPr>
        <p:spPr>
          <a:xfrm>
            <a:off x="466344" y="3730752"/>
            <a:ext cx="329184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15B"/>
              </a:buClr>
              <a:buSzPts val="800"/>
              <a:buFont typeface="Arial"/>
              <a:buNone/>
            </a:pPr>
            <a:r>
              <a:rPr b="1" i="0" lang="en" sz="800" u="none" cap="none" strike="noStrike">
                <a:solidFill>
                  <a:srgbClr val="56615B"/>
                </a:solidFill>
                <a:latin typeface="Arial"/>
                <a:ea typeface="Arial"/>
                <a:cs typeface="Arial"/>
                <a:sym typeface="Arial"/>
              </a:rPr>
              <a:t>PRESENTED BY</a:t>
            </a:r>
            <a:endParaRPr b="0" i="0" sz="800" u="none" cap="none" strike="noStrike">
              <a:solidFill>
                <a:schemeClr val="dk1"/>
              </a:solidFill>
              <a:latin typeface="Arial"/>
              <a:ea typeface="Arial"/>
              <a:cs typeface="Arial"/>
              <a:sym typeface="Arial"/>
            </a:endParaRPr>
          </a:p>
        </p:txBody>
      </p:sp>
      <p:sp>
        <p:nvSpPr>
          <p:cNvPr id="178" name="Google Shape;178;p32"/>
          <p:cNvSpPr/>
          <p:nvPr/>
        </p:nvSpPr>
        <p:spPr>
          <a:xfrm>
            <a:off x="466344" y="3998214"/>
            <a:ext cx="1885950" cy="18516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Esther Odaibo</a:t>
            </a:r>
            <a:endParaRPr b="0" i="0" sz="1300" u="none" cap="none" strike="noStrike">
              <a:solidFill>
                <a:schemeClr val="dk1"/>
              </a:solidFill>
              <a:latin typeface="Arial"/>
              <a:ea typeface="Arial"/>
              <a:cs typeface="Arial"/>
              <a:sym typeface="Arial"/>
            </a:endParaRPr>
          </a:p>
        </p:txBody>
      </p:sp>
      <p:sp>
        <p:nvSpPr>
          <p:cNvPr id="179" name="Google Shape;179;p32"/>
          <p:cNvSpPr/>
          <p:nvPr/>
        </p:nvSpPr>
        <p:spPr>
          <a:xfrm>
            <a:off x="2427732" y="3998214"/>
            <a:ext cx="1872234" cy="18516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King Owusu</a:t>
            </a:r>
            <a:endParaRPr b="0" i="0" sz="1300" u="none" cap="none" strike="noStrike">
              <a:solidFill>
                <a:schemeClr val="dk1"/>
              </a:solidFill>
              <a:latin typeface="Arial"/>
              <a:ea typeface="Arial"/>
              <a:cs typeface="Arial"/>
              <a:sym typeface="Arial"/>
            </a:endParaRPr>
          </a:p>
        </p:txBody>
      </p:sp>
      <p:sp>
        <p:nvSpPr>
          <p:cNvPr id="180" name="Google Shape;180;p32"/>
          <p:cNvSpPr/>
          <p:nvPr/>
        </p:nvSpPr>
        <p:spPr>
          <a:xfrm>
            <a:off x="466344" y="4272534"/>
            <a:ext cx="1885950" cy="18516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Louis Delgado</a:t>
            </a:r>
            <a:endParaRPr b="0" i="0" sz="1300" u="none" cap="none" strike="noStrike">
              <a:solidFill>
                <a:schemeClr val="dk1"/>
              </a:solidFill>
              <a:latin typeface="Arial"/>
              <a:ea typeface="Arial"/>
              <a:cs typeface="Arial"/>
              <a:sym typeface="Arial"/>
            </a:endParaRPr>
          </a:p>
        </p:txBody>
      </p:sp>
      <p:sp>
        <p:nvSpPr>
          <p:cNvPr id="181" name="Google Shape;181;p32"/>
          <p:cNvSpPr/>
          <p:nvPr/>
        </p:nvSpPr>
        <p:spPr>
          <a:xfrm>
            <a:off x="2427732" y="4272534"/>
            <a:ext cx="1872234" cy="18516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Zain Ahmed</a:t>
            </a:r>
            <a:endParaRPr b="0" i="0" sz="1300" u="none" cap="none" strike="noStrike">
              <a:solidFill>
                <a:schemeClr val="dk1"/>
              </a:solidFill>
              <a:latin typeface="Arial"/>
              <a:ea typeface="Arial"/>
              <a:cs typeface="Arial"/>
              <a:sym typeface="Arial"/>
            </a:endParaRPr>
          </a:p>
        </p:txBody>
      </p:sp>
      <p:sp>
        <p:nvSpPr>
          <p:cNvPr id="182" name="Google Shape;182;p32"/>
          <p:cNvSpPr/>
          <p:nvPr/>
        </p:nvSpPr>
        <p:spPr>
          <a:xfrm>
            <a:off x="480060" y="4690872"/>
            <a:ext cx="387477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700"/>
              <a:buFont typeface="Comic Neue"/>
              <a:buNone/>
            </a:pPr>
            <a:r>
              <a:rPr b="1" i="1" lang="en" sz="1700" u="none" cap="none" strike="noStrike">
                <a:solidFill>
                  <a:srgbClr val="202536"/>
                </a:solidFill>
                <a:latin typeface="Comic Neue"/>
                <a:ea typeface="Comic Neue"/>
                <a:cs typeface="Comic Neue"/>
                <a:sym typeface="Comic Neue"/>
              </a:rPr>
              <a:t>A mistake is a place to start.</a:t>
            </a:r>
            <a:endParaRPr b="0" i="0" sz="1700" u="none" cap="none" strike="noStrike">
              <a:solidFill>
                <a:schemeClr val="dk1"/>
              </a:solidFill>
              <a:latin typeface="Arial"/>
              <a:ea typeface="Arial"/>
              <a:cs typeface="Arial"/>
              <a:sym typeface="Arial"/>
            </a:endParaRPr>
          </a:p>
        </p:txBody>
      </p:sp>
      <p:pic>
        <p:nvPicPr>
          <p:cNvPr descr="/mnt/data/a04_comic_assets/sparkle.png" id="183" name="Google Shape;183;p32"/>
          <p:cNvPicPr preferRelativeResize="0"/>
          <p:nvPr/>
        </p:nvPicPr>
        <p:blipFill rotWithShape="1">
          <a:blip r:embed="rId4">
            <a:alphaModFix/>
          </a:blip>
          <a:srcRect b="0" l="0" r="0" t="0"/>
          <a:stretch/>
        </p:blipFill>
        <p:spPr>
          <a:xfrm rot="360000">
            <a:off x="3867912" y="3765042"/>
            <a:ext cx="486918" cy="370332"/>
          </a:xfrm>
          <a:prstGeom prst="rect">
            <a:avLst/>
          </a:prstGeom>
          <a:noFill/>
          <a:ln>
            <a:noFill/>
          </a:ln>
        </p:spPr>
      </p:pic>
      <p:pic>
        <p:nvPicPr>
          <p:cNvPr descr="/mnt/data/a04_comic_assets/hero_frame.png" id="184" name="Google Shape;184;p32"/>
          <p:cNvPicPr preferRelativeResize="0"/>
          <p:nvPr/>
        </p:nvPicPr>
        <p:blipFill rotWithShape="1">
          <a:blip r:embed="rId5">
            <a:alphaModFix/>
          </a:blip>
          <a:srcRect b="0" l="0" r="0" t="0"/>
          <a:stretch/>
        </p:blipFill>
        <p:spPr>
          <a:xfrm>
            <a:off x="4745736" y="768096"/>
            <a:ext cx="4066794" cy="3963924"/>
          </a:xfrm>
          <a:prstGeom prst="rect">
            <a:avLst/>
          </a:prstGeom>
          <a:noFill/>
          <a:ln>
            <a:noFill/>
          </a:ln>
        </p:spPr>
      </p:pic>
      <p:sp>
        <p:nvSpPr>
          <p:cNvPr id="185" name="Google Shape;185;p32"/>
          <p:cNvSpPr/>
          <p:nvPr/>
        </p:nvSpPr>
        <p:spPr>
          <a:xfrm>
            <a:off x="5026914" y="973836"/>
            <a:ext cx="3401568" cy="28117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536"/>
              </a:buClr>
              <a:buSzPts val="1800"/>
              <a:buFont typeface="Comic Neue"/>
              <a:buNone/>
            </a:pPr>
            <a:r>
              <a:rPr b="1" i="0" lang="en" sz="1800" u="none" cap="none" strike="noStrike">
                <a:solidFill>
                  <a:srgbClr val="202536"/>
                </a:solidFill>
                <a:latin typeface="Comic Neue"/>
                <a:ea typeface="Comic Neue"/>
                <a:cs typeface="Comic Neue"/>
                <a:sym typeface="Comic Neue"/>
              </a:rPr>
              <a:t>ONE PRACTICE ROUND</a:t>
            </a:r>
            <a:endParaRPr b="0" i="0" sz="1800" u="none" cap="none" strike="noStrike">
              <a:solidFill>
                <a:schemeClr val="dk1"/>
              </a:solidFill>
              <a:latin typeface="Arial"/>
              <a:ea typeface="Arial"/>
              <a:cs typeface="Arial"/>
              <a:sym typeface="Arial"/>
            </a:endParaRPr>
          </a:p>
        </p:txBody>
      </p:sp>
      <p:pic>
        <p:nvPicPr>
          <p:cNvPr descr="/mnt/data/a04_comic_assets/cat_photo.png" id="186" name="Google Shape;186;p32"/>
          <p:cNvPicPr preferRelativeResize="0"/>
          <p:nvPr/>
        </p:nvPicPr>
        <p:blipFill rotWithShape="1">
          <a:blip r:embed="rId6">
            <a:alphaModFix/>
          </a:blip>
          <a:srcRect b="0" l="0" r="0" t="0"/>
          <a:stretch/>
        </p:blipFill>
        <p:spPr>
          <a:xfrm rot="-480000">
            <a:off x="5054346" y="1536192"/>
            <a:ext cx="1152144" cy="1268730"/>
          </a:xfrm>
          <a:prstGeom prst="rect">
            <a:avLst/>
          </a:prstGeom>
          <a:noFill/>
          <a:ln>
            <a:noFill/>
          </a:ln>
        </p:spPr>
      </p:pic>
      <p:sp>
        <p:nvSpPr>
          <p:cNvPr id="187" name="Google Shape;187;p32"/>
          <p:cNvSpPr/>
          <p:nvPr/>
        </p:nvSpPr>
        <p:spPr>
          <a:xfrm rot="-180000">
            <a:off x="5129784" y="2873502"/>
            <a:ext cx="960120" cy="1783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536"/>
              </a:buClr>
              <a:buSzPts val="1200"/>
              <a:buFont typeface="Comic Neue"/>
              <a:buNone/>
            </a:pPr>
            <a:r>
              <a:rPr b="1" i="0" lang="en" sz="1200" u="none" cap="none" strike="noStrike">
                <a:solidFill>
                  <a:srgbClr val="202536"/>
                </a:solidFill>
                <a:latin typeface="Comic Neue"/>
                <a:ea typeface="Comic Neue"/>
                <a:cs typeface="Comic Neue"/>
                <a:sym typeface="Comic Neue"/>
              </a:rPr>
              <a:t>THE PHOTO</a:t>
            </a:r>
            <a:endParaRPr b="0" i="0" sz="1200" u="none" cap="none" strike="noStrike">
              <a:solidFill>
                <a:schemeClr val="dk1"/>
              </a:solidFill>
              <a:latin typeface="Arial"/>
              <a:ea typeface="Arial"/>
              <a:cs typeface="Arial"/>
              <a:sym typeface="Arial"/>
            </a:endParaRPr>
          </a:p>
        </p:txBody>
      </p:sp>
      <p:pic>
        <p:nvPicPr>
          <p:cNvPr descr="/mnt/data/a04_comic_assets/arrow.png" id="188" name="Google Shape;188;p32"/>
          <p:cNvPicPr preferRelativeResize="0"/>
          <p:nvPr/>
        </p:nvPicPr>
        <p:blipFill rotWithShape="1">
          <a:blip r:embed="rId7">
            <a:alphaModFix/>
          </a:blip>
          <a:srcRect b="0" l="0" r="0" t="0"/>
          <a:stretch/>
        </p:blipFill>
        <p:spPr>
          <a:xfrm rot="300000">
            <a:off x="6165342" y="2091690"/>
            <a:ext cx="459486" cy="308610"/>
          </a:xfrm>
          <a:prstGeom prst="rect">
            <a:avLst/>
          </a:prstGeom>
          <a:noFill/>
          <a:ln>
            <a:noFill/>
          </a:ln>
        </p:spPr>
      </p:pic>
      <p:pic>
        <p:nvPicPr>
          <p:cNvPr descr="/mnt/data/a04_comic_assets/computer.png" id="189" name="Google Shape;189;p32"/>
          <p:cNvPicPr preferRelativeResize="0"/>
          <p:nvPr/>
        </p:nvPicPr>
        <p:blipFill rotWithShape="1">
          <a:blip r:embed="rId8">
            <a:alphaModFix/>
          </a:blip>
          <a:srcRect b="0" l="0" r="0" t="0"/>
          <a:stretch/>
        </p:blipFill>
        <p:spPr>
          <a:xfrm>
            <a:off x="6563106" y="2057400"/>
            <a:ext cx="2002536" cy="1858518"/>
          </a:xfrm>
          <a:prstGeom prst="rect">
            <a:avLst/>
          </a:prstGeom>
          <a:noFill/>
          <a:ln>
            <a:noFill/>
          </a:ln>
        </p:spPr>
      </p:pic>
      <p:pic>
        <p:nvPicPr>
          <p:cNvPr descr="/mnt/data/a04_comic_assets/speech.png" id="190" name="Google Shape;190;p32"/>
          <p:cNvPicPr preferRelativeResize="0"/>
          <p:nvPr/>
        </p:nvPicPr>
        <p:blipFill rotWithShape="1">
          <a:blip r:embed="rId9">
            <a:alphaModFix/>
          </a:blip>
          <a:srcRect b="0" l="0" r="0" t="0"/>
          <a:stretch/>
        </p:blipFill>
        <p:spPr>
          <a:xfrm>
            <a:off x="6720840" y="1378458"/>
            <a:ext cx="1577340" cy="857250"/>
          </a:xfrm>
          <a:prstGeom prst="rect">
            <a:avLst/>
          </a:prstGeom>
          <a:noFill/>
          <a:ln>
            <a:noFill/>
          </a:ln>
        </p:spPr>
      </p:pic>
      <p:sp>
        <p:nvSpPr>
          <p:cNvPr id="191" name="Google Shape;191;p32"/>
          <p:cNvSpPr/>
          <p:nvPr/>
        </p:nvSpPr>
        <p:spPr>
          <a:xfrm>
            <a:off x="6871716" y="1474470"/>
            <a:ext cx="1165860" cy="3497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536"/>
              </a:buClr>
              <a:buSzPts val="2600"/>
              <a:buFont typeface="Comic Neue"/>
              <a:buNone/>
            </a:pPr>
            <a:r>
              <a:rPr b="1" i="0" lang="en" sz="2600" u="none" cap="none" strike="noStrike">
                <a:solidFill>
                  <a:srgbClr val="202536"/>
                </a:solidFill>
                <a:latin typeface="Comic Neue"/>
                <a:ea typeface="Comic Neue"/>
                <a:cs typeface="Comic Neue"/>
                <a:sym typeface="Comic Neue"/>
              </a:rPr>
              <a:t>Dog?</a:t>
            </a:r>
            <a:endParaRPr b="0" i="0" sz="2600" u="none" cap="none" strike="noStrike">
              <a:solidFill>
                <a:schemeClr val="dk1"/>
              </a:solidFill>
              <a:latin typeface="Arial"/>
              <a:ea typeface="Arial"/>
              <a:cs typeface="Arial"/>
              <a:sym typeface="Arial"/>
            </a:endParaRPr>
          </a:p>
        </p:txBody>
      </p:sp>
      <p:pic>
        <p:nvPicPr>
          <p:cNvPr descr="/mnt/data/a04_comic_assets/burst.png" id="192" name="Google Shape;192;p32"/>
          <p:cNvPicPr preferRelativeResize="0"/>
          <p:nvPr/>
        </p:nvPicPr>
        <p:blipFill rotWithShape="1">
          <a:blip r:embed="rId10">
            <a:alphaModFix/>
          </a:blip>
          <a:srcRect b="0" l="0" r="0" t="0"/>
          <a:stretch/>
        </p:blipFill>
        <p:spPr>
          <a:xfrm rot="-360000">
            <a:off x="5081778" y="3236976"/>
            <a:ext cx="822960" cy="747522"/>
          </a:xfrm>
          <a:prstGeom prst="rect">
            <a:avLst/>
          </a:prstGeom>
          <a:noFill/>
          <a:ln>
            <a:noFill/>
          </a:ln>
        </p:spPr>
      </p:pic>
      <p:sp>
        <p:nvSpPr>
          <p:cNvPr id="193" name="Google Shape;193;p32"/>
          <p:cNvSpPr/>
          <p:nvPr/>
        </p:nvSpPr>
        <p:spPr>
          <a:xfrm rot="-360000">
            <a:off x="5184648" y="3470148"/>
            <a:ext cx="59664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536"/>
              </a:buClr>
              <a:buSzPts val="1600"/>
              <a:buFont typeface="Comic Neue"/>
              <a:buNone/>
            </a:pPr>
            <a:r>
              <a:rPr b="1" i="0" lang="en" sz="1600" u="none" cap="none" strike="noStrike">
                <a:solidFill>
                  <a:srgbClr val="202536"/>
                </a:solidFill>
                <a:latin typeface="Comic Neue"/>
                <a:ea typeface="Comic Neue"/>
                <a:cs typeface="Comic Neue"/>
                <a:sym typeface="Comic Neue"/>
              </a:rPr>
              <a:t>Oops!</a:t>
            </a:r>
            <a:endParaRPr b="0" i="0" sz="1600" u="none" cap="none" strike="noStrike">
              <a:solidFill>
                <a:schemeClr val="dk1"/>
              </a:solidFill>
              <a:latin typeface="Arial"/>
              <a:ea typeface="Arial"/>
              <a:cs typeface="Arial"/>
              <a:sym typeface="Arial"/>
            </a:endParaRPr>
          </a:p>
        </p:txBody>
      </p:sp>
      <p:sp>
        <p:nvSpPr>
          <p:cNvPr id="194" name="Google Shape;194;p32"/>
          <p:cNvSpPr/>
          <p:nvPr/>
        </p:nvSpPr>
        <p:spPr>
          <a:xfrm rot="-120000">
            <a:off x="6268212" y="4094226"/>
            <a:ext cx="2057400" cy="404622"/>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5" name="Google Shape;195;p32"/>
          <p:cNvSpPr/>
          <p:nvPr/>
        </p:nvSpPr>
        <p:spPr>
          <a:xfrm rot="-120000">
            <a:off x="6227064" y="4053078"/>
            <a:ext cx="2057400" cy="404622"/>
          </a:xfrm>
          <a:prstGeom prst="rect">
            <a:avLst/>
          </a:prstGeom>
          <a:solidFill>
            <a:srgbClr val="FFFFFF"/>
          </a:solidFill>
          <a:ln cap="flat" cmpd="sng" w="203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32"/>
          <p:cNvSpPr/>
          <p:nvPr/>
        </p:nvSpPr>
        <p:spPr>
          <a:xfrm rot="-120000">
            <a:off x="6336792" y="4152519"/>
            <a:ext cx="1858518"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536"/>
              </a:buClr>
              <a:buSzPts val="1500"/>
              <a:buFont typeface="Comic Neue"/>
              <a:buNone/>
            </a:pPr>
            <a:r>
              <a:rPr b="1" i="0" lang="en" sz="1500" u="none" cap="none" strike="noStrike">
                <a:solidFill>
                  <a:srgbClr val="202536"/>
                </a:solidFill>
                <a:latin typeface="Comic Neue"/>
                <a:ea typeface="Comic Neue"/>
                <a:cs typeface="Comic Neue"/>
                <a:sym typeface="Comic Neue"/>
              </a:rPr>
              <a:t>ANSWER KEY: CAT!</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mnt/data/a04_comic_assets/paper.png" id="202" name="Google Shape;202;p3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03" name="Google Shape;203;p33"/>
          <p:cNvSpPr/>
          <p:nvPr/>
        </p:nvSpPr>
        <p:spPr>
          <a:xfrm>
            <a:off x="363474" y="192024"/>
            <a:ext cx="7200900" cy="1440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15B"/>
              </a:buClr>
              <a:buSzPts val="800"/>
              <a:buFont typeface="Arial"/>
              <a:buNone/>
            </a:pPr>
            <a:r>
              <a:rPr b="1" i="0" lang="en" sz="800" u="none" cap="none" strike="noStrike">
                <a:solidFill>
                  <a:srgbClr val="56615B"/>
                </a:solidFill>
                <a:latin typeface="Arial"/>
                <a:ea typeface="Arial"/>
                <a:cs typeface="Arial"/>
                <a:sym typeface="Arial"/>
              </a:rPr>
              <a:t>GROUP 4  /  THE PRACTICE ROUND</a:t>
            </a:r>
            <a:endParaRPr b="0" i="0" sz="800" u="none" cap="none" strike="noStrike">
              <a:solidFill>
                <a:schemeClr val="dk1"/>
              </a:solidFill>
              <a:latin typeface="Arial"/>
              <a:ea typeface="Arial"/>
              <a:cs typeface="Arial"/>
              <a:sym typeface="Arial"/>
            </a:endParaRPr>
          </a:p>
        </p:txBody>
      </p:sp>
      <p:sp>
        <p:nvSpPr>
          <p:cNvPr id="204" name="Google Shape;204;p33"/>
          <p:cNvSpPr/>
          <p:nvPr/>
        </p:nvSpPr>
        <p:spPr>
          <a:xfrm>
            <a:off x="329184" y="459486"/>
            <a:ext cx="850392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2600"/>
              <a:buFont typeface="Comic Neue"/>
              <a:buNone/>
            </a:pPr>
            <a:r>
              <a:rPr b="1" i="0" lang="en" sz="2600" u="none" cap="none" strike="noStrike">
                <a:solidFill>
                  <a:srgbClr val="202536"/>
                </a:solidFill>
                <a:latin typeface="Comic Neue"/>
                <a:ea typeface="Comic Neue"/>
                <a:cs typeface="Comic Neue"/>
                <a:sym typeface="Comic Neue"/>
              </a:rPr>
              <a:t>How Does a Computer Know When It’s Wrong?</a:t>
            </a:r>
            <a:endParaRPr b="0" i="0" sz="2600" u="none" cap="none" strike="noStrike">
              <a:solidFill>
                <a:schemeClr val="dk1"/>
              </a:solidFill>
              <a:latin typeface="Arial"/>
              <a:ea typeface="Arial"/>
              <a:cs typeface="Arial"/>
              <a:sym typeface="Arial"/>
            </a:endParaRPr>
          </a:p>
        </p:txBody>
      </p:sp>
      <p:sp>
        <p:nvSpPr>
          <p:cNvPr id="205" name="Google Shape;205;p33"/>
          <p:cNvSpPr/>
          <p:nvPr/>
        </p:nvSpPr>
        <p:spPr>
          <a:xfrm>
            <a:off x="370332" y="939546"/>
            <a:ext cx="835304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People label practice photos “cat” or “dog.” The labels are an answer key, not clues for the guess.</a:t>
            </a:r>
            <a:endParaRPr b="0" i="0" sz="1300" u="none" cap="none" strike="noStrike">
              <a:solidFill>
                <a:schemeClr val="dk1"/>
              </a:solidFill>
              <a:latin typeface="Arial"/>
              <a:ea typeface="Arial"/>
              <a:cs typeface="Arial"/>
              <a:sym typeface="Arial"/>
            </a:endParaRPr>
          </a:p>
        </p:txBody>
      </p:sp>
      <p:sp>
        <p:nvSpPr>
          <p:cNvPr id="206" name="Google Shape;206;p33"/>
          <p:cNvSpPr/>
          <p:nvPr/>
        </p:nvSpPr>
        <p:spPr>
          <a:xfrm>
            <a:off x="334670" y="1371600"/>
            <a:ext cx="2722626" cy="1488186"/>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33"/>
          <p:cNvSpPr/>
          <p:nvPr/>
        </p:nvSpPr>
        <p:spPr>
          <a:xfrm>
            <a:off x="301752" y="1330452"/>
            <a:ext cx="2722626" cy="1488186"/>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33"/>
          <p:cNvSpPr/>
          <p:nvPr/>
        </p:nvSpPr>
        <p:spPr>
          <a:xfrm rot="-21000">
            <a:off x="370332" y="1399032"/>
            <a:ext cx="2585466" cy="281178"/>
          </a:xfrm>
          <a:prstGeom prst="rect">
            <a:avLst/>
          </a:prstGeom>
          <a:solidFill>
            <a:srgbClr val="79DCCA"/>
          </a:solidFill>
          <a:ln cap="flat" cmpd="sng" w="12700">
            <a:solidFill>
              <a:srgbClr val="79DC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33"/>
          <p:cNvSpPr/>
          <p:nvPr/>
        </p:nvSpPr>
        <p:spPr>
          <a:xfrm>
            <a:off x="404622" y="1423035"/>
            <a:ext cx="233172" cy="233172"/>
          </a:xfrm>
          <a:prstGeom prst="ellipse">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33"/>
          <p:cNvSpPr/>
          <p:nvPr/>
        </p:nvSpPr>
        <p:spPr>
          <a:xfrm>
            <a:off x="404622" y="1426464"/>
            <a:ext cx="233172" cy="22288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omic Neue"/>
              <a:buNone/>
            </a:pPr>
            <a:r>
              <a:rPr b="1" i="0" lang="en" sz="1300" u="none" cap="none" strike="noStrike">
                <a:solidFill>
                  <a:srgbClr val="FFFFFF"/>
                </a:solidFill>
                <a:latin typeface="Comic Neue"/>
                <a:ea typeface="Comic Neue"/>
                <a:cs typeface="Comic Neue"/>
                <a:sym typeface="Comic Neue"/>
              </a:rPr>
              <a:t>1</a:t>
            </a:r>
            <a:endParaRPr b="0" i="0" sz="1300" u="none" cap="none" strike="noStrike">
              <a:solidFill>
                <a:schemeClr val="dk1"/>
              </a:solidFill>
              <a:latin typeface="Arial"/>
              <a:ea typeface="Arial"/>
              <a:cs typeface="Arial"/>
              <a:sym typeface="Arial"/>
            </a:endParaRPr>
          </a:p>
        </p:txBody>
      </p:sp>
      <p:sp>
        <p:nvSpPr>
          <p:cNvPr id="211" name="Google Shape;211;p33"/>
          <p:cNvSpPr/>
          <p:nvPr/>
        </p:nvSpPr>
        <p:spPr>
          <a:xfrm>
            <a:off x="726948" y="1426464"/>
            <a:ext cx="2187702" cy="21259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100"/>
              <a:buFont typeface="Arial"/>
              <a:buNone/>
            </a:pPr>
            <a:r>
              <a:rPr b="1" i="0" lang="en" sz="1100" u="none" cap="none" strike="noStrike">
                <a:solidFill>
                  <a:srgbClr val="202536"/>
                </a:solidFill>
                <a:latin typeface="Arial"/>
                <a:ea typeface="Arial"/>
                <a:cs typeface="Arial"/>
                <a:sym typeface="Arial"/>
              </a:rPr>
              <a:t>INPUT</a:t>
            </a:r>
            <a:endParaRPr b="0" i="0" sz="1100" u="none" cap="none" strike="noStrike">
              <a:solidFill>
                <a:schemeClr val="dk1"/>
              </a:solidFill>
              <a:latin typeface="Arial"/>
              <a:ea typeface="Arial"/>
              <a:cs typeface="Arial"/>
              <a:sym typeface="Arial"/>
            </a:endParaRPr>
          </a:p>
        </p:txBody>
      </p:sp>
      <p:sp>
        <p:nvSpPr>
          <p:cNvPr id="212" name="Google Shape;212;p33"/>
          <p:cNvSpPr/>
          <p:nvPr/>
        </p:nvSpPr>
        <p:spPr>
          <a:xfrm>
            <a:off x="438912" y="1721358"/>
            <a:ext cx="2482596"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700"/>
              <a:buFont typeface="Comic Neue"/>
              <a:buNone/>
            </a:pPr>
            <a:r>
              <a:rPr b="1" i="0" lang="en" sz="1700" u="none" cap="none" strike="noStrike">
                <a:solidFill>
                  <a:srgbClr val="202536"/>
                </a:solidFill>
                <a:latin typeface="Comic Neue"/>
                <a:ea typeface="Comic Neue"/>
                <a:cs typeface="Comic Neue"/>
                <a:sym typeface="Comic Neue"/>
              </a:rPr>
              <a:t>“Look at the picture”</a:t>
            </a:r>
            <a:endParaRPr b="0" i="0" sz="1700" u="none" cap="none" strike="noStrike">
              <a:solidFill>
                <a:schemeClr val="dk1"/>
              </a:solidFill>
              <a:latin typeface="Arial"/>
              <a:ea typeface="Arial"/>
              <a:cs typeface="Arial"/>
              <a:sym typeface="Arial"/>
            </a:endParaRPr>
          </a:p>
        </p:txBody>
      </p:sp>
      <p:pic>
        <p:nvPicPr>
          <p:cNvPr descr="/mnt/data/a04_comic_assets/cat_photo.png" id="213" name="Google Shape;213;p33"/>
          <p:cNvPicPr preferRelativeResize="0"/>
          <p:nvPr/>
        </p:nvPicPr>
        <p:blipFill rotWithShape="1">
          <a:blip r:embed="rId4">
            <a:alphaModFix/>
          </a:blip>
          <a:srcRect b="0" l="0" r="0" t="0"/>
          <a:stretch/>
        </p:blipFill>
        <p:spPr>
          <a:xfrm rot="-360000">
            <a:off x="466344" y="2081403"/>
            <a:ext cx="562356" cy="617220"/>
          </a:xfrm>
          <a:prstGeom prst="rect">
            <a:avLst/>
          </a:prstGeom>
          <a:noFill/>
          <a:ln>
            <a:noFill/>
          </a:ln>
        </p:spPr>
      </p:pic>
      <p:sp>
        <p:nvSpPr>
          <p:cNvPr id="214" name="Google Shape;214;p33"/>
          <p:cNvSpPr/>
          <p:nvPr/>
        </p:nvSpPr>
        <p:spPr>
          <a:xfrm>
            <a:off x="1159002" y="2081403"/>
            <a:ext cx="1693926" cy="6309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The computer gets a photo. The answer label stays hidden for now.</a:t>
            </a:r>
            <a:endParaRPr b="0" i="0" sz="1300" u="none" cap="none" strike="noStrike">
              <a:solidFill>
                <a:schemeClr val="dk1"/>
              </a:solidFill>
              <a:latin typeface="Arial"/>
              <a:ea typeface="Arial"/>
              <a:cs typeface="Arial"/>
              <a:sym typeface="Arial"/>
            </a:endParaRPr>
          </a:p>
        </p:txBody>
      </p:sp>
      <p:sp>
        <p:nvSpPr>
          <p:cNvPr id="215" name="Google Shape;215;p33"/>
          <p:cNvSpPr/>
          <p:nvPr/>
        </p:nvSpPr>
        <p:spPr>
          <a:xfrm>
            <a:off x="3242462" y="1371600"/>
            <a:ext cx="2722626" cy="1488186"/>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33"/>
          <p:cNvSpPr/>
          <p:nvPr/>
        </p:nvSpPr>
        <p:spPr>
          <a:xfrm>
            <a:off x="3209544" y="1330452"/>
            <a:ext cx="2722626" cy="1488186"/>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33"/>
          <p:cNvSpPr/>
          <p:nvPr/>
        </p:nvSpPr>
        <p:spPr>
          <a:xfrm rot="-21000">
            <a:off x="3278124" y="1399032"/>
            <a:ext cx="2585466" cy="281178"/>
          </a:xfrm>
          <a:prstGeom prst="rect">
            <a:avLst/>
          </a:prstGeom>
          <a:solidFill>
            <a:srgbClr val="FFE16A"/>
          </a:solidFill>
          <a:ln cap="flat" cmpd="sng" w="12700">
            <a:solidFill>
              <a:srgbClr val="FFE1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33"/>
          <p:cNvSpPr/>
          <p:nvPr/>
        </p:nvSpPr>
        <p:spPr>
          <a:xfrm>
            <a:off x="3312414" y="1423035"/>
            <a:ext cx="233172" cy="233172"/>
          </a:xfrm>
          <a:prstGeom prst="ellipse">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9" name="Google Shape;219;p33"/>
          <p:cNvSpPr/>
          <p:nvPr/>
        </p:nvSpPr>
        <p:spPr>
          <a:xfrm>
            <a:off x="3312414" y="1426464"/>
            <a:ext cx="233172" cy="22288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omic Neue"/>
              <a:buNone/>
            </a:pPr>
            <a:r>
              <a:rPr b="1" i="0" lang="en" sz="1300" u="none" cap="none" strike="noStrike">
                <a:solidFill>
                  <a:srgbClr val="FFFFFF"/>
                </a:solidFill>
                <a:latin typeface="Comic Neue"/>
                <a:ea typeface="Comic Neue"/>
                <a:cs typeface="Comic Neue"/>
                <a:sym typeface="Comic Neue"/>
              </a:rPr>
              <a:t>2</a:t>
            </a:r>
            <a:endParaRPr b="0" i="0" sz="1300" u="none" cap="none" strike="noStrike">
              <a:solidFill>
                <a:schemeClr val="dk1"/>
              </a:solidFill>
              <a:latin typeface="Arial"/>
              <a:ea typeface="Arial"/>
              <a:cs typeface="Arial"/>
              <a:sym typeface="Arial"/>
            </a:endParaRPr>
          </a:p>
        </p:txBody>
      </p:sp>
      <p:sp>
        <p:nvSpPr>
          <p:cNvPr id="220" name="Google Shape;220;p33"/>
          <p:cNvSpPr/>
          <p:nvPr/>
        </p:nvSpPr>
        <p:spPr>
          <a:xfrm>
            <a:off x="3634740" y="1426464"/>
            <a:ext cx="2187702" cy="21259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100"/>
              <a:buFont typeface="Arial"/>
              <a:buNone/>
            </a:pPr>
            <a:r>
              <a:rPr b="1" i="0" lang="en" sz="1100" u="none" cap="none" strike="noStrike">
                <a:solidFill>
                  <a:srgbClr val="202536"/>
                </a:solidFill>
                <a:latin typeface="Arial"/>
                <a:ea typeface="Arial"/>
                <a:cs typeface="Arial"/>
                <a:sym typeface="Arial"/>
              </a:rPr>
              <a:t>FORWARD PASS</a:t>
            </a:r>
            <a:endParaRPr b="0" i="0" sz="1100" u="none" cap="none" strike="noStrike">
              <a:solidFill>
                <a:schemeClr val="dk1"/>
              </a:solidFill>
              <a:latin typeface="Arial"/>
              <a:ea typeface="Arial"/>
              <a:cs typeface="Arial"/>
              <a:sym typeface="Arial"/>
            </a:endParaRPr>
          </a:p>
        </p:txBody>
      </p:sp>
      <p:sp>
        <p:nvSpPr>
          <p:cNvPr id="221" name="Google Shape;221;p33"/>
          <p:cNvSpPr/>
          <p:nvPr/>
        </p:nvSpPr>
        <p:spPr>
          <a:xfrm>
            <a:off x="3346704" y="1721358"/>
            <a:ext cx="2482596"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700"/>
              <a:buFont typeface="Comic Neue"/>
              <a:buNone/>
            </a:pPr>
            <a:r>
              <a:rPr b="1" i="0" lang="en" sz="1700" u="none" cap="none" strike="noStrike">
                <a:solidFill>
                  <a:srgbClr val="202536"/>
                </a:solidFill>
                <a:latin typeface="Comic Neue"/>
                <a:ea typeface="Comic Neue"/>
                <a:cs typeface="Comic Neue"/>
                <a:sym typeface="Comic Neue"/>
              </a:rPr>
              <a:t>“Make a guess”</a:t>
            </a:r>
            <a:endParaRPr b="0" i="0" sz="1700" u="none" cap="none" strike="noStrike">
              <a:solidFill>
                <a:schemeClr val="dk1"/>
              </a:solidFill>
              <a:latin typeface="Arial"/>
              <a:ea typeface="Arial"/>
              <a:cs typeface="Arial"/>
              <a:sym typeface="Arial"/>
            </a:endParaRPr>
          </a:p>
        </p:txBody>
      </p:sp>
      <p:pic>
        <p:nvPicPr>
          <p:cNvPr descr="/mnt/data/a04_comic_assets/computer.png" id="222" name="Google Shape;222;p33"/>
          <p:cNvPicPr preferRelativeResize="0"/>
          <p:nvPr/>
        </p:nvPicPr>
        <p:blipFill rotWithShape="1">
          <a:blip r:embed="rId5">
            <a:alphaModFix/>
          </a:blip>
          <a:srcRect b="0" l="0" r="0" t="0"/>
          <a:stretch/>
        </p:blipFill>
        <p:spPr>
          <a:xfrm>
            <a:off x="3326130" y="2119122"/>
            <a:ext cx="761238" cy="702945"/>
          </a:xfrm>
          <a:prstGeom prst="rect">
            <a:avLst/>
          </a:prstGeom>
          <a:noFill/>
          <a:ln>
            <a:noFill/>
          </a:ln>
        </p:spPr>
      </p:pic>
      <p:sp>
        <p:nvSpPr>
          <p:cNvPr id="223" name="Google Shape;223;p33"/>
          <p:cNvSpPr/>
          <p:nvPr/>
        </p:nvSpPr>
        <p:spPr>
          <a:xfrm>
            <a:off x="4197096" y="2081403"/>
            <a:ext cx="1570482" cy="6309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Using its current settings, the network makes a guess: “Dog?”</a:t>
            </a:r>
            <a:endParaRPr b="0" i="0" sz="1300" u="none" cap="none" strike="noStrike">
              <a:solidFill>
                <a:schemeClr val="dk1"/>
              </a:solidFill>
              <a:latin typeface="Arial"/>
              <a:ea typeface="Arial"/>
              <a:cs typeface="Arial"/>
              <a:sym typeface="Arial"/>
            </a:endParaRPr>
          </a:p>
        </p:txBody>
      </p:sp>
      <p:sp>
        <p:nvSpPr>
          <p:cNvPr id="224" name="Google Shape;224;p33"/>
          <p:cNvSpPr/>
          <p:nvPr/>
        </p:nvSpPr>
        <p:spPr>
          <a:xfrm>
            <a:off x="6150254" y="1371600"/>
            <a:ext cx="2722626" cy="1488186"/>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5" name="Google Shape;225;p33"/>
          <p:cNvSpPr/>
          <p:nvPr/>
        </p:nvSpPr>
        <p:spPr>
          <a:xfrm>
            <a:off x="6117336" y="1330452"/>
            <a:ext cx="2722626" cy="1488186"/>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6" name="Google Shape;226;p33"/>
          <p:cNvSpPr/>
          <p:nvPr/>
        </p:nvSpPr>
        <p:spPr>
          <a:xfrm rot="-21000">
            <a:off x="6185916" y="1399032"/>
            <a:ext cx="2585466" cy="281178"/>
          </a:xfrm>
          <a:prstGeom prst="rect">
            <a:avLst/>
          </a:prstGeom>
          <a:solidFill>
            <a:srgbClr val="FF7B7B"/>
          </a:solidFill>
          <a:ln cap="flat" cmpd="sng" w="12700">
            <a:solidFill>
              <a:srgbClr val="FF7B7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7" name="Google Shape;227;p33"/>
          <p:cNvSpPr/>
          <p:nvPr/>
        </p:nvSpPr>
        <p:spPr>
          <a:xfrm>
            <a:off x="6220206" y="1423035"/>
            <a:ext cx="233172" cy="233172"/>
          </a:xfrm>
          <a:prstGeom prst="ellipse">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8" name="Google Shape;228;p33"/>
          <p:cNvSpPr/>
          <p:nvPr/>
        </p:nvSpPr>
        <p:spPr>
          <a:xfrm>
            <a:off x="6220206" y="1426464"/>
            <a:ext cx="233172" cy="22288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omic Neue"/>
              <a:buNone/>
            </a:pPr>
            <a:r>
              <a:rPr b="1" i="0" lang="en" sz="1300" u="none" cap="none" strike="noStrike">
                <a:solidFill>
                  <a:srgbClr val="FFFFFF"/>
                </a:solidFill>
                <a:latin typeface="Comic Neue"/>
                <a:ea typeface="Comic Neue"/>
                <a:cs typeface="Comic Neue"/>
                <a:sym typeface="Comic Neue"/>
              </a:rPr>
              <a:t>3</a:t>
            </a:r>
            <a:endParaRPr b="0" i="0" sz="1300" u="none" cap="none" strike="noStrike">
              <a:solidFill>
                <a:schemeClr val="dk1"/>
              </a:solidFill>
              <a:latin typeface="Arial"/>
              <a:ea typeface="Arial"/>
              <a:cs typeface="Arial"/>
              <a:sym typeface="Arial"/>
            </a:endParaRPr>
          </a:p>
        </p:txBody>
      </p:sp>
      <p:sp>
        <p:nvSpPr>
          <p:cNvPr id="229" name="Google Shape;229;p33"/>
          <p:cNvSpPr/>
          <p:nvPr/>
        </p:nvSpPr>
        <p:spPr>
          <a:xfrm>
            <a:off x="6542532" y="1426464"/>
            <a:ext cx="2187702" cy="21259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100"/>
              <a:buFont typeface="Arial"/>
              <a:buNone/>
            </a:pPr>
            <a:r>
              <a:rPr b="1" i="0" lang="en" sz="1100" u="none" cap="none" strike="noStrike">
                <a:solidFill>
                  <a:srgbClr val="202536"/>
                </a:solidFill>
                <a:latin typeface="Arial"/>
                <a:ea typeface="Arial"/>
                <a:cs typeface="Arial"/>
                <a:sym typeface="Arial"/>
              </a:rPr>
              <a:t>LOSS CALCULATION</a:t>
            </a:r>
            <a:endParaRPr b="0" i="0" sz="1100" u="none" cap="none" strike="noStrike">
              <a:solidFill>
                <a:schemeClr val="dk1"/>
              </a:solidFill>
              <a:latin typeface="Arial"/>
              <a:ea typeface="Arial"/>
              <a:cs typeface="Arial"/>
              <a:sym typeface="Arial"/>
            </a:endParaRPr>
          </a:p>
        </p:txBody>
      </p:sp>
      <p:sp>
        <p:nvSpPr>
          <p:cNvPr id="230" name="Google Shape;230;p33"/>
          <p:cNvSpPr/>
          <p:nvPr/>
        </p:nvSpPr>
        <p:spPr>
          <a:xfrm>
            <a:off x="6254496" y="1721358"/>
            <a:ext cx="2482596"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700"/>
              <a:buFont typeface="Comic Neue"/>
              <a:buNone/>
            </a:pPr>
            <a:r>
              <a:rPr b="1" i="0" lang="en" sz="1700" u="none" cap="none" strike="noStrike">
                <a:solidFill>
                  <a:srgbClr val="202536"/>
                </a:solidFill>
                <a:latin typeface="Comic Neue"/>
                <a:ea typeface="Comic Neue"/>
                <a:cs typeface="Comic Neue"/>
                <a:sym typeface="Comic Neue"/>
              </a:rPr>
              <a:t>“Check the answer”</a:t>
            </a:r>
            <a:endParaRPr b="0" i="0" sz="1700" u="none" cap="none" strike="noStrike">
              <a:solidFill>
                <a:schemeClr val="dk1"/>
              </a:solidFill>
              <a:latin typeface="Arial"/>
              <a:ea typeface="Arial"/>
              <a:cs typeface="Arial"/>
              <a:sym typeface="Arial"/>
            </a:endParaRPr>
          </a:p>
        </p:txBody>
      </p:sp>
      <p:pic>
        <p:nvPicPr>
          <p:cNvPr descr="/mnt/data/a04_comic_assets/check.png" id="231" name="Google Shape;231;p33"/>
          <p:cNvPicPr preferRelativeResize="0"/>
          <p:nvPr/>
        </p:nvPicPr>
        <p:blipFill rotWithShape="1">
          <a:blip r:embed="rId6">
            <a:alphaModFix/>
          </a:blip>
          <a:srcRect b="0" l="0" r="0" t="0"/>
          <a:stretch/>
        </p:blipFill>
        <p:spPr>
          <a:xfrm>
            <a:off x="6227064" y="2132838"/>
            <a:ext cx="740664" cy="582930"/>
          </a:xfrm>
          <a:prstGeom prst="rect">
            <a:avLst/>
          </a:prstGeom>
          <a:noFill/>
          <a:ln>
            <a:noFill/>
          </a:ln>
        </p:spPr>
      </p:pic>
      <p:sp>
        <p:nvSpPr>
          <p:cNvPr id="232" name="Google Shape;232;p33"/>
          <p:cNvSpPr/>
          <p:nvPr/>
        </p:nvSpPr>
        <p:spPr>
          <a:xfrm>
            <a:off x="7091172" y="2074545"/>
            <a:ext cx="157734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The label says “cat.” Loss is an error score: bigger means more wrong.</a:t>
            </a:r>
            <a:endParaRPr b="0" i="0" sz="1300" u="none" cap="none" strike="noStrike">
              <a:solidFill>
                <a:schemeClr val="dk1"/>
              </a:solidFill>
              <a:latin typeface="Arial"/>
              <a:ea typeface="Arial"/>
              <a:cs typeface="Arial"/>
              <a:sym typeface="Arial"/>
            </a:endParaRPr>
          </a:p>
        </p:txBody>
      </p:sp>
      <p:sp>
        <p:nvSpPr>
          <p:cNvPr id="233" name="Google Shape;233;p33"/>
          <p:cNvSpPr/>
          <p:nvPr/>
        </p:nvSpPr>
        <p:spPr>
          <a:xfrm>
            <a:off x="334670" y="3038094"/>
            <a:ext cx="5630418" cy="1618488"/>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33"/>
          <p:cNvSpPr/>
          <p:nvPr/>
        </p:nvSpPr>
        <p:spPr>
          <a:xfrm>
            <a:off x="301752" y="2996946"/>
            <a:ext cx="5630418" cy="1618488"/>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33"/>
          <p:cNvSpPr/>
          <p:nvPr/>
        </p:nvSpPr>
        <p:spPr>
          <a:xfrm rot="-21000">
            <a:off x="370332" y="3065526"/>
            <a:ext cx="5493258" cy="281178"/>
          </a:xfrm>
          <a:prstGeom prst="rect">
            <a:avLst/>
          </a:prstGeom>
          <a:solidFill>
            <a:srgbClr val="FF9364"/>
          </a:solidFill>
          <a:ln cap="flat" cmpd="sng" w="12700">
            <a:solidFill>
              <a:srgbClr val="FF936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33"/>
          <p:cNvSpPr/>
          <p:nvPr/>
        </p:nvSpPr>
        <p:spPr>
          <a:xfrm>
            <a:off x="404622" y="3089529"/>
            <a:ext cx="233172" cy="233172"/>
          </a:xfrm>
          <a:prstGeom prst="ellipse">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33"/>
          <p:cNvSpPr/>
          <p:nvPr/>
        </p:nvSpPr>
        <p:spPr>
          <a:xfrm>
            <a:off x="404622" y="3092958"/>
            <a:ext cx="233172" cy="22288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omic Neue"/>
              <a:buNone/>
            </a:pPr>
            <a:r>
              <a:rPr b="1" i="0" lang="en" sz="1300" u="none" cap="none" strike="noStrike">
                <a:solidFill>
                  <a:srgbClr val="FFFFFF"/>
                </a:solidFill>
                <a:latin typeface="Comic Neue"/>
                <a:ea typeface="Comic Neue"/>
                <a:cs typeface="Comic Neue"/>
                <a:sym typeface="Comic Neue"/>
              </a:rPr>
              <a:t>4</a:t>
            </a:r>
            <a:endParaRPr b="0" i="0" sz="1300" u="none" cap="none" strike="noStrike">
              <a:solidFill>
                <a:schemeClr val="dk1"/>
              </a:solidFill>
              <a:latin typeface="Arial"/>
              <a:ea typeface="Arial"/>
              <a:cs typeface="Arial"/>
              <a:sym typeface="Arial"/>
            </a:endParaRPr>
          </a:p>
        </p:txBody>
      </p:sp>
      <p:sp>
        <p:nvSpPr>
          <p:cNvPr id="238" name="Google Shape;238;p33"/>
          <p:cNvSpPr/>
          <p:nvPr/>
        </p:nvSpPr>
        <p:spPr>
          <a:xfrm>
            <a:off x="726948" y="3092958"/>
            <a:ext cx="5095494" cy="21259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100"/>
              <a:buFont typeface="Arial"/>
              <a:buNone/>
            </a:pPr>
            <a:r>
              <a:rPr b="1" i="0" lang="en" sz="1100" u="none" cap="none" strike="noStrike">
                <a:solidFill>
                  <a:srgbClr val="202536"/>
                </a:solidFill>
                <a:latin typeface="Arial"/>
                <a:ea typeface="Arial"/>
                <a:cs typeface="Arial"/>
                <a:sym typeface="Arial"/>
              </a:rPr>
              <a:t>WEIGHT UPDATE</a:t>
            </a:r>
            <a:endParaRPr b="0" i="0" sz="1100" u="none" cap="none" strike="noStrike">
              <a:solidFill>
                <a:schemeClr val="dk1"/>
              </a:solidFill>
              <a:latin typeface="Arial"/>
              <a:ea typeface="Arial"/>
              <a:cs typeface="Arial"/>
              <a:sym typeface="Arial"/>
            </a:endParaRPr>
          </a:p>
        </p:txBody>
      </p:sp>
      <p:sp>
        <p:nvSpPr>
          <p:cNvPr id="239" name="Google Shape;239;p33"/>
          <p:cNvSpPr/>
          <p:nvPr/>
        </p:nvSpPr>
        <p:spPr>
          <a:xfrm>
            <a:off x="438912" y="3387852"/>
            <a:ext cx="5390388"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700"/>
              <a:buFont typeface="Comic Neue"/>
              <a:buNone/>
            </a:pPr>
            <a:r>
              <a:rPr b="1" i="0" lang="en" sz="1700" u="none" cap="none" strike="noStrike">
                <a:solidFill>
                  <a:srgbClr val="202536"/>
                </a:solidFill>
                <a:latin typeface="Comic Neue"/>
                <a:ea typeface="Comic Neue"/>
                <a:cs typeface="Comic Neue"/>
                <a:sym typeface="Comic Neue"/>
              </a:rPr>
              <a:t>“Adjust the controls”</a:t>
            </a:r>
            <a:endParaRPr b="0" i="0" sz="1700" u="none" cap="none" strike="noStrike">
              <a:solidFill>
                <a:schemeClr val="dk1"/>
              </a:solidFill>
              <a:latin typeface="Arial"/>
              <a:ea typeface="Arial"/>
              <a:cs typeface="Arial"/>
              <a:sym typeface="Arial"/>
            </a:endParaRPr>
          </a:p>
        </p:txBody>
      </p:sp>
      <p:sp>
        <p:nvSpPr>
          <p:cNvPr id="240" name="Google Shape;240;p33"/>
          <p:cNvSpPr/>
          <p:nvPr/>
        </p:nvSpPr>
        <p:spPr>
          <a:xfrm>
            <a:off x="507492" y="3737610"/>
            <a:ext cx="1762506"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6615B"/>
              </a:buClr>
              <a:buSzPts val="800"/>
              <a:buFont typeface="Arial"/>
              <a:buNone/>
            </a:pPr>
            <a:r>
              <a:rPr b="1" i="0" lang="en" sz="800" u="none" cap="none" strike="noStrike">
                <a:solidFill>
                  <a:srgbClr val="56615B"/>
                </a:solidFill>
                <a:latin typeface="Arial"/>
                <a:ea typeface="Arial"/>
                <a:cs typeface="Arial"/>
                <a:sym typeface="Arial"/>
              </a:rPr>
              <a:t>SPEAKER VOLUME</a:t>
            </a:r>
            <a:endParaRPr b="0" i="0" sz="800" u="none" cap="none" strike="noStrike">
              <a:solidFill>
                <a:schemeClr val="dk1"/>
              </a:solidFill>
              <a:latin typeface="Arial"/>
              <a:ea typeface="Arial"/>
              <a:cs typeface="Arial"/>
              <a:sym typeface="Arial"/>
            </a:endParaRPr>
          </a:p>
        </p:txBody>
      </p:sp>
      <p:pic>
        <p:nvPicPr>
          <p:cNvPr descr="/mnt/data/a04_comic_assets/speaker_dials.png" id="241" name="Google Shape;241;p33"/>
          <p:cNvPicPr preferRelativeResize="0"/>
          <p:nvPr/>
        </p:nvPicPr>
        <p:blipFill rotWithShape="1">
          <a:blip r:embed="rId7">
            <a:alphaModFix/>
          </a:blip>
          <a:srcRect b="0" l="0" r="0" t="0"/>
          <a:stretch/>
        </p:blipFill>
        <p:spPr>
          <a:xfrm>
            <a:off x="452628" y="3861054"/>
            <a:ext cx="2009394" cy="803758"/>
          </a:xfrm>
          <a:prstGeom prst="rect">
            <a:avLst/>
          </a:prstGeom>
          <a:noFill/>
          <a:ln>
            <a:noFill/>
          </a:ln>
        </p:spPr>
      </p:pic>
      <p:sp>
        <p:nvSpPr>
          <p:cNvPr id="242" name="Google Shape;242;p33"/>
          <p:cNvSpPr/>
          <p:nvPr/>
        </p:nvSpPr>
        <p:spPr>
          <a:xfrm>
            <a:off x="1361313" y="4430268"/>
            <a:ext cx="226314" cy="15773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536"/>
              </a:buClr>
              <a:buSzPts val="1300"/>
              <a:buFont typeface="Comic Neue"/>
              <a:buNone/>
            </a:pPr>
            <a:r>
              <a:rPr b="1" i="0" lang="en" sz="1300" u="none" cap="none" strike="noStrike">
                <a:solidFill>
                  <a:srgbClr val="202536"/>
                </a:solidFill>
                <a:latin typeface="Comic Neue"/>
                <a:ea typeface="Comic Neue"/>
                <a:cs typeface="Comic Neue"/>
                <a:sym typeface="Comic Neue"/>
              </a:rPr>
              <a:t>2</a:t>
            </a:r>
            <a:endParaRPr b="0" i="0" sz="1300" u="none" cap="none" strike="noStrike">
              <a:solidFill>
                <a:schemeClr val="dk1"/>
              </a:solidFill>
              <a:latin typeface="Arial"/>
              <a:ea typeface="Arial"/>
              <a:cs typeface="Arial"/>
              <a:sym typeface="Arial"/>
            </a:endParaRPr>
          </a:p>
        </p:txBody>
      </p:sp>
      <p:sp>
        <p:nvSpPr>
          <p:cNvPr id="243" name="Google Shape;243;p33"/>
          <p:cNvSpPr/>
          <p:nvPr/>
        </p:nvSpPr>
        <p:spPr>
          <a:xfrm>
            <a:off x="2053971" y="4430268"/>
            <a:ext cx="226314" cy="15773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536"/>
              </a:buClr>
              <a:buSzPts val="1300"/>
              <a:buFont typeface="Comic Neue"/>
              <a:buNone/>
            </a:pPr>
            <a:r>
              <a:rPr b="1" i="0" lang="en" sz="1300" u="none" cap="none" strike="noStrike">
                <a:solidFill>
                  <a:srgbClr val="202536"/>
                </a:solidFill>
                <a:latin typeface="Comic Neue"/>
                <a:ea typeface="Comic Neue"/>
                <a:cs typeface="Comic Neue"/>
                <a:sym typeface="Comic Neue"/>
              </a:rPr>
              <a:t>5</a:t>
            </a:r>
            <a:endParaRPr b="0" i="0" sz="1300" u="none" cap="none" strike="noStrike">
              <a:solidFill>
                <a:schemeClr val="dk1"/>
              </a:solidFill>
              <a:latin typeface="Arial"/>
              <a:ea typeface="Arial"/>
              <a:cs typeface="Arial"/>
              <a:sym typeface="Arial"/>
            </a:endParaRPr>
          </a:p>
        </p:txBody>
      </p:sp>
      <p:sp>
        <p:nvSpPr>
          <p:cNvPr id="244" name="Google Shape;244;p33"/>
          <p:cNvSpPr/>
          <p:nvPr/>
        </p:nvSpPr>
        <p:spPr>
          <a:xfrm>
            <a:off x="2585466" y="3713607"/>
            <a:ext cx="3154680" cy="795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Like volume controls, weights make signals count more or less.</a:t>
            </a:r>
            <a:endParaRPr b="0" i="0" sz="13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They are number settings, not real knobs. The computer adjusts them to try to lower its error score.</a:t>
            </a:r>
            <a:endParaRPr b="0" i="0" sz="1300" u="none" cap="none" strike="noStrike">
              <a:solidFill>
                <a:schemeClr val="dk1"/>
              </a:solidFill>
              <a:latin typeface="Arial"/>
              <a:ea typeface="Arial"/>
              <a:cs typeface="Arial"/>
              <a:sym typeface="Arial"/>
            </a:endParaRPr>
          </a:p>
        </p:txBody>
      </p:sp>
      <p:sp>
        <p:nvSpPr>
          <p:cNvPr id="245" name="Google Shape;245;p33"/>
          <p:cNvSpPr/>
          <p:nvPr/>
        </p:nvSpPr>
        <p:spPr>
          <a:xfrm>
            <a:off x="6150254" y="3038094"/>
            <a:ext cx="2722626" cy="1618488"/>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6" name="Google Shape;246;p33"/>
          <p:cNvSpPr/>
          <p:nvPr/>
        </p:nvSpPr>
        <p:spPr>
          <a:xfrm>
            <a:off x="6117336" y="2996946"/>
            <a:ext cx="2722626" cy="1618488"/>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33"/>
          <p:cNvSpPr/>
          <p:nvPr/>
        </p:nvSpPr>
        <p:spPr>
          <a:xfrm rot="-21000">
            <a:off x="6185916" y="3065526"/>
            <a:ext cx="2585466" cy="281178"/>
          </a:xfrm>
          <a:prstGeom prst="rect">
            <a:avLst/>
          </a:prstGeom>
          <a:solidFill>
            <a:srgbClr val="B8A4F1"/>
          </a:solidFill>
          <a:ln cap="flat" cmpd="sng" w="12700">
            <a:solidFill>
              <a:srgbClr val="B8A4F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33"/>
          <p:cNvSpPr/>
          <p:nvPr/>
        </p:nvSpPr>
        <p:spPr>
          <a:xfrm>
            <a:off x="6220206" y="3089529"/>
            <a:ext cx="233172" cy="233172"/>
          </a:xfrm>
          <a:prstGeom prst="ellipse">
            <a:avLst/>
          </a:prstGeom>
          <a:solidFill>
            <a:srgbClr val="202536"/>
          </a:solidFill>
          <a:ln cap="flat" cmpd="sng" w="12700">
            <a:solidFill>
              <a:srgbClr val="2025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9" name="Google Shape;249;p33"/>
          <p:cNvSpPr/>
          <p:nvPr/>
        </p:nvSpPr>
        <p:spPr>
          <a:xfrm>
            <a:off x="6220206" y="3092958"/>
            <a:ext cx="233172" cy="22288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omic Neue"/>
              <a:buNone/>
            </a:pPr>
            <a:r>
              <a:rPr b="1" i="0" lang="en" sz="1300" u="none" cap="none" strike="noStrike">
                <a:solidFill>
                  <a:srgbClr val="FFFFFF"/>
                </a:solidFill>
                <a:latin typeface="Comic Neue"/>
                <a:ea typeface="Comic Neue"/>
                <a:cs typeface="Comic Neue"/>
                <a:sym typeface="Comic Neue"/>
              </a:rPr>
              <a:t>5</a:t>
            </a:r>
            <a:endParaRPr b="0" i="0" sz="1300" u="none" cap="none" strike="noStrike">
              <a:solidFill>
                <a:schemeClr val="dk1"/>
              </a:solidFill>
              <a:latin typeface="Arial"/>
              <a:ea typeface="Arial"/>
              <a:cs typeface="Arial"/>
              <a:sym typeface="Arial"/>
            </a:endParaRPr>
          </a:p>
        </p:txBody>
      </p:sp>
      <p:sp>
        <p:nvSpPr>
          <p:cNvPr id="250" name="Google Shape;250;p33"/>
          <p:cNvSpPr/>
          <p:nvPr/>
        </p:nvSpPr>
        <p:spPr>
          <a:xfrm>
            <a:off x="6542532" y="3092958"/>
            <a:ext cx="2187702" cy="21259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100"/>
              <a:buFont typeface="Arial"/>
              <a:buNone/>
            </a:pPr>
            <a:r>
              <a:rPr b="1" i="0" lang="en" sz="1100" u="none" cap="none" strike="noStrike">
                <a:solidFill>
                  <a:srgbClr val="202536"/>
                </a:solidFill>
                <a:latin typeface="Arial"/>
                <a:ea typeface="Arial"/>
                <a:cs typeface="Arial"/>
                <a:sym typeface="Arial"/>
              </a:rPr>
              <a:t>NEXT ITERATION</a:t>
            </a:r>
            <a:endParaRPr b="0" i="0" sz="1100" u="none" cap="none" strike="noStrike">
              <a:solidFill>
                <a:schemeClr val="dk1"/>
              </a:solidFill>
              <a:latin typeface="Arial"/>
              <a:ea typeface="Arial"/>
              <a:cs typeface="Arial"/>
              <a:sym typeface="Arial"/>
            </a:endParaRPr>
          </a:p>
        </p:txBody>
      </p:sp>
      <p:sp>
        <p:nvSpPr>
          <p:cNvPr id="251" name="Google Shape;251;p33"/>
          <p:cNvSpPr/>
          <p:nvPr/>
        </p:nvSpPr>
        <p:spPr>
          <a:xfrm>
            <a:off x="6254496" y="3387852"/>
            <a:ext cx="2482596"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700"/>
              <a:buFont typeface="Comic Neue"/>
              <a:buNone/>
            </a:pPr>
            <a:r>
              <a:rPr b="1" i="0" lang="en" sz="1700" u="none" cap="none" strike="noStrike">
                <a:solidFill>
                  <a:srgbClr val="202536"/>
                </a:solidFill>
                <a:latin typeface="Comic Neue"/>
                <a:ea typeface="Comic Neue"/>
                <a:cs typeface="Comic Neue"/>
                <a:sym typeface="Comic Neue"/>
              </a:rPr>
              <a:t>“Practice again”</a:t>
            </a:r>
            <a:endParaRPr b="0" i="0" sz="1700" u="none" cap="none" strike="noStrike">
              <a:solidFill>
                <a:schemeClr val="dk1"/>
              </a:solidFill>
              <a:latin typeface="Arial"/>
              <a:ea typeface="Arial"/>
              <a:cs typeface="Arial"/>
              <a:sym typeface="Arial"/>
            </a:endParaRPr>
          </a:p>
        </p:txBody>
      </p:sp>
      <p:pic>
        <p:nvPicPr>
          <p:cNvPr descr="/mnt/data/a04_comic_assets/practice.png" id="252" name="Google Shape;252;p33"/>
          <p:cNvPicPr preferRelativeResize="0"/>
          <p:nvPr/>
        </p:nvPicPr>
        <p:blipFill rotWithShape="1">
          <a:blip r:embed="rId8">
            <a:alphaModFix/>
          </a:blip>
          <a:srcRect b="0" l="0" r="0" t="0"/>
          <a:stretch/>
        </p:blipFill>
        <p:spPr>
          <a:xfrm rot="120000">
            <a:off x="6254496" y="3819906"/>
            <a:ext cx="768096" cy="723519"/>
          </a:xfrm>
          <a:prstGeom prst="rect">
            <a:avLst/>
          </a:prstGeom>
          <a:noFill/>
          <a:ln>
            <a:noFill/>
          </a:ln>
        </p:spPr>
      </p:pic>
      <p:sp>
        <p:nvSpPr>
          <p:cNvPr id="253" name="Google Shape;253;p33"/>
          <p:cNvSpPr/>
          <p:nvPr/>
        </p:nvSpPr>
        <p:spPr>
          <a:xfrm>
            <a:off x="7146036" y="3730752"/>
            <a:ext cx="1522476" cy="80238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536"/>
              </a:buClr>
              <a:buSzPts val="1300"/>
              <a:buFont typeface="Arial"/>
              <a:buNone/>
            </a:pPr>
            <a:r>
              <a:rPr b="0" i="0" lang="en" sz="1300" u="none" cap="none" strike="noStrike">
                <a:solidFill>
                  <a:srgbClr val="202536"/>
                </a:solidFill>
                <a:latin typeface="Arial"/>
                <a:ea typeface="Arial"/>
                <a:cs typeface="Arial"/>
                <a:sym typeface="Arial"/>
              </a:rPr>
              <a:t>Try more labeled photos with the new settings. Each practice round is an iteration.</a:t>
            </a:r>
            <a:endParaRPr b="0" i="0" sz="1300" u="none" cap="none" strike="noStrike">
              <a:solidFill>
                <a:schemeClr val="dk1"/>
              </a:solidFill>
              <a:latin typeface="Arial"/>
              <a:ea typeface="Arial"/>
              <a:cs typeface="Arial"/>
              <a:sym typeface="Arial"/>
            </a:endParaRPr>
          </a:p>
        </p:txBody>
      </p:sp>
      <p:pic>
        <p:nvPicPr>
          <p:cNvPr descr="/mnt/data/a04_comic_assets/arrow.png" id="254" name="Google Shape;254;p33"/>
          <p:cNvPicPr preferRelativeResize="0"/>
          <p:nvPr/>
        </p:nvPicPr>
        <p:blipFill rotWithShape="1">
          <a:blip r:embed="rId9">
            <a:alphaModFix/>
          </a:blip>
          <a:srcRect b="0" l="0" r="0" t="0"/>
          <a:stretch/>
        </p:blipFill>
        <p:spPr>
          <a:xfrm>
            <a:off x="3020949" y="2029968"/>
            <a:ext cx="195453" cy="130302"/>
          </a:xfrm>
          <a:prstGeom prst="rect">
            <a:avLst/>
          </a:prstGeom>
          <a:noFill/>
          <a:ln>
            <a:noFill/>
          </a:ln>
        </p:spPr>
      </p:pic>
      <p:pic>
        <p:nvPicPr>
          <p:cNvPr descr="/mnt/data/a04_comic_assets/arrow.png" id="255" name="Google Shape;255;p33"/>
          <p:cNvPicPr preferRelativeResize="0"/>
          <p:nvPr/>
        </p:nvPicPr>
        <p:blipFill rotWithShape="1">
          <a:blip r:embed="rId9">
            <a:alphaModFix/>
          </a:blip>
          <a:srcRect b="0" l="0" r="0" t="0"/>
          <a:stretch/>
        </p:blipFill>
        <p:spPr>
          <a:xfrm>
            <a:off x="5928741" y="2029968"/>
            <a:ext cx="195453" cy="130302"/>
          </a:xfrm>
          <a:prstGeom prst="rect">
            <a:avLst/>
          </a:prstGeom>
          <a:noFill/>
          <a:ln>
            <a:noFill/>
          </a:ln>
        </p:spPr>
      </p:pic>
      <p:pic>
        <p:nvPicPr>
          <p:cNvPr descr="/mnt/data/a04_comic_assets/arrow.png" id="256" name="Google Shape;256;p33"/>
          <p:cNvPicPr preferRelativeResize="0"/>
          <p:nvPr/>
        </p:nvPicPr>
        <p:blipFill rotWithShape="1">
          <a:blip r:embed="rId9">
            <a:alphaModFix/>
          </a:blip>
          <a:srcRect b="0" l="0" r="0" t="0"/>
          <a:stretch/>
        </p:blipFill>
        <p:spPr>
          <a:xfrm>
            <a:off x="5928741" y="3915918"/>
            <a:ext cx="195453" cy="130302"/>
          </a:xfrm>
          <a:prstGeom prst="rect">
            <a:avLst/>
          </a:prstGeom>
          <a:noFill/>
          <a:ln>
            <a:noFill/>
          </a:ln>
        </p:spPr>
      </p:pic>
      <p:sp>
        <p:nvSpPr>
          <p:cNvPr id="257" name="Google Shape;257;p33"/>
          <p:cNvSpPr/>
          <p:nvPr/>
        </p:nvSpPr>
        <p:spPr>
          <a:xfrm rot="-18000">
            <a:off x="342900" y="4800600"/>
            <a:ext cx="8435340" cy="212598"/>
          </a:xfrm>
          <a:prstGeom prst="rect">
            <a:avLst/>
          </a:prstGeom>
          <a:solidFill>
            <a:srgbClr val="FFE16A"/>
          </a:solidFill>
          <a:ln cap="flat" cmpd="sng" w="12700">
            <a:solidFill>
              <a:srgbClr val="FFE1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33"/>
          <p:cNvSpPr/>
          <p:nvPr/>
        </p:nvSpPr>
        <p:spPr>
          <a:xfrm>
            <a:off x="486918" y="4776597"/>
            <a:ext cx="8140446" cy="26746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536"/>
              </a:buClr>
              <a:buSzPts val="1700"/>
              <a:buFont typeface="Comic Neue"/>
              <a:buNone/>
            </a:pPr>
            <a:r>
              <a:rPr b="1" i="0" lang="en" sz="1700" u="none" cap="none" strike="noStrike">
                <a:solidFill>
                  <a:srgbClr val="202536"/>
                </a:solidFill>
                <a:latin typeface="Comic Neue"/>
                <a:ea typeface="Comic Neue"/>
                <a:cs typeface="Comic Neue"/>
                <a:sym typeface="Comic Neue"/>
              </a:rPr>
              <a:t>Big question: Which controls should we adjust, and by how much?</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descr="image-2-1.png" id="264" name="Google Shape;264;p34"/>
          <p:cNvPicPr preferRelativeResize="0"/>
          <p:nvPr/>
        </p:nvPicPr>
        <p:blipFill rotWithShape="1">
          <a:blip r:embed="rId3">
            <a:alphaModFix/>
          </a:blip>
          <a:srcRect b="0" l="0" r="0" t="0"/>
          <a:stretch/>
        </p:blipFill>
        <p:spPr>
          <a:xfrm>
            <a:off x="0" y="0"/>
            <a:ext cx="9143999" cy="5143500"/>
          </a:xfrm>
          <a:prstGeom prst="rect">
            <a:avLst/>
          </a:prstGeom>
          <a:noFill/>
          <a:ln>
            <a:noFill/>
          </a:ln>
        </p:spPr>
      </p:pic>
      <p:sp>
        <p:nvSpPr>
          <p:cNvPr id="265" name="Google Shape;265;p34"/>
          <p:cNvSpPr txBox="1"/>
          <p:nvPr/>
        </p:nvSpPr>
        <p:spPr>
          <a:xfrm>
            <a:off x="356617" y="198882"/>
            <a:ext cx="7543815" cy="15087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900" u="none" cap="none" strike="noStrike">
                <a:solidFill>
                  <a:srgbClr val="566461"/>
                </a:solidFill>
                <a:latin typeface="Arial"/>
                <a:ea typeface="Arial"/>
                <a:cs typeface="Arial"/>
                <a:sym typeface="Arial"/>
              </a:rPr>
              <a:t>GROUP 4  /  GRADIENT DESCENT  /  LOUIS DELGADO</a:t>
            </a:r>
            <a:endParaRPr sz="1100"/>
          </a:p>
        </p:txBody>
      </p:sp>
      <p:sp>
        <p:nvSpPr>
          <p:cNvPr id="266" name="Google Shape;266;p34"/>
          <p:cNvSpPr txBox="1"/>
          <p:nvPr/>
        </p:nvSpPr>
        <p:spPr>
          <a:xfrm>
            <a:off x="329185" y="466344"/>
            <a:ext cx="8503937" cy="43205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500" u="none" cap="none" strike="noStrike">
                <a:solidFill>
                  <a:srgbClr val="202638"/>
                </a:solidFill>
                <a:latin typeface="Comic Neue"/>
                <a:ea typeface="Comic Neue"/>
                <a:cs typeface="Comic Neue"/>
                <a:sym typeface="Comic Neue"/>
              </a:rPr>
              <a:t>From Space Orbits to “Cat or Dog?”</a:t>
            </a:r>
            <a:endParaRPr sz="1100"/>
          </a:p>
        </p:txBody>
      </p:sp>
      <p:sp>
        <p:nvSpPr>
          <p:cNvPr id="267" name="Google Shape;267;p34"/>
          <p:cNvSpPr txBox="1"/>
          <p:nvPr/>
        </p:nvSpPr>
        <p:spPr>
          <a:xfrm>
            <a:off x="363475" y="966978"/>
            <a:ext cx="8366777" cy="23317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 sz="1400" u="none" cap="none" strike="noStrike">
                <a:solidFill>
                  <a:srgbClr val="202638"/>
                </a:solidFill>
                <a:latin typeface="Arial"/>
                <a:ea typeface="Arial"/>
                <a:cs typeface="Arial"/>
                <a:sym typeface="Arial"/>
              </a:rPr>
              <a:t>One old idea connects them: use slope information to improve a guess.</a:t>
            </a:r>
            <a:endParaRPr sz="1100"/>
          </a:p>
        </p:txBody>
      </p:sp>
      <p:sp>
        <p:nvSpPr>
          <p:cNvPr id="268" name="Google Shape;268;p34"/>
          <p:cNvSpPr/>
          <p:nvPr/>
        </p:nvSpPr>
        <p:spPr>
          <a:xfrm>
            <a:off x="346330" y="1429893"/>
            <a:ext cx="2743206" cy="3140964"/>
          </a:xfrm>
          <a:prstGeom prst="rect">
            <a:avLst/>
          </a:prstGeom>
          <a:solidFill>
            <a:srgbClr val="20263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9" name="Google Shape;269;p34"/>
          <p:cNvSpPr/>
          <p:nvPr/>
        </p:nvSpPr>
        <p:spPr>
          <a:xfrm>
            <a:off x="308611" y="1385316"/>
            <a:ext cx="2743206" cy="3140964"/>
          </a:xfrm>
          <a:prstGeom prst="rect">
            <a:avLst/>
          </a:prstGeom>
          <a:solidFill>
            <a:srgbClr val="FFFFFF"/>
          </a:solidFill>
          <a:ln cap="flat" cmpd="sng" w="2157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0" name="Google Shape;270;p34"/>
          <p:cNvSpPr/>
          <p:nvPr/>
        </p:nvSpPr>
        <p:spPr>
          <a:xfrm>
            <a:off x="377191" y="1453896"/>
            <a:ext cx="2606045" cy="294894"/>
          </a:xfrm>
          <a:prstGeom prst="rect">
            <a:avLst/>
          </a:prstGeom>
          <a:solidFill>
            <a:srgbClr val="FFE469"/>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1" name="Google Shape;271;p34"/>
          <p:cNvSpPr txBox="1"/>
          <p:nvPr/>
        </p:nvSpPr>
        <p:spPr>
          <a:xfrm>
            <a:off x="452629" y="1501902"/>
            <a:ext cx="2468885" cy="1920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1200" u="none" cap="none" strike="noStrike">
                <a:solidFill>
                  <a:srgbClr val="202638"/>
                </a:solidFill>
                <a:latin typeface="Arial"/>
                <a:ea typeface="Arial"/>
                <a:cs typeface="Arial"/>
                <a:sym typeface="Arial"/>
              </a:rPr>
              <a:t>1847  /  CAUCHY’S CHALLENGE</a:t>
            </a:r>
            <a:endParaRPr sz="1100"/>
          </a:p>
        </p:txBody>
      </p:sp>
      <p:sp>
        <p:nvSpPr>
          <p:cNvPr id="272" name="Google Shape;272;p34"/>
          <p:cNvSpPr/>
          <p:nvPr/>
        </p:nvSpPr>
        <p:spPr>
          <a:xfrm>
            <a:off x="3233554" y="1429893"/>
            <a:ext cx="2743206" cy="3140964"/>
          </a:xfrm>
          <a:prstGeom prst="rect">
            <a:avLst/>
          </a:prstGeom>
          <a:solidFill>
            <a:srgbClr val="20263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3" name="Google Shape;273;p34"/>
          <p:cNvSpPr/>
          <p:nvPr/>
        </p:nvSpPr>
        <p:spPr>
          <a:xfrm>
            <a:off x="3195835" y="1385316"/>
            <a:ext cx="2743206" cy="3140964"/>
          </a:xfrm>
          <a:prstGeom prst="rect">
            <a:avLst/>
          </a:prstGeom>
          <a:solidFill>
            <a:srgbClr val="FFFFFF"/>
          </a:solidFill>
          <a:ln cap="flat" cmpd="sng" w="2157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4" name="Google Shape;274;p34"/>
          <p:cNvSpPr/>
          <p:nvPr/>
        </p:nvSpPr>
        <p:spPr>
          <a:xfrm>
            <a:off x="3264415" y="1453896"/>
            <a:ext cx="2606045" cy="294894"/>
          </a:xfrm>
          <a:prstGeom prst="rect">
            <a:avLst/>
          </a:prstGeom>
          <a:solidFill>
            <a:srgbClr val="79D8C7"/>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5" name="Google Shape;275;p34"/>
          <p:cNvSpPr txBox="1"/>
          <p:nvPr/>
        </p:nvSpPr>
        <p:spPr>
          <a:xfrm>
            <a:off x="3339853" y="1501902"/>
            <a:ext cx="2468885" cy="1920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1200" u="none" cap="none" strike="noStrike">
                <a:solidFill>
                  <a:srgbClr val="202638"/>
                </a:solidFill>
                <a:latin typeface="Arial"/>
                <a:ea typeface="Arial"/>
                <a:cs typeface="Arial"/>
                <a:sym typeface="Arial"/>
              </a:rPr>
              <a:t>GRADIENT  /  THE SLOPE CLUE</a:t>
            </a:r>
            <a:endParaRPr sz="1100"/>
          </a:p>
        </p:txBody>
      </p:sp>
      <p:sp>
        <p:nvSpPr>
          <p:cNvPr id="276" name="Google Shape;276;p34"/>
          <p:cNvSpPr/>
          <p:nvPr/>
        </p:nvSpPr>
        <p:spPr>
          <a:xfrm>
            <a:off x="6120777" y="1429893"/>
            <a:ext cx="2743206" cy="3140964"/>
          </a:xfrm>
          <a:prstGeom prst="rect">
            <a:avLst/>
          </a:prstGeom>
          <a:solidFill>
            <a:srgbClr val="20263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7" name="Google Shape;277;p34"/>
          <p:cNvSpPr/>
          <p:nvPr/>
        </p:nvSpPr>
        <p:spPr>
          <a:xfrm>
            <a:off x="6083058" y="1385316"/>
            <a:ext cx="2743206" cy="3140964"/>
          </a:xfrm>
          <a:prstGeom prst="rect">
            <a:avLst/>
          </a:prstGeom>
          <a:solidFill>
            <a:srgbClr val="FFFFFF"/>
          </a:solidFill>
          <a:ln cap="flat" cmpd="sng" w="2157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8" name="Google Shape;278;p34"/>
          <p:cNvSpPr/>
          <p:nvPr/>
        </p:nvSpPr>
        <p:spPr>
          <a:xfrm>
            <a:off x="6151638" y="1453896"/>
            <a:ext cx="2606045" cy="294894"/>
          </a:xfrm>
          <a:prstGeom prst="rect">
            <a:avLst/>
          </a:prstGeom>
          <a:solidFill>
            <a:srgbClr val="FF797C"/>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9" name="Google Shape;279;p34"/>
          <p:cNvSpPr txBox="1"/>
          <p:nvPr/>
        </p:nvSpPr>
        <p:spPr>
          <a:xfrm>
            <a:off x="6227077" y="1501902"/>
            <a:ext cx="2468885" cy="1920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1300" u="none" cap="none" strike="noStrike">
                <a:solidFill>
                  <a:srgbClr val="202638"/>
                </a:solidFill>
                <a:latin typeface="Arial"/>
                <a:ea typeface="Arial"/>
                <a:cs typeface="Arial"/>
                <a:sym typeface="Arial"/>
              </a:rPr>
              <a:t>AI  /  THE SAME IDEA</a:t>
            </a:r>
            <a:endParaRPr sz="1100"/>
          </a:p>
        </p:txBody>
      </p:sp>
      <p:sp>
        <p:nvSpPr>
          <p:cNvPr id="280" name="Google Shape;280;p34"/>
          <p:cNvSpPr/>
          <p:nvPr/>
        </p:nvSpPr>
        <p:spPr>
          <a:xfrm>
            <a:off x="617221" y="1933956"/>
            <a:ext cx="1796800" cy="788670"/>
          </a:xfrm>
          <a:prstGeom prst="ellipse">
            <a:avLst/>
          </a:prstGeom>
          <a:noFill/>
          <a:ln cap="flat" cmpd="sng" w="20300">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1" name="Google Shape;281;p34"/>
          <p:cNvSpPr/>
          <p:nvPr/>
        </p:nvSpPr>
        <p:spPr>
          <a:xfrm>
            <a:off x="788672" y="2125980"/>
            <a:ext cx="390906" cy="390905"/>
          </a:xfrm>
          <a:prstGeom prst="ellipse">
            <a:avLst/>
          </a:prstGeom>
          <a:solidFill>
            <a:srgbClr val="FFE469"/>
          </a:solidFill>
          <a:ln cap="flat" cmpd="sng" w="19050">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2" name="Google Shape;282;p34"/>
          <p:cNvSpPr/>
          <p:nvPr/>
        </p:nvSpPr>
        <p:spPr>
          <a:xfrm>
            <a:off x="2064262" y="1906524"/>
            <a:ext cx="260605" cy="260604"/>
          </a:xfrm>
          <a:prstGeom prst="ellipse">
            <a:avLst/>
          </a:prstGeom>
          <a:solidFill>
            <a:srgbClr val="B5A4EE"/>
          </a:solidFill>
          <a:ln cap="flat" cmpd="sng" w="1777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cxnSp>
        <p:nvCxnSpPr>
          <p:cNvPr id="283" name="Google Shape;283;p34"/>
          <p:cNvCxnSpPr/>
          <p:nvPr/>
        </p:nvCxnSpPr>
        <p:spPr>
          <a:xfrm rot="10800000">
            <a:off x="987554" y="1961388"/>
            <a:ext cx="0" cy="89154"/>
          </a:xfrm>
          <a:prstGeom prst="straightConnector1">
            <a:avLst/>
          </a:prstGeom>
          <a:noFill/>
          <a:ln cap="flat" cmpd="sng" w="25400">
            <a:solidFill>
              <a:srgbClr val="FF9867"/>
            </a:solidFill>
            <a:prstDash val="solid"/>
            <a:round/>
            <a:headEnd len="sm" w="sm" type="none"/>
            <a:tailEnd len="sm" w="sm" type="none"/>
          </a:ln>
          <a:effectLst>
            <a:outerShdw blurRad="40000" rotWithShape="0" dir="5400000" dist="20000">
              <a:srgbClr val="000000">
                <a:alpha val="38039"/>
              </a:srgbClr>
            </a:outerShdw>
          </a:effectLst>
        </p:spPr>
      </p:cxnSp>
      <p:cxnSp>
        <p:nvCxnSpPr>
          <p:cNvPr id="284" name="Google Shape;284;p34"/>
          <p:cNvCxnSpPr/>
          <p:nvPr/>
        </p:nvCxnSpPr>
        <p:spPr>
          <a:xfrm>
            <a:off x="987554" y="2571750"/>
            <a:ext cx="0" cy="82296"/>
          </a:xfrm>
          <a:prstGeom prst="straightConnector1">
            <a:avLst/>
          </a:prstGeom>
          <a:noFill/>
          <a:ln cap="flat" cmpd="sng" w="25400">
            <a:solidFill>
              <a:srgbClr val="FF9867"/>
            </a:solidFill>
            <a:prstDash val="solid"/>
            <a:round/>
            <a:headEnd len="sm" w="sm" type="none"/>
            <a:tailEnd len="sm" w="sm" type="none"/>
          </a:ln>
          <a:effectLst>
            <a:outerShdw blurRad="40000" rotWithShape="0" dir="5400000" dist="20000">
              <a:srgbClr val="000000">
                <a:alpha val="38039"/>
              </a:srgbClr>
            </a:outerShdw>
          </a:effectLst>
        </p:spPr>
      </p:cxnSp>
      <p:cxnSp>
        <p:nvCxnSpPr>
          <p:cNvPr id="285" name="Google Shape;285;p34"/>
          <p:cNvCxnSpPr/>
          <p:nvPr/>
        </p:nvCxnSpPr>
        <p:spPr>
          <a:xfrm rot="10800000">
            <a:off x="610363" y="2318004"/>
            <a:ext cx="89154" cy="0"/>
          </a:xfrm>
          <a:prstGeom prst="straightConnector1">
            <a:avLst/>
          </a:prstGeom>
          <a:noFill/>
          <a:ln cap="flat" cmpd="sng" w="25400">
            <a:solidFill>
              <a:srgbClr val="FF9867"/>
            </a:solidFill>
            <a:prstDash val="solid"/>
            <a:round/>
            <a:headEnd len="sm" w="sm" type="none"/>
            <a:tailEnd len="sm" w="sm" type="none"/>
          </a:ln>
          <a:effectLst>
            <a:outerShdw blurRad="40000" rotWithShape="0" dir="5400000" dist="20000">
              <a:srgbClr val="000000">
                <a:alpha val="38039"/>
              </a:srgbClr>
            </a:outerShdw>
          </a:effectLst>
        </p:spPr>
      </p:cxnSp>
      <p:cxnSp>
        <p:nvCxnSpPr>
          <p:cNvPr id="286" name="Google Shape;286;p34"/>
          <p:cNvCxnSpPr/>
          <p:nvPr/>
        </p:nvCxnSpPr>
        <p:spPr>
          <a:xfrm>
            <a:off x="1261875" y="2318004"/>
            <a:ext cx="89154" cy="0"/>
          </a:xfrm>
          <a:prstGeom prst="straightConnector1">
            <a:avLst/>
          </a:prstGeom>
          <a:noFill/>
          <a:ln cap="flat" cmpd="sng" w="25400">
            <a:solidFill>
              <a:srgbClr val="FF9867"/>
            </a:solidFill>
            <a:prstDash val="solid"/>
            <a:round/>
            <a:headEnd len="sm" w="sm" type="none"/>
            <a:tailEnd len="sm" w="sm" type="none"/>
          </a:ln>
          <a:effectLst>
            <a:outerShdw blurRad="40000" rotWithShape="0" dir="5400000" dist="20000">
              <a:srgbClr val="000000">
                <a:alpha val="38039"/>
              </a:srgbClr>
            </a:outerShdw>
          </a:effectLst>
        </p:spPr>
      </p:cxnSp>
      <p:pic>
        <p:nvPicPr>
          <p:cNvPr descr="image-1-2.png" id="287" name="Google Shape;287;p34"/>
          <p:cNvPicPr preferRelativeResize="0"/>
          <p:nvPr/>
        </p:nvPicPr>
        <p:blipFill rotWithShape="1">
          <a:blip r:embed="rId4">
            <a:alphaModFix/>
          </a:blip>
          <a:srcRect b="0" l="0" r="0" t="0"/>
          <a:stretch/>
        </p:blipFill>
        <p:spPr>
          <a:xfrm>
            <a:off x="2434595" y="1920240"/>
            <a:ext cx="356616" cy="274320"/>
          </a:xfrm>
          <a:prstGeom prst="rect">
            <a:avLst/>
          </a:prstGeom>
          <a:noFill/>
          <a:ln>
            <a:noFill/>
          </a:ln>
        </p:spPr>
      </p:pic>
      <p:sp>
        <p:nvSpPr>
          <p:cNvPr id="288" name="Google Shape;288;p34"/>
          <p:cNvSpPr txBox="1"/>
          <p:nvPr/>
        </p:nvSpPr>
        <p:spPr>
          <a:xfrm>
            <a:off x="500635" y="2798064"/>
            <a:ext cx="2345441" cy="29489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1800" u="none" cap="none" strike="noStrike">
                <a:solidFill>
                  <a:srgbClr val="202638"/>
                </a:solidFill>
                <a:latin typeface="Comic Neue"/>
                <a:ea typeface="Comic Neue"/>
                <a:cs typeface="Comic Neue"/>
                <a:sym typeface="Comic Neue"/>
              </a:rPr>
              <a:t>Augustin-Louis Cauchy</a:t>
            </a:r>
            <a:endParaRPr sz="1100"/>
          </a:p>
        </p:txBody>
      </p:sp>
      <p:sp>
        <p:nvSpPr>
          <p:cNvPr id="289" name="Google Shape;289;p34"/>
          <p:cNvSpPr txBox="1"/>
          <p:nvPr/>
        </p:nvSpPr>
        <p:spPr>
          <a:xfrm>
            <a:off x="500635" y="3140964"/>
            <a:ext cx="2345441" cy="79552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None/>
            </a:pPr>
            <a:r>
              <a:rPr b="0" i="0" lang="en" sz="1300" u="none" cap="none" strike="noStrike">
                <a:solidFill>
                  <a:srgbClr val="202638"/>
                </a:solidFill>
                <a:latin typeface="Arial"/>
                <a:ea typeface="Arial"/>
                <a:cs typeface="Arial"/>
                <a:sym typeface="Arial"/>
              </a:rPr>
              <a:t>Orbit calculations were hard!</a:t>
            </a:r>
            <a:endParaRPr sz="1100"/>
          </a:p>
          <a:p>
            <a:pPr indent="0" lvl="0" marL="0" marR="0" rtl="0" algn="l">
              <a:lnSpc>
                <a:spcPct val="102000"/>
              </a:lnSpc>
              <a:spcBef>
                <a:spcPts val="0"/>
              </a:spcBef>
              <a:spcAft>
                <a:spcPts val="0"/>
              </a:spcAft>
              <a:buNone/>
            </a:pPr>
            <a:r>
              <a:rPr b="0" i="0" lang="en" sz="1300" u="none" cap="none" strike="noStrike">
                <a:solidFill>
                  <a:srgbClr val="202638"/>
                </a:solidFill>
                <a:latin typeface="Arial"/>
                <a:ea typeface="Arial"/>
                <a:cs typeface="Arial"/>
                <a:sym typeface="Arial"/>
              </a:rPr>
              <a:t>Cauchy developed a method</a:t>
            </a:r>
            <a:endParaRPr sz="1100"/>
          </a:p>
          <a:p>
            <a:pPr indent="0" lvl="0" marL="0" marR="0" rtl="0" algn="l">
              <a:lnSpc>
                <a:spcPct val="102000"/>
              </a:lnSpc>
              <a:spcBef>
                <a:spcPts val="0"/>
              </a:spcBef>
              <a:spcAft>
                <a:spcPts val="0"/>
              </a:spcAft>
              <a:buNone/>
            </a:pPr>
            <a:r>
              <a:rPr b="0" i="0" lang="en" sz="1300" u="none" cap="none" strike="noStrike">
                <a:solidFill>
                  <a:srgbClr val="202638"/>
                </a:solidFill>
                <a:latin typeface="Arial"/>
                <a:ea typeface="Arial"/>
                <a:cs typeface="Arial"/>
                <a:sym typeface="Arial"/>
              </a:rPr>
              <a:t>to improve estimates using</a:t>
            </a:r>
            <a:endParaRPr sz="1100"/>
          </a:p>
          <a:p>
            <a:pPr indent="0" lvl="0" marL="0" marR="0" rtl="0" algn="l">
              <a:lnSpc>
                <a:spcPct val="102000"/>
              </a:lnSpc>
              <a:spcBef>
                <a:spcPts val="0"/>
              </a:spcBef>
              <a:spcAft>
                <a:spcPts val="0"/>
              </a:spcAft>
              <a:buNone/>
            </a:pPr>
            <a:r>
              <a:rPr b="0" i="0" lang="en" sz="1300" u="none" cap="none" strike="noStrike">
                <a:solidFill>
                  <a:srgbClr val="202638"/>
                </a:solidFill>
                <a:latin typeface="Arial"/>
                <a:ea typeface="Arial"/>
                <a:cs typeface="Arial"/>
                <a:sym typeface="Arial"/>
              </a:rPr>
              <a:t>the slope of an error score.</a:t>
            </a:r>
            <a:endParaRPr sz="1100"/>
          </a:p>
        </p:txBody>
      </p:sp>
      <p:sp>
        <p:nvSpPr>
          <p:cNvPr id="290" name="Google Shape;290;p34"/>
          <p:cNvSpPr/>
          <p:nvPr/>
        </p:nvSpPr>
        <p:spPr>
          <a:xfrm rot="-60000">
            <a:off x="572644" y="4077081"/>
            <a:ext cx="2167132" cy="294894"/>
          </a:xfrm>
          <a:prstGeom prst="rect">
            <a:avLst/>
          </a:prstGeom>
          <a:solidFill>
            <a:srgbClr val="20263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1" name="Google Shape;291;p34"/>
          <p:cNvSpPr/>
          <p:nvPr/>
        </p:nvSpPr>
        <p:spPr>
          <a:xfrm rot="-60000">
            <a:off x="548641" y="4046220"/>
            <a:ext cx="2167132" cy="294894"/>
          </a:xfrm>
          <a:prstGeom prst="rect">
            <a:avLst/>
          </a:prstGeom>
          <a:solidFill>
            <a:srgbClr val="FF9867"/>
          </a:solidFill>
          <a:ln cap="flat" cmpd="sng" w="1522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2" name="Google Shape;292;p34"/>
          <p:cNvSpPr txBox="1"/>
          <p:nvPr/>
        </p:nvSpPr>
        <p:spPr>
          <a:xfrm>
            <a:off x="610363" y="4080510"/>
            <a:ext cx="2043688" cy="20574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700" u="none" cap="none" strike="noStrike">
                <a:solidFill>
                  <a:srgbClr val="202638"/>
                </a:solidFill>
                <a:latin typeface="Comic Neue"/>
                <a:ea typeface="Comic Neue"/>
                <a:cs typeface="Comic Neue"/>
                <a:sym typeface="Comic Neue"/>
              </a:rPr>
              <a:t>Long before AI!</a:t>
            </a:r>
            <a:endParaRPr sz="1100"/>
          </a:p>
        </p:txBody>
      </p:sp>
      <p:sp>
        <p:nvSpPr>
          <p:cNvPr id="293" name="Google Shape;293;p34"/>
          <p:cNvSpPr/>
          <p:nvPr/>
        </p:nvSpPr>
        <p:spPr>
          <a:xfrm>
            <a:off x="3456439" y="2118602"/>
            <a:ext cx="2208281" cy="761740"/>
          </a:xfrm>
          <a:custGeom>
            <a:rect b="b" l="l" r="r" t="t"/>
            <a:pathLst>
              <a:path extrusionOk="0" h="1015654" w="2944368">
                <a:moveTo>
                  <a:pt x="0" y="0"/>
                </a:moveTo>
                <a:lnTo>
                  <a:pt x="42062" y="44854"/>
                </a:lnTo>
                <a:lnTo>
                  <a:pt x="84124" y="88695"/>
                </a:lnTo>
                <a:lnTo>
                  <a:pt x="126187" y="131523"/>
                </a:lnTo>
                <a:lnTo>
                  <a:pt x="168249" y="173339"/>
                </a:lnTo>
                <a:lnTo>
                  <a:pt x="210312" y="214141"/>
                </a:lnTo>
                <a:lnTo>
                  <a:pt x="252374" y="253930"/>
                </a:lnTo>
                <a:lnTo>
                  <a:pt x="294436" y="292707"/>
                </a:lnTo>
                <a:lnTo>
                  <a:pt x="336499" y="330470"/>
                </a:lnTo>
                <a:lnTo>
                  <a:pt x="378561" y="367221"/>
                </a:lnTo>
                <a:lnTo>
                  <a:pt x="420624" y="402959"/>
                </a:lnTo>
                <a:lnTo>
                  <a:pt x="462686" y="437684"/>
                </a:lnTo>
                <a:lnTo>
                  <a:pt x="504748" y="471396"/>
                </a:lnTo>
                <a:lnTo>
                  <a:pt x="546811" y="504095"/>
                </a:lnTo>
                <a:lnTo>
                  <a:pt x="588873" y="535781"/>
                </a:lnTo>
                <a:lnTo>
                  <a:pt x="630936" y="566454"/>
                </a:lnTo>
                <a:lnTo>
                  <a:pt x="672998" y="596115"/>
                </a:lnTo>
                <a:lnTo>
                  <a:pt x="715060" y="624762"/>
                </a:lnTo>
                <a:lnTo>
                  <a:pt x="757123" y="652397"/>
                </a:lnTo>
                <a:lnTo>
                  <a:pt x="799185" y="679018"/>
                </a:lnTo>
                <a:lnTo>
                  <a:pt x="841248" y="704627"/>
                </a:lnTo>
                <a:lnTo>
                  <a:pt x="883310" y="729223"/>
                </a:lnTo>
                <a:lnTo>
                  <a:pt x="925372" y="752806"/>
                </a:lnTo>
                <a:lnTo>
                  <a:pt x="967435" y="775376"/>
                </a:lnTo>
                <a:lnTo>
                  <a:pt x="1009497" y="796933"/>
                </a:lnTo>
                <a:lnTo>
                  <a:pt x="1051560" y="817477"/>
                </a:lnTo>
                <a:lnTo>
                  <a:pt x="1093622" y="837009"/>
                </a:lnTo>
                <a:lnTo>
                  <a:pt x="1135684" y="855527"/>
                </a:lnTo>
                <a:lnTo>
                  <a:pt x="1177747" y="873033"/>
                </a:lnTo>
                <a:lnTo>
                  <a:pt x="1219809" y="889525"/>
                </a:lnTo>
                <a:lnTo>
                  <a:pt x="1261872" y="905005"/>
                </a:lnTo>
                <a:lnTo>
                  <a:pt x="1303934" y="919472"/>
                </a:lnTo>
                <a:lnTo>
                  <a:pt x="1345996" y="932926"/>
                </a:lnTo>
                <a:lnTo>
                  <a:pt x="1388059" y="945367"/>
                </a:lnTo>
                <a:lnTo>
                  <a:pt x="1430121" y="956795"/>
                </a:lnTo>
                <a:lnTo>
                  <a:pt x="1472184" y="967210"/>
                </a:lnTo>
                <a:lnTo>
                  <a:pt x="1514246" y="976613"/>
                </a:lnTo>
                <a:lnTo>
                  <a:pt x="1556308" y="985002"/>
                </a:lnTo>
                <a:lnTo>
                  <a:pt x="1598371" y="992379"/>
                </a:lnTo>
                <a:lnTo>
                  <a:pt x="1640433" y="998743"/>
                </a:lnTo>
                <a:lnTo>
                  <a:pt x="1682496" y="1004093"/>
                </a:lnTo>
                <a:lnTo>
                  <a:pt x="1724558" y="1008431"/>
                </a:lnTo>
                <a:lnTo>
                  <a:pt x="1766620" y="1011756"/>
                </a:lnTo>
                <a:lnTo>
                  <a:pt x="1808683" y="1014068"/>
                </a:lnTo>
                <a:lnTo>
                  <a:pt x="1850745" y="1015367"/>
                </a:lnTo>
                <a:lnTo>
                  <a:pt x="1892808" y="1015654"/>
                </a:lnTo>
                <a:lnTo>
                  <a:pt x="1934870" y="1014927"/>
                </a:lnTo>
                <a:lnTo>
                  <a:pt x="1976932" y="1013187"/>
                </a:lnTo>
                <a:lnTo>
                  <a:pt x="2018995" y="1010435"/>
                </a:lnTo>
                <a:lnTo>
                  <a:pt x="2061057" y="1006670"/>
                </a:lnTo>
                <a:lnTo>
                  <a:pt x="2103120" y="1001891"/>
                </a:lnTo>
                <a:lnTo>
                  <a:pt x="2145182" y="996100"/>
                </a:lnTo>
                <a:lnTo>
                  <a:pt x="2187244" y="989296"/>
                </a:lnTo>
                <a:lnTo>
                  <a:pt x="2229307" y="981479"/>
                </a:lnTo>
                <a:lnTo>
                  <a:pt x="2271369" y="972649"/>
                </a:lnTo>
                <a:lnTo>
                  <a:pt x="2313432" y="962807"/>
                </a:lnTo>
                <a:lnTo>
                  <a:pt x="2355494" y="951951"/>
                </a:lnTo>
                <a:lnTo>
                  <a:pt x="2397556" y="940082"/>
                </a:lnTo>
                <a:lnTo>
                  <a:pt x="2439619" y="927201"/>
                </a:lnTo>
                <a:lnTo>
                  <a:pt x="2481681" y="913307"/>
                </a:lnTo>
                <a:lnTo>
                  <a:pt x="2523744" y="898399"/>
                </a:lnTo>
                <a:lnTo>
                  <a:pt x="2565806" y="882479"/>
                </a:lnTo>
                <a:lnTo>
                  <a:pt x="2607868" y="865546"/>
                </a:lnTo>
                <a:lnTo>
                  <a:pt x="2649931" y="847600"/>
                </a:lnTo>
                <a:lnTo>
                  <a:pt x="2691993" y="828641"/>
                </a:lnTo>
                <a:lnTo>
                  <a:pt x="2734056" y="808670"/>
                </a:lnTo>
                <a:lnTo>
                  <a:pt x="2776118" y="787685"/>
                </a:lnTo>
                <a:lnTo>
                  <a:pt x="2818180" y="765687"/>
                </a:lnTo>
                <a:lnTo>
                  <a:pt x="2860243" y="742677"/>
                </a:lnTo>
                <a:lnTo>
                  <a:pt x="2902305" y="718653"/>
                </a:lnTo>
                <a:lnTo>
                  <a:pt x="2944368" y="693617"/>
                </a:lnTo>
              </a:path>
            </a:pathLst>
          </a:custGeom>
          <a:noFill/>
          <a:ln cap="flat" cmpd="sng" w="3427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4" name="Google Shape;294;p34"/>
          <p:cNvSpPr/>
          <p:nvPr/>
        </p:nvSpPr>
        <p:spPr>
          <a:xfrm>
            <a:off x="3521590" y="2187761"/>
            <a:ext cx="89154" cy="89154"/>
          </a:xfrm>
          <a:prstGeom prst="ellipse">
            <a:avLst/>
          </a:prstGeom>
          <a:solidFill>
            <a:srgbClr val="FF797C"/>
          </a:solidFill>
          <a:ln cap="flat" cmpd="sng" w="13950">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5" name="Google Shape;295;p34"/>
          <p:cNvSpPr/>
          <p:nvPr/>
        </p:nvSpPr>
        <p:spPr>
          <a:xfrm>
            <a:off x="3905638" y="2513459"/>
            <a:ext cx="89154" cy="89154"/>
          </a:xfrm>
          <a:prstGeom prst="ellipse">
            <a:avLst/>
          </a:prstGeom>
          <a:solidFill>
            <a:srgbClr val="FF9867"/>
          </a:solidFill>
          <a:ln cap="flat" cmpd="sng" w="13950">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6" name="Google Shape;296;p34"/>
          <p:cNvSpPr/>
          <p:nvPr/>
        </p:nvSpPr>
        <p:spPr>
          <a:xfrm>
            <a:off x="4303403" y="2732099"/>
            <a:ext cx="89154" cy="89154"/>
          </a:xfrm>
          <a:prstGeom prst="ellipse">
            <a:avLst/>
          </a:prstGeom>
          <a:solidFill>
            <a:srgbClr val="FFE469"/>
          </a:solidFill>
          <a:ln cap="flat" cmpd="sng" w="13950">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7" name="Google Shape;297;p34"/>
          <p:cNvSpPr/>
          <p:nvPr/>
        </p:nvSpPr>
        <p:spPr>
          <a:xfrm>
            <a:off x="4701169" y="2829967"/>
            <a:ext cx="89154" cy="89154"/>
          </a:xfrm>
          <a:prstGeom prst="ellipse">
            <a:avLst/>
          </a:prstGeom>
          <a:solidFill>
            <a:srgbClr val="79D8C7"/>
          </a:solidFill>
          <a:ln cap="flat" cmpd="sng" w="13950">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cxnSp>
        <p:nvCxnSpPr>
          <p:cNvPr id="298" name="Google Shape;298;p34"/>
          <p:cNvCxnSpPr/>
          <p:nvPr/>
        </p:nvCxnSpPr>
        <p:spPr>
          <a:xfrm>
            <a:off x="3634747" y="2331720"/>
            <a:ext cx="363475" cy="288036"/>
          </a:xfrm>
          <a:prstGeom prst="straightConnector1">
            <a:avLst/>
          </a:prstGeom>
          <a:noFill/>
          <a:ln cap="flat" cmpd="sng" w="31750">
            <a:solidFill>
              <a:srgbClr val="FF9867"/>
            </a:solidFill>
            <a:prstDash val="solid"/>
            <a:round/>
            <a:headEnd len="sm" w="sm" type="none"/>
            <a:tailEnd len="sm" w="sm" type="triangle"/>
          </a:ln>
          <a:effectLst>
            <a:outerShdw blurRad="40000" rotWithShape="0" dir="5400000" dist="20000">
              <a:srgbClr val="000000">
                <a:alpha val="38039"/>
              </a:srgbClr>
            </a:outerShdw>
          </a:effectLst>
        </p:spPr>
      </p:cxnSp>
      <p:cxnSp>
        <p:nvCxnSpPr>
          <p:cNvPr id="299" name="Google Shape;299;p34"/>
          <p:cNvCxnSpPr/>
          <p:nvPr/>
        </p:nvCxnSpPr>
        <p:spPr>
          <a:xfrm>
            <a:off x="4101092" y="2702052"/>
            <a:ext cx="384049" cy="123444"/>
          </a:xfrm>
          <a:prstGeom prst="straightConnector1">
            <a:avLst/>
          </a:prstGeom>
          <a:noFill/>
          <a:ln cap="flat" cmpd="sng" w="31750">
            <a:solidFill>
              <a:srgbClr val="FF9867"/>
            </a:solidFill>
            <a:prstDash val="solid"/>
            <a:round/>
            <a:headEnd len="sm" w="sm" type="none"/>
            <a:tailEnd len="sm" w="sm" type="triangle"/>
          </a:ln>
          <a:effectLst>
            <a:outerShdw blurRad="40000" rotWithShape="0" dir="5400000" dist="20000">
              <a:srgbClr val="000000">
                <a:alpha val="38039"/>
              </a:srgbClr>
            </a:outerShdw>
          </a:effectLst>
        </p:spPr>
      </p:cxnSp>
      <p:sp>
        <p:nvSpPr>
          <p:cNvPr id="300" name="Google Shape;300;p34"/>
          <p:cNvSpPr txBox="1"/>
          <p:nvPr/>
        </p:nvSpPr>
        <p:spPr>
          <a:xfrm>
            <a:off x="3463297" y="1899666"/>
            <a:ext cx="2263145" cy="1920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900" u="none" cap="none" strike="noStrike">
                <a:solidFill>
                  <a:srgbClr val="566461"/>
                </a:solidFill>
                <a:latin typeface="Arial"/>
                <a:ea typeface="Arial"/>
                <a:cs typeface="Arial"/>
                <a:sym typeface="Arial"/>
              </a:rPr>
              <a:t>HIGHER ON THIS MAP = MORE ERROR</a:t>
            </a:r>
            <a:endParaRPr sz="1100"/>
          </a:p>
        </p:txBody>
      </p:sp>
      <p:sp>
        <p:nvSpPr>
          <p:cNvPr id="301" name="Google Shape;301;p34"/>
          <p:cNvSpPr txBox="1"/>
          <p:nvPr/>
        </p:nvSpPr>
        <p:spPr>
          <a:xfrm>
            <a:off x="3387859" y="3072384"/>
            <a:ext cx="2352299" cy="62407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 sz="1500" u="none" cap="none" strike="noStrike">
                <a:solidFill>
                  <a:srgbClr val="202638"/>
                </a:solidFill>
                <a:latin typeface="Comic Neue"/>
                <a:ea typeface="Comic Neue"/>
                <a:cs typeface="Comic Neue"/>
                <a:sym typeface="Comic Neue"/>
              </a:rPr>
              <a:t>Gradient: slope information</a:t>
            </a:r>
            <a:endParaRPr sz="1100"/>
          </a:p>
          <a:p>
            <a:pPr indent="0" lvl="0" marL="0" marR="0" rtl="0" algn="l">
              <a:lnSpc>
                <a:spcPct val="105000"/>
              </a:lnSpc>
              <a:spcBef>
                <a:spcPts val="0"/>
              </a:spcBef>
              <a:spcAft>
                <a:spcPts val="0"/>
              </a:spcAft>
              <a:buNone/>
            </a:pPr>
            <a:r>
              <a:rPr b="1" i="0" lang="en" sz="1500" u="none" cap="none" strike="noStrike">
                <a:solidFill>
                  <a:srgbClr val="202638"/>
                </a:solidFill>
                <a:latin typeface="Comic Neue"/>
                <a:ea typeface="Comic Neue"/>
                <a:cs typeface="Comic Neue"/>
                <a:sym typeface="Comic Neue"/>
              </a:rPr>
              <a:t>that points uphill.</a:t>
            </a:r>
            <a:endParaRPr sz="1100"/>
          </a:p>
        </p:txBody>
      </p:sp>
      <p:sp>
        <p:nvSpPr>
          <p:cNvPr id="302" name="Google Shape;302;p34"/>
          <p:cNvSpPr txBox="1"/>
          <p:nvPr/>
        </p:nvSpPr>
        <p:spPr>
          <a:xfrm>
            <a:off x="3387859" y="3723894"/>
            <a:ext cx="2352299" cy="69951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Descent: step the other way</a:t>
            </a:r>
            <a:endParaRPr sz="1100"/>
          </a:p>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to try to lower the error.</a:t>
            </a:r>
            <a:endParaRPr sz="1100"/>
          </a:p>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Check the slope again.</a:t>
            </a:r>
            <a:endParaRPr sz="1100"/>
          </a:p>
        </p:txBody>
      </p:sp>
      <p:pic>
        <p:nvPicPr>
          <p:cNvPr descr="image-1-4.png" id="303" name="Google Shape;303;p34"/>
          <p:cNvPicPr preferRelativeResize="0"/>
          <p:nvPr/>
        </p:nvPicPr>
        <p:blipFill rotWithShape="1">
          <a:blip r:embed="rId5">
            <a:alphaModFix/>
          </a:blip>
          <a:srcRect b="0" l="0" r="0" t="0"/>
          <a:stretch/>
        </p:blipFill>
        <p:spPr>
          <a:xfrm rot="-240000">
            <a:off x="6240793" y="1981962"/>
            <a:ext cx="809244" cy="891540"/>
          </a:xfrm>
          <a:prstGeom prst="rect">
            <a:avLst/>
          </a:prstGeom>
          <a:noFill/>
          <a:ln>
            <a:noFill/>
          </a:ln>
        </p:spPr>
      </p:pic>
      <p:pic>
        <p:nvPicPr>
          <p:cNvPr descr="image-1-5.png" id="304" name="Google Shape;304;p34"/>
          <p:cNvPicPr preferRelativeResize="0"/>
          <p:nvPr/>
        </p:nvPicPr>
        <p:blipFill rotWithShape="1">
          <a:blip r:embed="rId6">
            <a:alphaModFix/>
          </a:blip>
          <a:srcRect b="0" l="0" r="0" t="0"/>
          <a:stretch/>
        </p:blipFill>
        <p:spPr>
          <a:xfrm>
            <a:off x="7029464" y="2359152"/>
            <a:ext cx="329184" cy="219456"/>
          </a:xfrm>
          <a:prstGeom prst="rect">
            <a:avLst/>
          </a:prstGeom>
          <a:noFill/>
          <a:ln>
            <a:noFill/>
          </a:ln>
        </p:spPr>
      </p:pic>
      <p:pic>
        <p:nvPicPr>
          <p:cNvPr descr="image-1-6.png" id="305" name="Google Shape;305;p34"/>
          <p:cNvPicPr preferRelativeResize="0"/>
          <p:nvPr/>
        </p:nvPicPr>
        <p:blipFill rotWithShape="1">
          <a:blip r:embed="rId7">
            <a:alphaModFix/>
          </a:blip>
          <a:srcRect b="0" l="0" r="0" t="0"/>
          <a:stretch/>
        </p:blipFill>
        <p:spPr>
          <a:xfrm>
            <a:off x="7427229" y="2215134"/>
            <a:ext cx="1145286" cy="1062990"/>
          </a:xfrm>
          <a:prstGeom prst="rect">
            <a:avLst/>
          </a:prstGeom>
          <a:noFill/>
          <a:ln>
            <a:noFill/>
          </a:ln>
        </p:spPr>
      </p:pic>
      <p:pic>
        <p:nvPicPr>
          <p:cNvPr descr="image-1-7.png" id="306" name="Google Shape;306;p34"/>
          <p:cNvPicPr preferRelativeResize="0"/>
          <p:nvPr/>
        </p:nvPicPr>
        <p:blipFill rotWithShape="1">
          <a:blip r:embed="rId8">
            <a:alphaModFix/>
          </a:blip>
          <a:srcRect b="0" l="0" r="0" t="0"/>
          <a:stretch/>
        </p:blipFill>
        <p:spPr>
          <a:xfrm>
            <a:off x="7324359" y="1831086"/>
            <a:ext cx="1179576" cy="637794"/>
          </a:xfrm>
          <a:prstGeom prst="rect">
            <a:avLst/>
          </a:prstGeom>
          <a:noFill/>
          <a:ln>
            <a:noFill/>
          </a:ln>
        </p:spPr>
      </p:pic>
      <p:sp>
        <p:nvSpPr>
          <p:cNvPr id="307" name="Google Shape;307;p34"/>
          <p:cNvSpPr txBox="1"/>
          <p:nvPr/>
        </p:nvSpPr>
        <p:spPr>
          <a:xfrm>
            <a:off x="7418725" y="1913999"/>
            <a:ext cx="920071" cy="350786"/>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900" u="none" cap="none" strike="noStrike">
                <a:solidFill>
                  <a:srgbClr val="202638"/>
                </a:solidFill>
                <a:latin typeface="Comic Neue"/>
                <a:ea typeface="Comic Neue"/>
                <a:cs typeface="Comic Neue"/>
                <a:sym typeface="Comic Neue"/>
              </a:rPr>
              <a:t>Dog?</a:t>
            </a:r>
            <a:endParaRPr sz="1100"/>
          </a:p>
        </p:txBody>
      </p:sp>
      <p:sp>
        <p:nvSpPr>
          <p:cNvPr id="308" name="Google Shape;308;p34"/>
          <p:cNvSpPr/>
          <p:nvPr/>
        </p:nvSpPr>
        <p:spPr>
          <a:xfrm>
            <a:off x="6264796" y="3144393"/>
            <a:ext cx="1227585" cy="294894"/>
          </a:xfrm>
          <a:prstGeom prst="rect">
            <a:avLst/>
          </a:prstGeom>
          <a:solidFill>
            <a:srgbClr val="20263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9" name="Google Shape;309;p34"/>
          <p:cNvSpPr/>
          <p:nvPr/>
        </p:nvSpPr>
        <p:spPr>
          <a:xfrm>
            <a:off x="6240793" y="3113532"/>
            <a:ext cx="1227585" cy="294894"/>
          </a:xfrm>
          <a:prstGeom prst="rect">
            <a:avLst/>
          </a:prstGeom>
          <a:solidFill>
            <a:srgbClr val="FFE469"/>
          </a:solidFill>
          <a:ln cap="flat" cmpd="sng" w="1522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0" name="Google Shape;310;p34"/>
          <p:cNvSpPr txBox="1"/>
          <p:nvPr/>
        </p:nvSpPr>
        <p:spPr>
          <a:xfrm>
            <a:off x="6302515" y="3147822"/>
            <a:ext cx="1104140" cy="20574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500" u="none" cap="none" strike="noStrike">
                <a:solidFill>
                  <a:srgbClr val="202638"/>
                </a:solidFill>
                <a:latin typeface="Comic Neue"/>
                <a:ea typeface="Comic Neue"/>
                <a:cs typeface="Comic Neue"/>
                <a:sym typeface="Comic Neue"/>
              </a:rPr>
              <a:t>Label: CAT</a:t>
            </a:r>
            <a:endParaRPr sz="1100"/>
          </a:p>
        </p:txBody>
      </p:sp>
      <p:sp>
        <p:nvSpPr>
          <p:cNvPr id="311" name="Google Shape;311;p34"/>
          <p:cNvSpPr txBox="1"/>
          <p:nvPr/>
        </p:nvSpPr>
        <p:spPr>
          <a:xfrm>
            <a:off x="6261367" y="3518154"/>
            <a:ext cx="2386589" cy="87782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Same cat. Same answer key.</a:t>
            </a:r>
            <a:endParaRPr sz="1100"/>
          </a:p>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AI uses the slope to change</a:t>
            </a:r>
            <a:endParaRPr sz="1100"/>
          </a:p>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its weights, the settings that</a:t>
            </a:r>
            <a:endParaRPr sz="1100"/>
          </a:p>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influence its guesses.</a:t>
            </a:r>
            <a:endParaRPr sz="1100"/>
          </a:p>
        </p:txBody>
      </p:sp>
      <p:sp>
        <p:nvSpPr>
          <p:cNvPr id="312" name="Google Shape;312;p34"/>
          <p:cNvSpPr/>
          <p:nvPr/>
        </p:nvSpPr>
        <p:spPr>
          <a:xfrm>
            <a:off x="363475" y="4752594"/>
            <a:ext cx="8421641" cy="212598"/>
          </a:xfrm>
          <a:prstGeom prst="rect">
            <a:avLst/>
          </a:prstGeom>
          <a:solidFill>
            <a:srgbClr val="FFE469"/>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3" name="Google Shape;313;p34"/>
          <p:cNvSpPr txBox="1"/>
          <p:nvPr/>
        </p:nvSpPr>
        <p:spPr>
          <a:xfrm>
            <a:off x="466345" y="4704588"/>
            <a:ext cx="8209043" cy="301752"/>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700" u="none" cap="none" strike="noStrike">
                <a:solidFill>
                  <a:srgbClr val="202638"/>
                </a:solidFill>
                <a:latin typeface="Comic Neue"/>
                <a:ea typeface="Comic Neue"/>
                <a:cs typeface="Comic Neue"/>
                <a:sym typeface="Comic Neue"/>
              </a:rPr>
              <a:t>Space or cats: check the slope, then step toward less error.</a:t>
            </a:r>
            <a:endParaRPr sz="1100"/>
          </a:p>
        </p:txBody>
      </p:sp>
      <p:sp>
        <p:nvSpPr>
          <p:cNvPr id="314" name="Google Shape;314;p34"/>
          <p:cNvSpPr txBox="1"/>
          <p:nvPr/>
        </p:nvSpPr>
        <p:spPr>
          <a:xfrm>
            <a:off x="1748794" y="5006340"/>
            <a:ext cx="5692152" cy="1028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600" u="none" cap="none" strike="noStrike">
                <a:solidFill>
                  <a:srgbClr val="566461"/>
                </a:solidFill>
                <a:latin typeface="Arial"/>
                <a:ea typeface="Arial"/>
                <a:cs typeface="Arial"/>
                <a:sym typeface="Arial"/>
              </a:rPr>
              <a:t>Sources: Cauchy (1847); Lemaréchal (2012); Google Machine Learning Crash Course. Details in notes.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descr="image-2-1.png" id="320" name="Google Shape;320;p35"/>
          <p:cNvPicPr preferRelativeResize="0"/>
          <p:nvPr/>
        </p:nvPicPr>
        <p:blipFill rotWithShape="1">
          <a:blip r:embed="rId3">
            <a:alphaModFix/>
          </a:blip>
          <a:srcRect b="0" l="0" r="0" t="0"/>
          <a:stretch/>
        </p:blipFill>
        <p:spPr>
          <a:xfrm>
            <a:off x="0" y="0"/>
            <a:ext cx="9143999" cy="5143500"/>
          </a:xfrm>
          <a:prstGeom prst="rect">
            <a:avLst/>
          </a:prstGeom>
          <a:noFill/>
          <a:ln>
            <a:noFill/>
          </a:ln>
        </p:spPr>
      </p:pic>
      <p:sp>
        <p:nvSpPr>
          <p:cNvPr id="321" name="Google Shape;321;p35"/>
          <p:cNvSpPr txBox="1"/>
          <p:nvPr/>
        </p:nvSpPr>
        <p:spPr>
          <a:xfrm>
            <a:off x="356617" y="198882"/>
            <a:ext cx="7543815" cy="15087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900" u="none" cap="none" strike="noStrike">
                <a:solidFill>
                  <a:srgbClr val="566461"/>
                </a:solidFill>
                <a:latin typeface="Arial"/>
                <a:ea typeface="Arial"/>
                <a:cs typeface="Arial"/>
                <a:sym typeface="Arial"/>
              </a:rPr>
              <a:t>GROUP 4  /  GRADIENT DESCENT  /  LOUIS DELGADO</a:t>
            </a:r>
            <a:endParaRPr sz="1100"/>
          </a:p>
        </p:txBody>
      </p:sp>
      <p:sp>
        <p:nvSpPr>
          <p:cNvPr id="322" name="Google Shape;322;p35"/>
          <p:cNvSpPr txBox="1"/>
          <p:nvPr/>
        </p:nvSpPr>
        <p:spPr>
          <a:xfrm>
            <a:off x="329185" y="466344"/>
            <a:ext cx="8503937" cy="43205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500" u="none" cap="none" strike="noStrike">
                <a:solidFill>
                  <a:srgbClr val="202638"/>
                </a:solidFill>
                <a:latin typeface="Comic Neue"/>
                <a:ea typeface="Comic Neue"/>
                <a:cs typeface="Comic Neue"/>
                <a:sym typeface="Comic Neue"/>
              </a:rPr>
              <a:t>Help the Computer Find “Cat”</a:t>
            </a:r>
            <a:endParaRPr sz="1100"/>
          </a:p>
        </p:txBody>
      </p:sp>
      <p:sp>
        <p:nvSpPr>
          <p:cNvPr id="323" name="Google Shape;323;p35"/>
          <p:cNvSpPr txBox="1"/>
          <p:nvPr/>
        </p:nvSpPr>
        <p:spPr>
          <a:xfrm>
            <a:off x="363475" y="966978"/>
            <a:ext cx="8366777" cy="23317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 sz="1400" u="none" cap="none" strike="noStrike">
                <a:solidFill>
                  <a:srgbClr val="202638"/>
                </a:solidFill>
                <a:latin typeface="Arial"/>
                <a:ea typeface="Arial"/>
                <a:cs typeface="Arial"/>
                <a:sym typeface="Arial"/>
              </a:rPr>
              <a:t>Same photo. Same CAT answer key. Adjust the controls, not the cat!</a:t>
            </a:r>
            <a:endParaRPr sz="1100"/>
          </a:p>
        </p:txBody>
      </p:sp>
      <p:sp>
        <p:nvSpPr>
          <p:cNvPr id="324" name="Google Shape;324;p35"/>
          <p:cNvSpPr/>
          <p:nvPr/>
        </p:nvSpPr>
        <p:spPr>
          <a:xfrm>
            <a:off x="346330" y="1429893"/>
            <a:ext cx="5143511" cy="3223260"/>
          </a:xfrm>
          <a:prstGeom prst="rect">
            <a:avLst/>
          </a:prstGeom>
          <a:solidFill>
            <a:srgbClr val="20263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5" name="Google Shape;325;p35"/>
          <p:cNvSpPr/>
          <p:nvPr/>
        </p:nvSpPr>
        <p:spPr>
          <a:xfrm>
            <a:off x="308611" y="1385316"/>
            <a:ext cx="5143511" cy="3223260"/>
          </a:xfrm>
          <a:prstGeom prst="rect">
            <a:avLst/>
          </a:prstGeom>
          <a:solidFill>
            <a:srgbClr val="FFFFFF"/>
          </a:solidFill>
          <a:ln cap="flat" cmpd="sng" w="2157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6" name="Google Shape;326;p35"/>
          <p:cNvSpPr/>
          <p:nvPr/>
        </p:nvSpPr>
        <p:spPr>
          <a:xfrm>
            <a:off x="377191" y="1453896"/>
            <a:ext cx="5006350" cy="294894"/>
          </a:xfrm>
          <a:prstGeom prst="rect">
            <a:avLst/>
          </a:prstGeom>
          <a:solidFill>
            <a:srgbClr val="79D8C7"/>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7" name="Google Shape;327;p35"/>
          <p:cNvSpPr txBox="1"/>
          <p:nvPr/>
        </p:nvSpPr>
        <p:spPr>
          <a:xfrm>
            <a:off x="452629" y="1501902"/>
            <a:ext cx="4869190" cy="1920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1300" u="none" cap="none" strike="noStrike">
                <a:solidFill>
                  <a:srgbClr val="202638"/>
                </a:solidFill>
                <a:latin typeface="Arial"/>
                <a:ea typeface="Arial"/>
                <a:cs typeface="Arial"/>
                <a:sym typeface="Arial"/>
              </a:rPr>
              <a:t>LOSS LANDSCAPE  /  A MAP OF POSSIBLE SETTINGS</a:t>
            </a:r>
            <a:endParaRPr sz="1100"/>
          </a:p>
        </p:txBody>
      </p:sp>
      <p:sp>
        <p:nvSpPr>
          <p:cNvPr id="328" name="Google Shape;328;p35"/>
          <p:cNvSpPr/>
          <p:nvPr/>
        </p:nvSpPr>
        <p:spPr>
          <a:xfrm>
            <a:off x="5675007" y="1429893"/>
            <a:ext cx="3188977" cy="3223260"/>
          </a:xfrm>
          <a:prstGeom prst="rect">
            <a:avLst/>
          </a:prstGeom>
          <a:solidFill>
            <a:srgbClr val="20263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9" name="Google Shape;329;p35"/>
          <p:cNvSpPr/>
          <p:nvPr/>
        </p:nvSpPr>
        <p:spPr>
          <a:xfrm>
            <a:off x="5637288" y="1385316"/>
            <a:ext cx="3188977" cy="3223260"/>
          </a:xfrm>
          <a:prstGeom prst="rect">
            <a:avLst/>
          </a:prstGeom>
          <a:solidFill>
            <a:srgbClr val="FFFFFF"/>
          </a:solidFill>
          <a:ln cap="flat" cmpd="sng" w="2157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0" name="Google Shape;330;p35"/>
          <p:cNvSpPr/>
          <p:nvPr/>
        </p:nvSpPr>
        <p:spPr>
          <a:xfrm>
            <a:off x="5705868" y="1453896"/>
            <a:ext cx="3051816" cy="294894"/>
          </a:xfrm>
          <a:prstGeom prst="rect">
            <a:avLst/>
          </a:prstGeom>
          <a:solidFill>
            <a:srgbClr val="FF9867"/>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1" name="Google Shape;331;p35"/>
          <p:cNvSpPr txBox="1"/>
          <p:nvPr/>
        </p:nvSpPr>
        <p:spPr>
          <a:xfrm>
            <a:off x="5781306" y="1501902"/>
            <a:ext cx="2914656" cy="1920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1300" u="none" cap="none" strike="noStrike">
                <a:solidFill>
                  <a:srgbClr val="202638"/>
                </a:solidFill>
                <a:latin typeface="Arial"/>
                <a:ea typeface="Arial"/>
                <a:cs typeface="Arial"/>
                <a:sym typeface="Arial"/>
              </a:rPr>
              <a:t>WEIGHTS  /  “CONTROL SETTINGS”</a:t>
            </a:r>
            <a:endParaRPr sz="1100"/>
          </a:p>
        </p:txBody>
      </p:sp>
      <p:sp>
        <p:nvSpPr>
          <p:cNvPr id="332" name="Google Shape;332;p35"/>
          <p:cNvSpPr txBox="1"/>
          <p:nvPr/>
        </p:nvSpPr>
        <p:spPr>
          <a:xfrm>
            <a:off x="521209" y="1885950"/>
            <a:ext cx="1131572" cy="198882"/>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900" u="none" cap="none" strike="noStrike">
                <a:solidFill>
                  <a:srgbClr val="566461"/>
                </a:solidFill>
                <a:latin typeface="Arial"/>
                <a:ea typeface="Arial"/>
                <a:cs typeface="Arial"/>
                <a:sym typeface="Arial"/>
              </a:rPr>
              <a:t>ANSWER KEY</a:t>
            </a:r>
            <a:endParaRPr sz="1100"/>
          </a:p>
        </p:txBody>
      </p:sp>
      <p:pic>
        <p:nvPicPr>
          <p:cNvPr descr="image-1-4.png" id="333" name="Google Shape;333;p35"/>
          <p:cNvPicPr preferRelativeResize="0"/>
          <p:nvPr/>
        </p:nvPicPr>
        <p:blipFill rotWithShape="1">
          <a:blip r:embed="rId4">
            <a:alphaModFix/>
          </a:blip>
          <a:srcRect b="0" l="0" r="0" t="0"/>
          <a:stretch/>
        </p:blipFill>
        <p:spPr>
          <a:xfrm rot="-180000">
            <a:off x="624079" y="2160270"/>
            <a:ext cx="774953" cy="850392"/>
          </a:xfrm>
          <a:prstGeom prst="rect">
            <a:avLst/>
          </a:prstGeom>
          <a:noFill/>
          <a:ln>
            <a:noFill/>
          </a:ln>
        </p:spPr>
      </p:pic>
      <p:sp>
        <p:nvSpPr>
          <p:cNvPr id="334" name="Google Shape;334;p35"/>
          <p:cNvSpPr/>
          <p:nvPr/>
        </p:nvSpPr>
        <p:spPr>
          <a:xfrm>
            <a:off x="627508" y="3171825"/>
            <a:ext cx="809246" cy="294894"/>
          </a:xfrm>
          <a:prstGeom prst="rect">
            <a:avLst/>
          </a:prstGeom>
          <a:solidFill>
            <a:srgbClr val="202638"/>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5" name="Google Shape;335;p35"/>
          <p:cNvSpPr/>
          <p:nvPr/>
        </p:nvSpPr>
        <p:spPr>
          <a:xfrm>
            <a:off x="603505" y="3140964"/>
            <a:ext cx="809246" cy="294894"/>
          </a:xfrm>
          <a:prstGeom prst="rect">
            <a:avLst/>
          </a:prstGeom>
          <a:solidFill>
            <a:srgbClr val="FFE469"/>
          </a:solidFill>
          <a:ln cap="flat" cmpd="sng" w="1522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6" name="Google Shape;336;p35"/>
          <p:cNvSpPr txBox="1"/>
          <p:nvPr/>
        </p:nvSpPr>
        <p:spPr>
          <a:xfrm>
            <a:off x="665227" y="3175254"/>
            <a:ext cx="685801" cy="20574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700" u="none" cap="none" strike="noStrike">
                <a:solidFill>
                  <a:srgbClr val="202638"/>
                </a:solidFill>
                <a:latin typeface="Comic Neue"/>
                <a:ea typeface="Comic Neue"/>
                <a:cs typeface="Comic Neue"/>
                <a:sym typeface="Comic Neue"/>
              </a:rPr>
              <a:t>CAT</a:t>
            </a:r>
            <a:endParaRPr sz="1100"/>
          </a:p>
        </p:txBody>
      </p:sp>
      <p:sp>
        <p:nvSpPr>
          <p:cNvPr id="337" name="Google Shape;337;p35"/>
          <p:cNvSpPr txBox="1"/>
          <p:nvPr/>
        </p:nvSpPr>
        <p:spPr>
          <a:xfrm>
            <a:off x="466345" y="3566160"/>
            <a:ext cx="1124714" cy="528066"/>
          </a:xfrm>
          <a:prstGeom prst="rect">
            <a:avLst/>
          </a:prstGeom>
          <a:noFill/>
          <a:ln>
            <a:noFill/>
          </a:ln>
        </p:spPr>
        <p:txBody>
          <a:bodyPr anchorCtr="0" anchor="t" bIns="0" lIns="0" spcFirstLastPara="1" rIns="0" wrap="square" tIns="0">
            <a:noAutofit/>
          </a:bodyPr>
          <a:lstStyle/>
          <a:p>
            <a:pPr indent="0" lvl="0" marL="0" marR="0" rtl="0" algn="ctr">
              <a:lnSpc>
                <a:spcPct val="106000"/>
              </a:lnSpc>
              <a:spcBef>
                <a:spcPts val="0"/>
              </a:spcBef>
              <a:spcAft>
                <a:spcPts val="0"/>
              </a:spcAft>
              <a:buNone/>
            </a:pPr>
            <a:r>
              <a:rPr b="1" i="0" lang="en" sz="1300" u="none" cap="none" strike="noStrike">
                <a:solidFill>
                  <a:srgbClr val="202638"/>
                </a:solidFill>
                <a:latin typeface="Comic Neue"/>
                <a:ea typeface="Comic Neue"/>
                <a:cs typeface="Comic Neue"/>
                <a:sym typeface="Comic Neue"/>
              </a:rPr>
              <a:t>This photo and label stay put.</a:t>
            </a:r>
            <a:endParaRPr sz="1100"/>
          </a:p>
        </p:txBody>
      </p:sp>
      <p:cxnSp>
        <p:nvCxnSpPr>
          <p:cNvPr id="338" name="Google Shape;338;p35"/>
          <p:cNvCxnSpPr/>
          <p:nvPr/>
        </p:nvCxnSpPr>
        <p:spPr>
          <a:xfrm>
            <a:off x="1940818" y="3813048"/>
            <a:ext cx="3298705" cy="0"/>
          </a:xfrm>
          <a:prstGeom prst="straightConnector1">
            <a:avLst/>
          </a:prstGeom>
          <a:noFill/>
          <a:ln cap="flat" cmpd="sng" w="22850">
            <a:solidFill>
              <a:srgbClr val="202638"/>
            </a:solidFill>
            <a:prstDash val="solid"/>
            <a:round/>
            <a:headEnd len="sm" w="sm" type="none"/>
            <a:tailEnd len="sm" w="sm" type="triangle"/>
          </a:ln>
          <a:effectLst>
            <a:outerShdw blurRad="40000" rotWithShape="0" dir="5400000" dist="20000">
              <a:srgbClr val="000000">
                <a:alpha val="38039"/>
              </a:srgbClr>
            </a:outerShdw>
          </a:effectLst>
        </p:spPr>
      </p:cxnSp>
      <p:cxnSp>
        <p:nvCxnSpPr>
          <p:cNvPr id="339" name="Google Shape;339;p35"/>
          <p:cNvCxnSpPr/>
          <p:nvPr/>
        </p:nvCxnSpPr>
        <p:spPr>
          <a:xfrm rot="10800000">
            <a:off x="1940818" y="1981962"/>
            <a:ext cx="0" cy="1831086"/>
          </a:xfrm>
          <a:prstGeom prst="straightConnector1">
            <a:avLst/>
          </a:prstGeom>
          <a:noFill/>
          <a:ln cap="flat" cmpd="sng" w="22850">
            <a:solidFill>
              <a:srgbClr val="202638"/>
            </a:solidFill>
            <a:prstDash val="solid"/>
            <a:round/>
            <a:headEnd len="sm" w="sm" type="none"/>
            <a:tailEnd len="sm" w="sm" type="triangle"/>
          </a:ln>
          <a:effectLst>
            <a:outerShdw blurRad="40000" rotWithShape="0" dir="5400000" dist="20000">
              <a:srgbClr val="000000">
                <a:alpha val="38039"/>
              </a:srgbClr>
            </a:outerShdw>
          </a:effectLst>
        </p:spPr>
      </p:cxnSp>
      <p:sp>
        <p:nvSpPr>
          <p:cNvPr id="340" name="Google Shape;340;p35"/>
          <p:cNvSpPr txBox="1"/>
          <p:nvPr/>
        </p:nvSpPr>
        <p:spPr>
          <a:xfrm>
            <a:off x="2928371" y="1927098"/>
            <a:ext cx="2125984" cy="17145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900" u="none" cap="none" strike="noStrike">
                <a:solidFill>
                  <a:srgbClr val="566461"/>
                </a:solidFill>
                <a:latin typeface="Arial"/>
                <a:ea typeface="Arial"/>
                <a:cs typeface="Arial"/>
                <a:sym typeface="Arial"/>
              </a:rPr>
              <a:t>LOSS = ERROR SCORE</a:t>
            </a:r>
            <a:endParaRPr sz="1100"/>
          </a:p>
        </p:txBody>
      </p:sp>
      <p:sp>
        <p:nvSpPr>
          <p:cNvPr id="341" name="Google Shape;341;p35"/>
          <p:cNvSpPr/>
          <p:nvPr/>
        </p:nvSpPr>
        <p:spPr>
          <a:xfrm>
            <a:off x="2119126" y="2014174"/>
            <a:ext cx="2948946" cy="1792016"/>
          </a:xfrm>
          <a:custGeom>
            <a:rect b="b" l="l" r="r" t="t"/>
            <a:pathLst>
              <a:path extrusionOk="0" h="2389355" w="3931920">
                <a:moveTo>
                  <a:pt x="0" y="0"/>
                </a:moveTo>
                <a:lnTo>
                  <a:pt x="35744" y="52793"/>
                </a:lnTo>
                <a:lnTo>
                  <a:pt x="71489" y="104882"/>
                </a:lnTo>
                <a:lnTo>
                  <a:pt x="107234" y="156267"/>
                </a:lnTo>
                <a:lnTo>
                  <a:pt x="142978" y="206947"/>
                </a:lnTo>
                <a:lnTo>
                  <a:pt x="178723" y="256923"/>
                </a:lnTo>
                <a:lnTo>
                  <a:pt x="214468" y="306195"/>
                </a:lnTo>
                <a:lnTo>
                  <a:pt x="250213" y="354763"/>
                </a:lnTo>
                <a:lnTo>
                  <a:pt x="285957" y="402626"/>
                </a:lnTo>
                <a:lnTo>
                  <a:pt x="321702" y="449786"/>
                </a:lnTo>
                <a:lnTo>
                  <a:pt x="357447" y="496241"/>
                </a:lnTo>
                <a:lnTo>
                  <a:pt x="393192" y="541991"/>
                </a:lnTo>
                <a:lnTo>
                  <a:pt x="428936" y="587038"/>
                </a:lnTo>
                <a:lnTo>
                  <a:pt x="464681" y="631380"/>
                </a:lnTo>
                <a:lnTo>
                  <a:pt x="500426" y="675018"/>
                </a:lnTo>
                <a:lnTo>
                  <a:pt x="536170" y="717952"/>
                </a:lnTo>
                <a:lnTo>
                  <a:pt x="571915" y="760182"/>
                </a:lnTo>
                <a:lnTo>
                  <a:pt x="607660" y="801707"/>
                </a:lnTo>
                <a:lnTo>
                  <a:pt x="643405" y="842528"/>
                </a:lnTo>
                <a:lnTo>
                  <a:pt x="679149" y="882645"/>
                </a:lnTo>
                <a:lnTo>
                  <a:pt x="714894" y="922058"/>
                </a:lnTo>
                <a:lnTo>
                  <a:pt x="750639" y="960766"/>
                </a:lnTo>
                <a:lnTo>
                  <a:pt x="786383" y="998770"/>
                </a:lnTo>
                <a:lnTo>
                  <a:pt x="822128" y="1036070"/>
                </a:lnTo>
                <a:lnTo>
                  <a:pt x="857873" y="1072666"/>
                </a:lnTo>
                <a:lnTo>
                  <a:pt x="893618" y="1108558"/>
                </a:lnTo>
                <a:lnTo>
                  <a:pt x="929362" y="1143745"/>
                </a:lnTo>
                <a:lnTo>
                  <a:pt x="965107" y="1178228"/>
                </a:lnTo>
                <a:lnTo>
                  <a:pt x="1000852" y="1212007"/>
                </a:lnTo>
                <a:lnTo>
                  <a:pt x="1036597" y="1245081"/>
                </a:lnTo>
                <a:lnTo>
                  <a:pt x="1072341" y="1277451"/>
                </a:lnTo>
                <a:lnTo>
                  <a:pt x="1108086" y="1309117"/>
                </a:lnTo>
                <a:lnTo>
                  <a:pt x="1143831" y="1340079"/>
                </a:lnTo>
                <a:lnTo>
                  <a:pt x="1179576" y="1370337"/>
                </a:lnTo>
                <a:lnTo>
                  <a:pt x="1215320" y="1399890"/>
                </a:lnTo>
                <a:lnTo>
                  <a:pt x="1251065" y="1428739"/>
                </a:lnTo>
                <a:lnTo>
                  <a:pt x="1286810" y="1456884"/>
                </a:lnTo>
                <a:lnTo>
                  <a:pt x="1322554" y="1484325"/>
                </a:lnTo>
                <a:lnTo>
                  <a:pt x="1358299" y="1511061"/>
                </a:lnTo>
                <a:lnTo>
                  <a:pt x="1394044" y="1537093"/>
                </a:lnTo>
                <a:lnTo>
                  <a:pt x="1429789" y="1562421"/>
                </a:lnTo>
                <a:lnTo>
                  <a:pt x="1465533" y="1587045"/>
                </a:lnTo>
                <a:lnTo>
                  <a:pt x="1501278" y="1610965"/>
                </a:lnTo>
                <a:lnTo>
                  <a:pt x="1537023" y="1634180"/>
                </a:lnTo>
                <a:lnTo>
                  <a:pt x="1572768" y="1656691"/>
                </a:lnTo>
                <a:lnTo>
                  <a:pt x="1608512" y="1678498"/>
                </a:lnTo>
                <a:lnTo>
                  <a:pt x="1644257" y="1699600"/>
                </a:lnTo>
                <a:lnTo>
                  <a:pt x="1680002" y="1719998"/>
                </a:lnTo>
                <a:lnTo>
                  <a:pt x="1715746" y="1739692"/>
                </a:lnTo>
                <a:lnTo>
                  <a:pt x="1751491" y="1758682"/>
                </a:lnTo>
                <a:lnTo>
                  <a:pt x="1787236" y="1776968"/>
                </a:lnTo>
                <a:lnTo>
                  <a:pt x="1822981" y="1794549"/>
                </a:lnTo>
                <a:lnTo>
                  <a:pt x="1858725" y="1811426"/>
                </a:lnTo>
                <a:lnTo>
                  <a:pt x="1894470" y="1827599"/>
                </a:lnTo>
                <a:lnTo>
                  <a:pt x="1930215" y="1843068"/>
                </a:lnTo>
                <a:lnTo>
                  <a:pt x="1965960" y="1857832"/>
                </a:lnTo>
                <a:lnTo>
                  <a:pt x="2001704" y="1871892"/>
                </a:lnTo>
                <a:lnTo>
                  <a:pt x="2037449" y="1885248"/>
                </a:lnTo>
                <a:lnTo>
                  <a:pt x="2073194" y="1897900"/>
                </a:lnTo>
                <a:lnTo>
                  <a:pt x="2108938" y="1909847"/>
                </a:lnTo>
                <a:lnTo>
                  <a:pt x="2144683" y="1921090"/>
                </a:lnTo>
                <a:lnTo>
                  <a:pt x="2180428" y="1931629"/>
                </a:lnTo>
                <a:lnTo>
                  <a:pt x="2216173" y="1941464"/>
                </a:lnTo>
                <a:lnTo>
                  <a:pt x="2251917" y="1950595"/>
                </a:lnTo>
                <a:lnTo>
                  <a:pt x="2287662" y="1959021"/>
                </a:lnTo>
                <a:lnTo>
                  <a:pt x="2323407" y="1966743"/>
                </a:lnTo>
                <a:lnTo>
                  <a:pt x="2359152" y="1973761"/>
                </a:lnTo>
                <a:lnTo>
                  <a:pt x="2394896" y="1980074"/>
                </a:lnTo>
                <a:lnTo>
                  <a:pt x="2430641" y="1985684"/>
                </a:lnTo>
                <a:lnTo>
                  <a:pt x="2466386" y="1990589"/>
                </a:lnTo>
                <a:lnTo>
                  <a:pt x="2502130" y="1994790"/>
                </a:lnTo>
                <a:lnTo>
                  <a:pt x="2537875" y="1998286"/>
                </a:lnTo>
                <a:lnTo>
                  <a:pt x="2573620" y="2001079"/>
                </a:lnTo>
                <a:lnTo>
                  <a:pt x="2609365" y="2003167"/>
                </a:lnTo>
                <a:lnTo>
                  <a:pt x="2645109" y="2004551"/>
                </a:lnTo>
                <a:lnTo>
                  <a:pt x="2680854" y="2005230"/>
                </a:lnTo>
                <a:lnTo>
                  <a:pt x="2716599" y="2005206"/>
                </a:lnTo>
                <a:lnTo>
                  <a:pt x="2752344" y="2004477"/>
                </a:lnTo>
                <a:lnTo>
                  <a:pt x="2788088" y="2003044"/>
                </a:lnTo>
                <a:lnTo>
                  <a:pt x="2823833" y="2000907"/>
                </a:lnTo>
                <a:lnTo>
                  <a:pt x="2859578" y="1998065"/>
                </a:lnTo>
                <a:lnTo>
                  <a:pt x="2895322" y="1994519"/>
                </a:lnTo>
                <a:lnTo>
                  <a:pt x="2931067" y="1990269"/>
                </a:lnTo>
                <a:lnTo>
                  <a:pt x="2966812" y="1985315"/>
                </a:lnTo>
                <a:lnTo>
                  <a:pt x="3002557" y="1979657"/>
                </a:lnTo>
                <a:lnTo>
                  <a:pt x="3038301" y="1973294"/>
                </a:lnTo>
                <a:lnTo>
                  <a:pt x="3074046" y="1966227"/>
                </a:lnTo>
                <a:lnTo>
                  <a:pt x="3109791" y="1958456"/>
                </a:lnTo>
                <a:lnTo>
                  <a:pt x="3145535" y="1949981"/>
                </a:lnTo>
                <a:lnTo>
                  <a:pt x="3181280" y="1940801"/>
                </a:lnTo>
                <a:lnTo>
                  <a:pt x="3217025" y="1930917"/>
                </a:lnTo>
                <a:lnTo>
                  <a:pt x="3252770" y="1920329"/>
                </a:lnTo>
                <a:lnTo>
                  <a:pt x="3288514" y="1909037"/>
                </a:lnTo>
                <a:lnTo>
                  <a:pt x="3324259" y="1897040"/>
                </a:lnTo>
                <a:lnTo>
                  <a:pt x="3360004" y="1884339"/>
                </a:lnTo>
                <a:lnTo>
                  <a:pt x="3395749" y="1870934"/>
                </a:lnTo>
                <a:lnTo>
                  <a:pt x="3431493" y="1856825"/>
                </a:lnTo>
                <a:lnTo>
                  <a:pt x="3467238" y="1842011"/>
                </a:lnTo>
                <a:lnTo>
                  <a:pt x="3502983" y="1826494"/>
                </a:lnTo>
                <a:lnTo>
                  <a:pt x="3538728" y="1810272"/>
                </a:lnTo>
                <a:lnTo>
                  <a:pt x="3574472" y="1793345"/>
                </a:lnTo>
                <a:lnTo>
                  <a:pt x="3610217" y="1775715"/>
                </a:lnTo>
                <a:lnTo>
                  <a:pt x="3645962" y="1757380"/>
                </a:lnTo>
                <a:lnTo>
                  <a:pt x="3681706" y="1738341"/>
                </a:lnTo>
                <a:lnTo>
                  <a:pt x="3717451" y="1718598"/>
                </a:lnTo>
                <a:lnTo>
                  <a:pt x="3753196" y="1698151"/>
                </a:lnTo>
                <a:lnTo>
                  <a:pt x="3788941" y="1676999"/>
                </a:lnTo>
                <a:lnTo>
                  <a:pt x="3824685" y="1655143"/>
                </a:lnTo>
                <a:lnTo>
                  <a:pt x="3860430" y="1632583"/>
                </a:lnTo>
                <a:lnTo>
                  <a:pt x="3896175" y="1609319"/>
                </a:lnTo>
                <a:lnTo>
                  <a:pt x="3931920" y="1585350"/>
                </a:lnTo>
                <a:lnTo>
                  <a:pt x="3931920" y="2389355"/>
                </a:lnTo>
                <a:lnTo>
                  <a:pt x="0" y="2389355"/>
                </a:lnTo>
                <a:close/>
              </a:path>
            </a:pathLst>
          </a:custGeom>
          <a:solidFill>
            <a:srgbClr val="E5F4EC"/>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2" name="Google Shape;342;p35"/>
          <p:cNvSpPr/>
          <p:nvPr/>
        </p:nvSpPr>
        <p:spPr>
          <a:xfrm>
            <a:off x="2119126" y="2014174"/>
            <a:ext cx="2948946" cy="1503922"/>
          </a:xfrm>
          <a:custGeom>
            <a:rect b="b" l="l" r="r" t="t"/>
            <a:pathLst>
              <a:path extrusionOk="0" h="2005230" w="3931920">
                <a:moveTo>
                  <a:pt x="0" y="0"/>
                </a:moveTo>
                <a:lnTo>
                  <a:pt x="35744" y="52793"/>
                </a:lnTo>
                <a:lnTo>
                  <a:pt x="71489" y="104882"/>
                </a:lnTo>
                <a:lnTo>
                  <a:pt x="107234" y="156267"/>
                </a:lnTo>
                <a:lnTo>
                  <a:pt x="142978" y="206947"/>
                </a:lnTo>
                <a:lnTo>
                  <a:pt x="178723" y="256923"/>
                </a:lnTo>
                <a:lnTo>
                  <a:pt x="214468" y="306195"/>
                </a:lnTo>
                <a:lnTo>
                  <a:pt x="250213" y="354763"/>
                </a:lnTo>
                <a:lnTo>
                  <a:pt x="285957" y="402626"/>
                </a:lnTo>
                <a:lnTo>
                  <a:pt x="321702" y="449786"/>
                </a:lnTo>
                <a:lnTo>
                  <a:pt x="357447" y="496241"/>
                </a:lnTo>
                <a:lnTo>
                  <a:pt x="393192" y="541991"/>
                </a:lnTo>
                <a:lnTo>
                  <a:pt x="428936" y="587038"/>
                </a:lnTo>
                <a:lnTo>
                  <a:pt x="464681" y="631380"/>
                </a:lnTo>
                <a:lnTo>
                  <a:pt x="500426" y="675018"/>
                </a:lnTo>
                <a:lnTo>
                  <a:pt x="536170" y="717952"/>
                </a:lnTo>
                <a:lnTo>
                  <a:pt x="571915" y="760182"/>
                </a:lnTo>
                <a:lnTo>
                  <a:pt x="607660" y="801707"/>
                </a:lnTo>
                <a:lnTo>
                  <a:pt x="643405" y="842528"/>
                </a:lnTo>
                <a:lnTo>
                  <a:pt x="679149" y="882645"/>
                </a:lnTo>
                <a:lnTo>
                  <a:pt x="714894" y="922058"/>
                </a:lnTo>
                <a:lnTo>
                  <a:pt x="750639" y="960766"/>
                </a:lnTo>
                <a:lnTo>
                  <a:pt x="786383" y="998770"/>
                </a:lnTo>
                <a:lnTo>
                  <a:pt x="822128" y="1036070"/>
                </a:lnTo>
                <a:lnTo>
                  <a:pt x="857873" y="1072666"/>
                </a:lnTo>
                <a:lnTo>
                  <a:pt x="893618" y="1108558"/>
                </a:lnTo>
                <a:lnTo>
                  <a:pt x="929362" y="1143745"/>
                </a:lnTo>
                <a:lnTo>
                  <a:pt x="965107" y="1178228"/>
                </a:lnTo>
                <a:lnTo>
                  <a:pt x="1000852" y="1212007"/>
                </a:lnTo>
                <a:lnTo>
                  <a:pt x="1036597" y="1245081"/>
                </a:lnTo>
                <a:lnTo>
                  <a:pt x="1072341" y="1277451"/>
                </a:lnTo>
                <a:lnTo>
                  <a:pt x="1108086" y="1309117"/>
                </a:lnTo>
                <a:lnTo>
                  <a:pt x="1143831" y="1340079"/>
                </a:lnTo>
                <a:lnTo>
                  <a:pt x="1179576" y="1370337"/>
                </a:lnTo>
                <a:lnTo>
                  <a:pt x="1215320" y="1399890"/>
                </a:lnTo>
                <a:lnTo>
                  <a:pt x="1251065" y="1428739"/>
                </a:lnTo>
                <a:lnTo>
                  <a:pt x="1286810" y="1456884"/>
                </a:lnTo>
                <a:lnTo>
                  <a:pt x="1322554" y="1484325"/>
                </a:lnTo>
                <a:lnTo>
                  <a:pt x="1358299" y="1511061"/>
                </a:lnTo>
                <a:lnTo>
                  <a:pt x="1394044" y="1537093"/>
                </a:lnTo>
                <a:lnTo>
                  <a:pt x="1429789" y="1562421"/>
                </a:lnTo>
                <a:lnTo>
                  <a:pt x="1465533" y="1587045"/>
                </a:lnTo>
                <a:lnTo>
                  <a:pt x="1501278" y="1610965"/>
                </a:lnTo>
                <a:lnTo>
                  <a:pt x="1537023" y="1634180"/>
                </a:lnTo>
                <a:lnTo>
                  <a:pt x="1572768" y="1656691"/>
                </a:lnTo>
                <a:lnTo>
                  <a:pt x="1608512" y="1678498"/>
                </a:lnTo>
                <a:lnTo>
                  <a:pt x="1644257" y="1699600"/>
                </a:lnTo>
                <a:lnTo>
                  <a:pt x="1680002" y="1719998"/>
                </a:lnTo>
                <a:lnTo>
                  <a:pt x="1715746" y="1739692"/>
                </a:lnTo>
                <a:lnTo>
                  <a:pt x="1751491" y="1758682"/>
                </a:lnTo>
                <a:lnTo>
                  <a:pt x="1787236" y="1776968"/>
                </a:lnTo>
                <a:lnTo>
                  <a:pt x="1822981" y="1794549"/>
                </a:lnTo>
                <a:lnTo>
                  <a:pt x="1858725" y="1811426"/>
                </a:lnTo>
                <a:lnTo>
                  <a:pt x="1894470" y="1827599"/>
                </a:lnTo>
                <a:lnTo>
                  <a:pt x="1930215" y="1843068"/>
                </a:lnTo>
                <a:lnTo>
                  <a:pt x="1965960" y="1857832"/>
                </a:lnTo>
                <a:lnTo>
                  <a:pt x="2001704" y="1871892"/>
                </a:lnTo>
                <a:lnTo>
                  <a:pt x="2037449" y="1885248"/>
                </a:lnTo>
                <a:lnTo>
                  <a:pt x="2073194" y="1897900"/>
                </a:lnTo>
                <a:lnTo>
                  <a:pt x="2108938" y="1909847"/>
                </a:lnTo>
                <a:lnTo>
                  <a:pt x="2144683" y="1921090"/>
                </a:lnTo>
                <a:lnTo>
                  <a:pt x="2180428" y="1931629"/>
                </a:lnTo>
                <a:lnTo>
                  <a:pt x="2216173" y="1941464"/>
                </a:lnTo>
                <a:lnTo>
                  <a:pt x="2251917" y="1950595"/>
                </a:lnTo>
                <a:lnTo>
                  <a:pt x="2287662" y="1959021"/>
                </a:lnTo>
                <a:lnTo>
                  <a:pt x="2323407" y="1966743"/>
                </a:lnTo>
                <a:lnTo>
                  <a:pt x="2359152" y="1973761"/>
                </a:lnTo>
                <a:lnTo>
                  <a:pt x="2394896" y="1980074"/>
                </a:lnTo>
                <a:lnTo>
                  <a:pt x="2430641" y="1985684"/>
                </a:lnTo>
                <a:lnTo>
                  <a:pt x="2466386" y="1990589"/>
                </a:lnTo>
                <a:lnTo>
                  <a:pt x="2502130" y="1994790"/>
                </a:lnTo>
                <a:lnTo>
                  <a:pt x="2537875" y="1998286"/>
                </a:lnTo>
                <a:lnTo>
                  <a:pt x="2573620" y="2001079"/>
                </a:lnTo>
                <a:lnTo>
                  <a:pt x="2609365" y="2003167"/>
                </a:lnTo>
                <a:lnTo>
                  <a:pt x="2645109" y="2004551"/>
                </a:lnTo>
                <a:lnTo>
                  <a:pt x="2680854" y="2005230"/>
                </a:lnTo>
                <a:lnTo>
                  <a:pt x="2716599" y="2005206"/>
                </a:lnTo>
                <a:lnTo>
                  <a:pt x="2752344" y="2004477"/>
                </a:lnTo>
                <a:lnTo>
                  <a:pt x="2788088" y="2003044"/>
                </a:lnTo>
                <a:lnTo>
                  <a:pt x="2823833" y="2000907"/>
                </a:lnTo>
                <a:lnTo>
                  <a:pt x="2859578" y="1998065"/>
                </a:lnTo>
                <a:lnTo>
                  <a:pt x="2895322" y="1994519"/>
                </a:lnTo>
                <a:lnTo>
                  <a:pt x="2931067" y="1990269"/>
                </a:lnTo>
                <a:lnTo>
                  <a:pt x="2966812" y="1985315"/>
                </a:lnTo>
                <a:lnTo>
                  <a:pt x="3002557" y="1979657"/>
                </a:lnTo>
                <a:lnTo>
                  <a:pt x="3038301" y="1973294"/>
                </a:lnTo>
                <a:lnTo>
                  <a:pt x="3074046" y="1966227"/>
                </a:lnTo>
                <a:lnTo>
                  <a:pt x="3109791" y="1958456"/>
                </a:lnTo>
                <a:lnTo>
                  <a:pt x="3145535" y="1949981"/>
                </a:lnTo>
                <a:lnTo>
                  <a:pt x="3181280" y="1940801"/>
                </a:lnTo>
                <a:lnTo>
                  <a:pt x="3217025" y="1930917"/>
                </a:lnTo>
                <a:lnTo>
                  <a:pt x="3252770" y="1920329"/>
                </a:lnTo>
                <a:lnTo>
                  <a:pt x="3288514" y="1909037"/>
                </a:lnTo>
                <a:lnTo>
                  <a:pt x="3324259" y="1897040"/>
                </a:lnTo>
                <a:lnTo>
                  <a:pt x="3360004" y="1884339"/>
                </a:lnTo>
                <a:lnTo>
                  <a:pt x="3395749" y="1870934"/>
                </a:lnTo>
                <a:lnTo>
                  <a:pt x="3431493" y="1856825"/>
                </a:lnTo>
                <a:lnTo>
                  <a:pt x="3467238" y="1842011"/>
                </a:lnTo>
                <a:lnTo>
                  <a:pt x="3502983" y="1826494"/>
                </a:lnTo>
                <a:lnTo>
                  <a:pt x="3538728" y="1810272"/>
                </a:lnTo>
                <a:lnTo>
                  <a:pt x="3574472" y="1793345"/>
                </a:lnTo>
                <a:lnTo>
                  <a:pt x="3610217" y="1775715"/>
                </a:lnTo>
                <a:lnTo>
                  <a:pt x="3645962" y="1757380"/>
                </a:lnTo>
                <a:lnTo>
                  <a:pt x="3681706" y="1738341"/>
                </a:lnTo>
                <a:lnTo>
                  <a:pt x="3717451" y="1718598"/>
                </a:lnTo>
                <a:lnTo>
                  <a:pt x="3753196" y="1698151"/>
                </a:lnTo>
                <a:lnTo>
                  <a:pt x="3788941" y="1676999"/>
                </a:lnTo>
                <a:lnTo>
                  <a:pt x="3824685" y="1655143"/>
                </a:lnTo>
                <a:lnTo>
                  <a:pt x="3860430" y="1632583"/>
                </a:lnTo>
                <a:lnTo>
                  <a:pt x="3896175" y="1609319"/>
                </a:lnTo>
                <a:lnTo>
                  <a:pt x="3931920" y="1585350"/>
                </a:lnTo>
              </a:path>
            </a:pathLst>
          </a:custGeom>
          <a:noFill/>
          <a:ln cap="flat" cmpd="sng" w="3427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cxnSp>
        <p:nvCxnSpPr>
          <p:cNvPr id="343" name="Google Shape;343;p35"/>
          <p:cNvCxnSpPr/>
          <p:nvPr/>
        </p:nvCxnSpPr>
        <p:spPr>
          <a:xfrm>
            <a:off x="1940818" y="3813048"/>
            <a:ext cx="3298705" cy="0"/>
          </a:xfrm>
          <a:prstGeom prst="straightConnector1">
            <a:avLst/>
          </a:prstGeom>
          <a:noFill/>
          <a:ln cap="flat" cmpd="sng" w="22850">
            <a:solidFill>
              <a:srgbClr val="202638"/>
            </a:solidFill>
            <a:prstDash val="solid"/>
            <a:round/>
            <a:headEnd len="sm" w="sm" type="none"/>
            <a:tailEnd len="sm" w="sm" type="triangle"/>
          </a:ln>
          <a:effectLst>
            <a:outerShdw blurRad="40000" rotWithShape="0" dir="5400000" dist="20000">
              <a:srgbClr val="000000">
                <a:alpha val="38039"/>
              </a:srgbClr>
            </a:outerShdw>
          </a:effectLst>
        </p:spPr>
      </p:cxnSp>
      <p:sp>
        <p:nvSpPr>
          <p:cNvPr id="344" name="Google Shape;344;p35"/>
          <p:cNvSpPr/>
          <p:nvPr/>
        </p:nvSpPr>
        <p:spPr>
          <a:xfrm>
            <a:off x="2376302" y="2384783"/>
            <a:ext cx="89154" cy="89154"/>
          </a:xfrm>
          <a:prstGeom prst="ellipse">
            <a:avLst/>
          </a:prstGeom>
          <a:solidFill>
            <a:srgbClr val="FF797C"/>
          </a:solidFill>
          <a:ln cap="flat" cmpd="sng" w="1522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5" name="Google Shape;345;p35"/>
          <p:cNvSpPr/>
          <p:nvPr/>
        </p:nvSpPr>
        <p:spPr>
          <a:xfrm>
            <a:off x="2828931" y="2882095"/>
            <a:ext cx="89154" cy="89154"/>
          </a:xfrm>
          <a:prstGeom prst="ellipse">
            <a:avLst/>
          </a:prstGeom>
          <a:solidFill>
            <a:srgbClr val="FF9867"/>
          </a:solidFill>
          <a:ln cap="flat" cmpd="sng" w="1522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6" name="Google Shape;346;p35"/>
          <p:cNvSpPr/>
          <p:nvPr/>
        </p:nvSpPr>
        <p:spPr>
          <a:xfrm>
            <a:off x="3295276" y="3237001"/>
            <a:ext cx="89154" cy="89154"/>
          </a:xfrm>
          <a:prstGeom prst="ellipse">
            <a:avLst/>
          </a:prstGeom>
          <a:solidFill>
            <a:srgbClr val="FFE469"/>
          </a:solidFill>
          <a:ln cap="flat" cmpd="sng" w="1522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7" name="Google Shape;347;p35"/>
          <p:cNvSpPr/>
          <p:nvPr/>
        </p:nvSpPr>
        <p:spPr>
          <a:xfrm>
            <a:off x="3761620" y="3432082"/>
            <a:ext cx="89154" cy="89154"/>
          </a:xfrm>
          <a:prstGeom prst="ellipse">
            <a:avLst/>
          </a:prstGeom>
          <a:solidFill>
            <a:srgbClr val="79D8C7"/>
          </a:solidFill>
          <a:ln cap="flat" cmpd="sng" w="1522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8" name="Google Shape;348;p35"/>
          <p:cNvSpPr/>
          <p:nvPr/>
        </p:nvSpPr>
        <p:spPr>
          <a:xfrm>
            <a:off x="4070231" y="3473300"/>
            <a:ext cx="89154" cy="89154"/>
          </a:xfrm>
          <a:prstGeom prst="ellipse">
            <a:avLst/>
          </a:prstGeom>
          <a:solidFill>
            <a:srgbClr val="79D8C7"/>
          </a:solidFill>
          <a:ln cap="flat" cmpd="sng" w="15225">
            <a:solidFill>
              <a:srgbClr val="20263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cxnSp>
        <p:nvCxnSpPr>
          <p:cNvPr id="349" name="Google Shape;349;p35"/>
          <p:cNvCxnSpPr/>
          <p:nvPr/>
        </p:nvCxnSpPr>
        <p:spPr>
          <a:xfrm>
            <a:off x="2551181" y="2606040"/>
            <a:ext cx="260604" cy="301752"/>
          </a:xfrm>
          <a:prstGeom prst="straightConnector1">
            <a:avLst/>
          </a:prstGeom>
          <a:noFill/>
          <a:ln cap="flat" cmpd="sng" w="35550">
            <a:solidFill>
              <a:srgbClr val="FF9867"/>
            </a:solidFill>
            <a:prstDash val="solid"/>
            <a:round/>
            <a:headEnd len="sm" w="sm" type="none"/>
            <a:tailEnd len="sm" w="sm" type="triangle"/>
          </a:ln>
          <a:effectLst>
            <a:outerShdw blurRad="40000" rotWithShape="0" dir="5400000" dist="20000">
              <a:srgbClr val="000000">
                <a:alpha val="38039"/>
              </a:srgbClr>
            </a:outerShdw>
          </a:effectLst>
        </p:spPr>
      </p:cxnSp>
      <p:cxnSp>
        <p:nvCxnSpPr>
          <p:cNvPr id="350" name="Google Shape;350;p35"/>
          <p:cNvCxnSpPr/>
          <p:nvPr/>
        </p:nvCxnSpPr>
        <p:spPr>
          <a:xfrm>
            <a:off x="2990094" y="3099815"/>
            <a:ext cx="288037" cy="171451"/>
          </a:xfrm>
          <a:prstGeom prst="straightConnector1">
            <a:avLst/>
          </a:prstGeom>
          <a:noFill/>
          <a:ln cap="flat" cmpd="sng" w="35550">
            <a:solidFill>
              <a:srgbClr val="FF9867"/>
            </a:solidFill>
            <a:prstDash val="solid"/>
            <a:round/>
            <a:headEnd len="sm" w="sm" type="none"/>
            <a:tailEnd len="sm" w="sm" type="triangle"/>
          </a:ln>
          <a:effectLst>
            <a:outerShdw blurRad="40000" rotWithShape="0" dir="5400000" dist="20000">
              <a:srgbClr val="000000">
                <a:alpha val="38039"/>
              </a:srgbClr>
            </a:outerShdw>
          </a:effectLst>
        </p:spPr>
      </p:cxnSp>
      <p:pic>
        <p:nvPicPr>
          <p:cNvPr descr="image-1-6.png" id="351" name="Google Shape;351;p35"/>
          <p:cNvPicPr preferRelativeResize="0"/>
          <p:nvPr/>
        </p:nvPicPr>
        <p:blipFill rotWithShape="1">
          <a:blip r:embed="rId5">
            <a:alphaModFix/>
          </a:blip>
          <a:srcRect b="0" l="0" r="0" t="0"/>
          <a:stretch/>
        </p:blipFill>
        <p:spPr>
          <a:xfrm>
            <a:off x="2146558" y="2208276"/>
            <a:ext cx="521208" cy="480060"/>
          </a:xfrm>
          <a:prstGeom prst="rect">
            <a:avLst/>
          </a:prstGeom>
          <a:noFill/>
          <a:ln>
            <a:noFill/>
          </a:ln>
        </p:spPr>
      </p:pic>
      <p:pic>
        <p:nvPicPr>
          <p:cNvPr descr="image-1-7.png" id="352" name="Google Shape;352;p35"/>
          <p:cNvPicPr preferRelativeResize="0"/>
          <p:nvPr/>
        </p:nvPicPr>
        <p:blipFill rotWithShape="1">
          <a:blip r:embed="rId6">
            <a:alphaModFix/>
          </a:blip>
          <a:srcRect b="0" l="0" r="0" t="0"/>
          <a:stretch/>
        </p:blipFill>
        <p:spPr>
          <a:xfrm>
            <a:off x="2057404" y="2036826"/>
            <a:ext cx="699517" cy="363474"/>
          </a:xfrm>
          <a:prstGeom prst="rect">
            <a:avLst/>
          </a:prstGeom>
          <a:noFill/>
          <a:ln>
            <a:noFill/>
          </a:ln>
        </p:spPr>
      </p:pic>
      <p:sp>
        <p:nvSpPr>
          <p:cNvPr id="353" name="Google Shape;353;p35"/>
          <p:cNvSpPr txBox="1"/>
          <p:nvPr/>
        </p:nvSpPr>
        <p:spPr>
          <a:xfrm>
            <a:off x="2113366" y="2084078"/>
            <a:ext cx="545623" cy="19991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200" u="none" cap="none" strike="noStrike">
                <a:solidFill>
                  <a:srgbClr val="202638"/>
                </a:solidFill>
                <a:latin typeface="Comic Neue"/>
                <a:ea typeface="Comic Neue"/>
                <a:cs typeface="Comic Neue"/>
                <a:sym typeface="Comic Neue"/>
              </a:rPr>
              <a:t>Dog?</a:t>
            </a:r>
            <a:endParaRPr sz="1100"/>
          </a:p>
        </p:txBody>
      </p:sp>
      <p:sp>
        <p:nvSpPr>
          <p:cNvPr id="354" name="Google Shape;354;p35"/>
          <p:cNvSpPr txBox="1"/>
          <p:nvPr/>
        </p:nvSpPr>
        <p:spPr>
          <a:xfrm>
            <a:off x="2825502" y="2297430"/>
            <a:ext cx="1556769" cy="43891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 sz="1200" u="none" cap="none" strike="noStrike">
                <a:solidFill>
                  <a:srgbClr val="202638"/>
                </a:solidFill>
                <a:latin typeface="Arial"/>
                <a:ea typeface="Arial"/>
                <a:cs typeface="Arial"/>
                <a:sym typeface="Arial"/>
              </a:rPr>
              <a:t>Bigger mismatch</a:t>
            </a:r>
            <a:endParaRPr sz="1100"/>
          </a:p>
          <a:p>
            <a:pPr indent="0" lvl="0" marL="0" marR="0" rtl="0" algn="l">
              <a:lnSpc>
                <a:spcPct val="112000"/>
              </a:lnSpc>
              <a:spcBef>
                <a:spcPts val="0"/>
              </a:spcBef>
              <a:spcAft>
                <a:spcPts val="0"/>
              </a:spcAft>
              <a:buNone/>
            </a:pPr>
            <a:r>
              <a:rPr b="0" i="0" lang="en" sz="1200" u="none" cap="none" strike="noStrike">
                <a:solidFill>
                  <a:srgbClr val="202638"/>
                </a:solidFill>
                <a:latin typeface="Arial"/>
                <a:ea typeface="Arial"/>
                <a:cs typeface="Arial"/>
                <a:sym typeface="Arial"/>
              </a:rPr>
              <a:t>with the CAT label</a:t>
            </a:r>
            <a:endParaRPr sz="1100"/>
          </a:p>
        </p:txBody>
      </p:sp>
      <p:sp>
        <p:nvSpPr>
          <p:cNvPr id="355" name="Google Shape;355;p35"/>
          <p:cNvSpPr txBox="1"/>
          <p:nvPr/>
        </p:nvSpPr>
        <p:spPr>
          <a:xfrm>
            <a:off x="3888494" y="2722626"/>
            <a:ext cx="1248159" cy="17145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0" i="0" lang="en" sz="1000" u="none" cap="none" strike="noStrike">
                <a:solidFill>
                  <a:srgbClr val="566461"/>
                </a:solidFill>
                <a:latin typeface="Arial"/>
                <a:ea typeface="Arial"/>
                <a:cs typeface="Arial"/>
                <a:sym typeface="Arial"/>
              </a:rPr>
              <a:t>Smaller mismatch</a:t>
            </a:r>
            <a:endParaRPr sz="1100"/>
          </a:p>
        </p:txBody>
      </p:sp>
      <p:pic>
        <p:nvPicPr>
          <p:cNvPr descr="image-1-7.png" id="356" name="Google Shape;356;p35"/>
          <p:cNvPicPr preferRelativeResize="0"/>
          <p:nvPr/>
        </p:nvPicPr>
        <p:blipFill rotWithShape="1">
          <a:blip r:embed="rId6">
            <a:alphaModFix/>
          </a:blip>
          <a:srcRect b="0" l="0" r="0" t="0"/>
          <a:stretch/>
        </p:blipFill>
        <p:spPr>
          <a:xfrm>
            <a:off x="3984506" y="2921508"/>
            <a:ext cx="1049276" cy="507492"/>
          </a:xfrm>
          <a:prstGeom prst="rect">
            <a:avLst/>
          </a:prstGeom>
          <a:noFill/>
          <a:ln>
            <a:noFill/>
          </a:ln>
        </p:spPr>
      </p:pic>
      <p:sp>
        <p:nvSpPr>
          <p:cNvPr id="357" name="Google Shape;357;p35"/>
          <p:cNvSpPr txBox="1"/>
          <p:nvPr/>
        </p:nvSpPr>
        <p:spPr>
          <a:xfrm>
            <a:off x="4068448" y="2987482"/>
            <a:ext cx="818435" cy="27912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800" u="none" cap="none" strike="noStrike">
                <a:solidFill>
                  <a:srgbClr val="202638"/>
                </a:solidFill>
                <a:latin typeface="Comic Neue"/>
                <a:ea typeface="Comic Neue"/>
                <a:cs typeface="Comic Neue"/>
                <a:sym typeface="Comic Neue"/>
              </a:rPr>
              <a:t>Cat?</a:t>
            </a:r>
            <a:endParaRPr sz="1100"/>
          </a:p>
        </p:txBody>
      </p:sp>
      <p:cxnSp>
        <p:nvCxnSpPr>
          <p:cNvPr id="358" name="Google Shape;358;p35"/>
          <p:cNvCxnSpPr/>
          <p:nvPr/>
        </p:nvCxnSpPr>
        <p:spPr>
          <a:xfrm>
            <a:off x="4114808" y="3518154"/>
            <a:ext cx="0" cy="288036"/>
          </a:xfrm>
          <a:prstGeom prst="straightConnector1">
            <a:avLst/>
          </a:prstGeom>
          <a:noFill/>
          <a:ln cap="flat" cmpd="sng" w="12700">
            <a:solidFill>
              <a:srgbClr val="566461"/>
            </a:solidFill>
            <a:prstDash val="dash"/>
            <a:round/>
            <a:headEnd len="sm" w="sm" type="none"/>
            <a:tailEnd len="sm" w="sm" type="none"/>
          </a:ln>
          <a:effectLst>
            <a:outerShdw blurRad="40000" rotWithShape="0" dir="5400000" dist="20000">
              <a:srgbClr val="000000">
                <a:alpha val="38039"/>
              </a:srgbClr>
            </a:outerShdw>
          </a:effectLst>
        </p:spPr>
      </p:cxnSp>
      <p:sp>
        <p:nvSpPr>
          <p:cNvPr id="359" name="Google Shape;359;p35"/>
          <p:cNvSpPr txBox="1"/>
          <p:nvPr/>
        </p:nvSpPr>
        <p:spPr>
          <a:xfrm>
            <a:off x="2105410" y="3957066"/>
            <a:ext cx="3106680" cy="198882"/>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000" u="none" cap="none" strike="noStrike">
                <a:solidFill>
                  <a:srgbClr val="566461"/>
                </a:solidFill>
                <a:latin typeface="Arial"/>
                <a:ea typeface="Arial"/>
                <a:cs typeface="Arial"/>
                <a:sym typeface="Arial"/>
              </a:rPr>
              <a:t>WEIGHT = ONE CONTROL SETTING</a:t>
            </a:r>
            <a:endParaRPr sz="1100"/>
          </a:p>
        </p:txBody>
      </p:sp>
      <p:sp>
        <p:nvSpPr>
          <p:cNvPr id="360" name="Google Shape;360;p35"/>
          <p:cNvSpPr txBox="1"/>
          <p:nvPr/>
        </p:nvSpPr>
        <p:spPr>
          <a:xfrm>
            <a:off x="2036830" y="4251960"/>
            <a:ext cx="3223267" cy="212598"/>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400" u="none" cap="none" strike="noStrike">
                <a:solidFill>
                  <a:srgbClr val="202638"/>
                </a:solidFill>
                <a:latin typeface="Comic Neue"/>
                <a:ea typeface="Comic Neue"/>
                <a:cs typeface="Comic Neue"/>
                <a:sym typeface="Comic Neue"/>
              </a:rPr>
              <a:t>Move the setting. Try to lower the loss.</a:t>
            </a:r>
            <a:endParaRPr sz="1100"/>
          </a:p>
        </p:txBody>
      </p:sp>
      <p:sp>
        <p:nvSpPr>
          <p:cNvPr id="361" name="Google Shape;361;p35"/>
          <p:cNvSpPr txBox="1"/>
          <p:nvPr/>
        </p:nvSpPr>
        <p:spPr>
          <a:xfrm>
            <a:off x="5822454" y="1906524"/>
            <a:ext cx="2811785" cy="61036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Like speaker volume, weights</a:t>
            </a:r>
            <a:endParaRPr sz="1100"/>
          </a:p>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change how strongly signals</a:t>
            </a:r>
            <a:endParaRPr sz="1100"/>
          </a:p>
          <a:p>
            <a:pPr indent="0" lvl="0" marL="0" marR="0" rtl="0" algn="l">
              <a:lnSpc>
                <a:spcPct val="110000"/>
              </a:lnSpc>
              <a:spcBef>
                <a:spcPts val="0"/>
              </a:spcBef>
              <a:spcAft>
                <a:spcPts val="0"/>
              </a:spcAft>
              <a:buNone/>
            </a:pPr>
            <a:r>
              <a:rPr b="0" i="0" lang="en" sz="1300" u="none" cap="none" strike="noStrike">
                <a:solidFill>
                  <a:srgbClr val="202638"/>
                </a:solidFill>
                <a:latin typeface="Arial"/>
                <a:ea typeface="Arial"/>
                <a:cs typeface="Arial"/>
                <a:sym typeface="Arial"/>
              </a:rPr>
              <a:t>influence the computer’s guess.</a:t>
            </a:r>
            <a:endParaRPr sz="1100"/>
          </a:p>
        </p:txBody>
      </p:sp>
      <p:pic>
        <p:nvPicPr>
          <p:cNvPr descr="image-2-5.png" id="362" name="Google Shape;362;p35"/>
          <p:cNvPicPr preferRelativeResize="0"/>
          <p:nvPr/>
        </p:nvPicPr>
        <p:blipFill rotWithShape="1">
          <a:blip r:embed="rId7">
            <a:alphaModFix/>
          </a:blip>
          <a:srcRect b="0" l="0" r="0" t="0"/>
          <a:stretch/>
        </p:blipFill>
        <p:spPr>
          <a:xfrm>
            <a:off x="6014478" y="2516886"/>
            <a:ext cx="2386584" cy="954633"/>
          </a:xfrm>
          <a:prstGeom prst="rect">
            <a:avLst/>
          </a:prstGeom>
          <a:noFill/>
          <a:ln>
            <a:noFill/>
          </a:ln>
        </p:spPr>
      </p:pic>
      <p:sp>
        <p:nvSpPr>
          <p:cNvPr id="363" name="Google Shape;363;p35"/>
          <p:cNvSpPr txBox="1"/>
          <p:nvPr/>
        </p:nvSpPr>
        <p:spPr>
          <a:xfrm>
            <a:off x="7015748" y="3291840"/>
            <a:ext cx="212598" cy="192024"/>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300" u="none" cap="none" strike="noStrike">
                <a:solidFill>
                  <a:srgbClr val="202638"/>
                </a:solidFill>
                <a:latin typeface="Comic Neue"/>
                <a:ea typeface="Comic Neue"/>
                <a:cs typeface="Comic Neue"/>
                <a:sym typeface="Comic Neue"/>
              </a:rPr>
              <a:t>2</a:t>
            </a:r>
            <a:endParaRPr sz="1100"/>
          </a:p>
        </p:txBody>
      </p:sp>
      <p:sp>
        <p:nvSpPr>
          <p:cNvPr id="364" name="Google Shape;364;p35"/>
          <p:cNvSpPr txBox="1"/>
          <p:nvPr/>
        </p:nvSpPr>
        <p:spPr>
          <a:xfrm>
            <a:off x="7852426" y="3291840"/>
            <a:ext cx="212598" cy="192024"/>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300" u="none" cap="none" strike="noStrike">
                <a:solidFill>
                  <a:srgbClr val="202638"/>
                </a:solidFill>
                <a:latin typeface="Comic Neue"/>
                <a:ea typeface="Comic Neue"/>
                <a:cs typeface="Comic Neue"/>
                <a:sym typeface="Comic Neue"/>
              </a:rPr>
              <a:t>5</a:t>
            </a:r>
            <a:endParaRPr sz="1100"/>
          </a:p>
        </p:txBody>
      </p:sp>
      <p:sp>
        <p:nvSpPr>
          <p:cNvPr id="365" name="Google Shape;365;p35"/>
          <p:cNvSpPr txBox="1"/>
          <p:nvPr/>
        </p:nvSpPr>
        <p:spPr>
          <a:xfrm>
            <a:off x="5843028" y="3504438"/>
            <a:ext cx="2750064" cy="15773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 sz="800" u="none" cap="none" strike="noStrike">
                <a:solidFill>
                  <a:srgbClr val="566461"/>
                </a:solidFill>
                <a:latin typeface="Arial"/>
                <a:ea typeface="Arial"/>
                <a:cs typeface="Arial"/>
                <a:sym typeface="Arial"/>
              </a:rPr>
              <a:t>Example settings, not actual cat / dog weights.</a:t>
            </a:r>
            <a:endParaRPr sz="1100"/>
          </a:p>
        </p:txBody>
      </p:sp>
      <p:cxnSp>
        <p:nvCxnSpPr>
          <p:cNvPr id="366" name="Google Shape;366;p35"/>
          <p:cNvCxnSpPr/>
          <p:nvPr/>
        </p:nvCxnSpPr>
        <p:spPr>
          <a:xfrm>
            <a:off x="5836170" y="3758184"/>
            <a:ext cx="2798070" cy="0"/>
          </a:xfrm>
          <a:prstGeom prst="straightConnector1">
            <a:avLst/>
          </a:prstGeom>
          <a:noFill/>
          <a:ln cap="flat" cmpd="sng" w="30475">
            <a:solidFill>
              <a:srgbClr val="B5A4EE"/>
            </a:solidFill>
            <a:prstDash val="solid"/>
            <a:round/>
            <a:headEnd len="sm" w="sm" type="none"/>
            <a:tailEnd len="sm" w="sm" type="none"/>
          </a:ln>
          <a:effectLst>
            <a:outerShdw blurRad="40000" rotWithShape="0" dir="5400000" dist="20000">
              <a:srgbClr val="000000">
                <a:alpha val="38039"/>
              </a:srgbClr>
            </a:outerShdw>
          </a:effectLst>
        </p:spPr>
      </p:cxnSp>
      <p:sp>
        <p:nvSpPr>
          <p:cNvPr id="367" name="Google Shape;367;p35"/>
          <p:cNvSpPr txBox="1"/>
          <p:nvPr/>
        </p:nvSpPr>
        <p:spPr>
          <a:xfrm>
            <a:off x="5836170" y="3874770"/>
            <a:ext cx="2743206" cy="19888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1200" u="none" cap="none" strike="noStrike">
                <a:solidFill>
                  <a:srgbClr val="202638"/>
                </a:solidFill>
                <a:latin typeface="Arial"/>
                <a:ea typeface="Arial"/>
                <a:cs typeface="Arial"/>
                <a:sym typeface="Arial"/>
              </a:rPr>
              <a:t>LEARNING RATE  /  “STEP SIZE”</a:t>
            </a:r>
            <a:endParaRPr sz="1100"/>
          </a:p>
        </p:txBody>
      </p:sp>
      <p:sp>
        <p:nvSpPr>
          <p:cNvPr id="368" name="Google Shape;368;p35"/>
          <p:cNvSpPr txBox="1"/>
          <p:nvPr/>
        </p:nvSpPr>
        <p:spPr>
          <a:xfrm>
            <a:off x="5836170" y="4135374"/>
            <a:ext cx="2743206" cy="3703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 sz="1300" u="none" cap="none" strike="noStrike">
                <a:solidFill>
                  <a:srgbClr val="202638"/>
                </a:solidFill>
                <a:latin typeface="Arial"/>
                <a:ea typeface="Arial"/>
                <a:cs typeface="Arial"/>
                <a:sym typeface="Arial"/>
              </a:rPr>
              <a:t>Tiny steps can be slow.</a:t>
            </a:r>
            <a:endParaRPr sz="1100"/>
          </a:p>
          <a:p>
            <a:pPr indent="0" lvl="0" marL="0" marR="0" rtl="0" algn="l">
              <a:lnSpc>
                <a:spcPct val="108000"/>
              </a:lnSpc>
              <a:spcBef>
                <a:spcPts val="0"/>
              </a:spcBef>
              <a:spcAft>
                <a:spcPts val="0"/>
              </a:spcAft>
              <a:buNone/>
            </a:pPr>
            <a:r>
              <a:rPr b="0" i="0" lang="en" sz="1300" u="none" cap="none" strike="noStrike">
                <a:solidFill>
                  <a:srgbClr val="202638"/>
                </a:solidFill>
                <a:latin typeface="Arial"/>
                <a:ea typeface="Arial"/>
                <a:cs typeface="Arial"/>
                <a:sym typeface="Arial"/>
              </a:rPr>
              <a:t>Huge jumps may overshoot.</a:t>
            </a:r>
            <a:endParaRPr sz="1100"/>
          </a:p>
        </p:txBody>
      </p:sp>
      <p:sp>
        <p:nvSpPr>
          <p:cNvPr id="369" name="Google Shape;369;p35"/>
          <p:cNvSpPr/>
          <p:nvPr/>
        </p:nvSpPr>
        <p:spPr>
          <a:xfrm>
            <a:off x="363475" y="4752594"/>
            <a:ext cx="8421641" cy="212598"/>
          </a:xfrm>
          <a:prstGeom prst="rect">
            <a:avLst/>
          </a:prstGeom>
          <a:solidFill>
            <a:srgbClr val="FFE469"/>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0" name="Google Shape;370;p35"/>
          <p:cNvSpPr txBox="1"/>
          <p:nvPr/>
        </p:nvSpPr>
        <p:spPr>
          <a:xfrm>
            <a:off x="459487" y="4704588"/>
            <a:ext cx="8215901" cy="301752"/>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 sz="1700" u="none" cap="none" strike="noStrike">
                <a:solidFill>
                  <a:srgbClr val="202638"/>
                </a:solidFill>
                <a:latin typeface="Comic Neue"/>
                <a:ea typeface="Comic Neue"/>
                <a:cs typeface="Comic Neue"/>
                <a:sym typeface="Comic Neue"/>
              </a:rPr>
              <a:t>Going downhill means smaller loss, not always smaller weights!</a:t>
            </a:r>
            <a:endParaRPr sz="1100"/>
          </a:p>
        </p:txBody>
      </p:sp>
      <p:sp>
        <p:nvSpPr>
          <p:cNvPr id="371" name="Google Shape;371;p35"/>
          <p:cNvSpPr txBox="1"/>
          <p:nvPr/>
        </p:nvSpPr>
        <p:spPr>
          <a:xfrm>
            <a:off x="1748794" y="5006340"/>
            <a:ext cx="5692152" cy="1028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600" u="none" cap="none" strike="noStrike">
                <a:solidFill>
                  <a:srgbClr val="566461"/>
                </a:solidFill>
                <a:latin typeface="Arial"/>
                <a:ea typeface="Arial"/>
                <a:cs typeface="Arial"/>
                <a:sym typeface="Arial"/>
              </a:rPr>
              <a:t>Illustrative example. Sources: Google Machine Learning Crash Course and Google Codelabs. Details in notes.</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5"/>
        </a:solidFill>
      </p:bgPr>
    </p:bg>
    <p:spTree>
      <p:nvGrpSpPr>
        <p:cNvPr id="376" name="Shape 376"/>
        <p:cNvGrpSpPr/>
        <p:nvPr/>
      </p:nvGrpSpPr>
      <p:grpSpPr>
        <a:xfrm>
          <a:off x="0" y="0"/>
          <a:ext cx="0" cy="0"/>
          <a:chOff x="0" y="0"/>
          <a:chExt cx="0" cy="0"/>
        </a:xfrm>
      </p:grpSpPr>
      <p:sp>
        <p:nvSpPr>
          <p:cNvPr id="377" name="Google Shape;377;p36"/>
          <p:cNvSpPr/>
          <p:nvPr/>
        </p:nvSpPr>
        <p:spPr>
          <a:xfrm>
            <a:off x="300038" y="257175"/>
            <a:ext cx="4107656" cy="285750"/>
          </a:xfrm>
          <a:prstGeom prst="rect">
            <a:avLst/>
          </a:prstGeom>
          <a:solidFill>
            <a:srgbClr val="E3BF42"/>
          </a:solidFill>
          <a:ln cap="flat" cmpd="sng" w="28575">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8" name="Google Shape;378;p36"/>
          <p:cNvSpPr/>
          <p:nvPr/>
        </p:nvSpPr>
        <p:spPr>
          <a:xfrm>
            <a:off x="407194" y="321469"/>
            <a:ext cx="3893344" cy="171450"/>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700"/>
              <a:buFont typeface="Verdana"/>
              <a:buNone/>
            </a:pPr>
            <a:r>
              <a:rPr b="1" i="0" lang="en" sz="700">
                <a:solidFill>
                  <a:srgbClr val="161A1D"/>
                </a:solidFill>
                <a:latin typeface="Verdana"/>
                <a:ea typeface="Verdana"/>
                <a:cs typeface="Verdana"/>
                <a:sym typeface="Verdana"/>
              </a:rPr>
              <a:t>A04   /   ENTROPY AND CROSS ENTROPY   /   ESTHER ODAIBO</a:t>
            </a:r>
            <a:endParaRPr sz="1100"/>
          </a:p>
        </p:txBody>
      </p:sp>
      <p:sp>
        <p:nvSpPr>
          <p:cNvPr id="379" name="Google Shape;379;p36"/>
          <p:cNvSpPr/>
          <p:nvPr/>
        </p:nvSpPr>
        <p:spPr>
          <a:xfrm>
            <a:off x="392906" y="700088"/>
            <a:ext cx="8358188" cy="471488"/>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2400"/>
              <a:buFont typeface="Verdana"/>
              <a:buNone/>
            </a:pPr>
            <a:r>
              <a:rPr b="1" i="0" lang="en" sz="2400">
                <a:solidFill>
                  <a:srgbClr val="161A1D"/>
                </a:solidFill>
                <a:latin typeface="Verdana"/>
                <a:ea typeface="Verdana"/>
                <a:cs typeface="Verdana"/>
                <a:sym typeface="Verdana"/>
              </a:rPr>
              <a:t>Entropy: How Unsure Is the Computer?</a:t>
            </a:r>
            <a:endParaRPr sz="1100"/>
          </a:p>
        </p:txBody>
      </p:sp>
      <p:sp>
        <p:nvSpPr>
          <p:cNvPr id="380" name="Google Shape;380;p36"/>
          <p:cNvSpPr/>
          <p:nvPr/>
        </p:nvSpPr>
        <p:spPr>
          <a:xfrm>
            <a:off x="421481" y="1171575"/>
            <a:ext cx="8251031" cy="300038"/>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4D5154"/>
              </a:buClr>
              <a:buSzPts val="1100"/>
              <a:buFont typeface="Verdana"/>
              <a:buNone/>
            </a:pPr>
            <a:r>
              <a:rPr b="0" i="0" lang="en" sz="1100">
                <a:solidFill>
                  <a:srgbClr val="4D5154"/>
                </a:solidFill>
                <a:latin typeface="Verdana"/>
                <a:ea typeface="Verdana"/>
                <a:cs typeface="Verdana"/>
                <a:sym typeface="Verdana"/>
              </a:rPr>
              <a:t>Entropy turns the computer's uncertainty into a number.</a:t>
            </a:r>
            <a:endParaRPr sz="1100"/>
          </a:p>
        </p:txBody>
      </p:sp>
      <p:sp>
        <p:nvSpPr>
          <p:cNvPr id="381" name="Google Shape;381;p36"/>
          <p:cNvSpPr/>
          <p:nvPr/>
        </p:nvSpPr>
        <p:spPr>
          <a:xfrm>
            <a:off x="250031" y="200025"/>
            <a:ext cx="1321594" cy="21431"/>
          </a:xfrm>
          <a:prstGeom prst="rect">
            <a:avLst/>
          </a:prstGeom>
          <a:solidFill>
            <a:srgbClr val="161A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2" name="Google Shape;382;p36"/>
          <p:cNvSpPr/>
          <p:nvPr/>
        </p:nvSpPr>
        <p:spPr>
          <a:xfrm>
            <a:off x="250031" y="200025"/>
            <a:ext cx="21431" cy="414338"/>
          </a:xfrm>
          <a:prstGeom prst="rect">
            <a:avLst/>
          </a:prstGeom>
          <a:solidFill>
            <a:srgbClr val="161A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3" name="Google Shape;383;p36"/>
          <p:cNvSpPr/>
          <p:nvPr/>
        </p:nvSpPr>
        <p:spPr>
          <a:xfrm>
            <a:off x="7643813" y="200025"/>
            <a:ext cx="1250156" cy="21431"/>
          </a:xfrm>
          <a:prstGeom prst="rect">
            <a:avLst/>
          </a:prstGeom>
          <a:solidFill>
            <a:srgbClr val="161A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4" name="Google Shape;384;p36"/>
          <p:cNvSpPr/>
          <p:nvPr/>
        </p:nvSpPr>
        <p:spPr>
          <a:xfrm>
            <a:off x="8872538" y="200025"/>
            <a:ext cx="21431" cy="414338"/>
          </a:xfrm>
          <a:prstGeom prst="rect">
            <a:avLst/>
          </a:prstGeom>
          <a:solidFill>
            <a:srgbClr val="161A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5" name="Google Shape;385;p36"/>
          <p:cNvSpPr/>
          <p:nvPr/>
        </p:nvSpPr>
        <p:spPr>
          <a:xfrm>
            <a:off x="400050" y="1571625"/>
            <a:ext cx="5250656" cy="2786063"/>
          </a:xfrm>
          <a:prstGeom prst="roundRect">
            <a:avLst>
              <a:gd fmla="val 3077" name="adj"/>
            </a:avLst>
          </a:prstGeom>
          <a:solidFill>
            <a:srgbClr val="FFFDF8"/>
          </a:solidFill>
          <a:ln cap="flat" cmpd="sng" w="3810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id="386" name="Google Shape;386;p36"/>
          <p:cNvPicPr preferRelativeResize="0"/>
          <p:nvPr/>
        </p:nvPicPr>
        <p:blipFill rotWithShape="1">
          <a:blip r:embed="rId3">
            <a:alphaModFix/>
          </a:blip>
          <a:srcRect b="0" l="0" r="0" t="0"/>
          <a:stretch/>
        </p:blipFill>
        <p:spPr>
          <a:xfrm>
            <a:off x="689820" y="1650206"/>
            <a:ext cx="4671117" cy="2628900"/>
          </a:xfrm>
          <a:prstGeom prst="roundRect">
            <a:avLst>
              <a:gd fmla="val 2174" name="adj"/>
            </a:avLst>
          </a:prstGeom>
          <a:noFill/>
          <a:ln>
            <a:noFill/>
          </a:ln>
        </p:spPr>
      </p:pic>
      <p:sp>
        <p:nvSpPr>
          <p:cNvPr id="387" name="Google Shape;387;p36"/>
          <p:cNvSpPr/>
          <p:nvPr/>
        </p:nvSpPr>
        <p:spPr>
          <a:xfrm>
            <a:off x="5857875" y="1571625"/>
            <a:ext cx="2871788" cy="2786063"/>
          </a:xfrm>
          <a:prstGeom prst="roundRect">
            <a:avLst>
              <a:gd fmla="val 3077" name="adj"/>
            </a:avLst>
          </a:prstGeom>
          <a:solidFill>
            <a:srgbClr val="FFFDF8"/>
          </a:solidFill>
          <a:ln cap="flat" cmpd="sng" w="3810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8" name="Google Shape;388;p36"/>
          <p:cNvSpPr/>
          <p:nvPr/>
        </p:nvSpPr>
        <p:spPr>
          <a:xfrm>
            <a:off x="6029325" y="1728788"/>
            <a:ext cx="1185863" cy="200025"/>
          </a:xfrm>
          <a:prstGeom prst="rect">
            <a:avLst/>
          </a:prstGeom>
          <a:solidFill>
            <a:srgbClr val="57B8AD"/>
          </a:solidFill>
          <a:ln cap="flat" cmpd="sng" w="1905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9" name="Google Shape;389;p36"/>
          <p:cNvSpPr/>
          <p:nvPr/>
        </p:nvSpPr>
        <p:spPr>
          <a:xfrm>
            <a:off x="6086475" y="1750219"/>
            <a:ext cx="1071563" cy="142875"/>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700"/>
              <a:buFont typeface="Verdana"/>
              <a:buNone/>
            </a:pPr>
            <a:r>
              <a:rPr b="1" i="0" lang="en" sz="700">
                <a:solidFill>
                  <a:srgbClr val="161A1D"/>
                </a:solidFill>
                <a:latin typeface="Verdana"/>
                <a:ea typeface="Verdana"/>
                <a:cs typeface="Verdana"/>
                <a:sym typeface="Verdana"/>
              </a:rPr>
              <a:t>THE REAL IDEA</a:t>
            </a:r>
            <a:endParaRPr sz="1100"/>
          </a:p>
        </p:txBody>
      </p:sp>
      <p:sp>
        <p:nvSpPr>
          <p:cNvPr id="390" name="Google Shape;390;p36"/>
          <p:cNvSpPr/>
          <p:nvPr/>
        </p:nvSpPr>
        <p:spPr>
          <a:xfrm>
            <a:off x="6029325" y="2014538"/>
            <a:ext cx="2500313" cy="357188"/>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161A1D"/>
              </a:buClr>
              <a:buSzPts val="1100"/>
              <a:buFont typeface="Verdana"/>
              <a:buNone/>
            </a:pPr>
            <a:r>
              <a:rPr b="1" i="0" lang="en" sz="1100">
                <a:solidFill>
                  <a:srgbClr val="161A1D"/>
                </a:solidFill>
                <a:latin typeface="Verdana"/>
                <a:ea typeface="Verdana"/>
                <a:cs typeface="Verdana"/>
                <a:sym typeface="Verdana"/>
              </a:rPr>
              <a:t>The computer gives every possible answer a chance.</a:t>
            </a:r>
            <a:endParaRPr sz="1100"/>
          </a:p>
        </p:txBody>
      </p:sp>
      <p:sp>
        <p:nvSpPr>
          <p:cNvPr id="391" name="Google Shape;391;p36"/>
          <p:cNvSpPr/>
          <p:nvPr/>
        </p:nvSpPr>
        <p:spPr>
          <a:xfrm>
            <a:off x="6029325" y="2400300"/>
            <a:ext cx="2500313" cy="500063"/>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161A1D"/>
              </a:buClr>
              <a:buSzPts val="1000"/>
              <a:buFont typeface="Verdana"/>
              <a:buNone/>
            </a:pPr>
            <a:r>
              <a:rPr b="0" i="0" lang="en" sz="1000">
                <a:solidFill>
                  <a:srgbClr val="161A1D"/>
                </a:solidFill>
                <a:latin typeface="Verdana"/>
                <a:ea typeface="Verdana"/>
                <a:cs typeface="Verdana"/>
                <a:sym typeface="Verdana"/>
              </a:rPr>
              <a:t>Similar chances = high entropy</a:t>
            </a:r>
            <a:endParaRPr sz="1100"/>
          </a:p>
          <a:p>
            <a:pPr indent="0" lvl="0" marL="0" marR="0" rtl="0" algn="l">
              <a:lnSpc>
                <a:spcPct val="100000"/>
              </a:lnSpc>
              <a:spcBef>
                <a:spcPts val="0"/>
              </a:spcBef>
              <a:spcAft>
                <a:spcPts val="0"/>
              </a:spcAft>
              <a:buClr>
                <a:srgbClr val="161A1D"/>
              </a:buClr>
              <a:buSzPts val="1000"/>
              <a:buFont typeface="Verdana"/>
              <a:buNone/>
            </a:pPr>
            <a:r>
              <a:rPr b="0" i="0" lang="en" sz="1000">
                <a:solidFill>
                  <a:srgbClr val="161A1D"/>
                </a:solidFill>
                <a:latin typeface="Verdana"/>
                <a:ea typeface="Verdana"/>
                <a:cs typeface="Verdana"/>
                <a:sym typeface="Verdana"/>
              </a:rPr>
              <a:t>One clear favorite = low entropy</a:t>
            </a:r>
            <a:endParaRPr sz="1100"/>
          </a:p>
        </p:txBody>
      </p:sp>
      <p:sp>
        <p:nvSpPr>
          <p:cNvPr id="392" name="Google Shape;392;p36"/>
          <p:cNvSpPr/>
          <p:nvPr/>
        </p:nvSpPr>
        <p:spPr>
          <a:xfrm>
            <a:off x="6029325" y="3000375"/>
            <a:ext cx="1243013" cy="200025"/>
          </a:xfrm>
          <a:prstGeom prst="rect">
            <a:avLst/>
          </a:prstGeom>
          <a:solidFill>
            <a:srgbClr val="E3BF42"/>
          </a:solidFill>
          <a:ln cap="flat" cmpd="sng" w="1905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3" name="Google Shape;393;p36"/>
          <p:cNvSpPr/>
          <p:nvPr/>
        </p:nvSpPr>
        <p:spPr>
          <a:xfrm>
            <a:off x="6086475" y="3021806"/>
            <a:ext cx="1128713" cy="142875"/>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700"/>
              <a:buFont typeface="Verdana"/>
              <a:buNone/>
            </a:pPr>
            <a:r>
              <a:rPr b="1" i="0" lang="en" sz="700">
                <a:solidFill>
                  <a:srgbClr val="161A1D"/>
                </a:solidFill>
                <a:latin typeface="Verdana"/>
                <a:ea typeface="Verdana"/>
                <a:cs typeface="Verdana"/>
                <a:sym typeface="Verdana"/>
              </a:rPr>
              <a:t>WHY IT MATTERS</a:t>
            </a:r>
            <a:endParaRPr sz="1100"/>
          </a:p>
        </p:txBody>
      </p:sp>
      <p:sp>
        <p:nvSpPr>
          <p:cNvPr id="394" name="Google Shape;394;p36"/>
          <p:cNvSpPr/>
          <p:nvPr/>
        </p:nvSpPr>
        <p:spPr>
          <a:xfrm>
            <a:off x="6029325" y="3278981"/>
            <a:ext cx="2500313" cy="457200"/>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161A1D"/>
              </a:buClr>
              <a:buSzPts val="900"/>
              <a:buFont typeface="Verdana"/>
              <a:buNone/>
            </a:pPr>
            <a:r>
              <a:rPr b="0" i="0" lang="en" sz="900">
                <a:solidFill>
                  <a:srgbClr val="161A1D"/>
                </a:solidFill>
                <a:latin typeface="Verdana"/>
                <a:ea typeface="Verdana"/>
                <a:cs typeface="Verdana"/>
                <a:sym typeface="Verdana"/>
              </a:rPr>
              <a:t>It shows whether the model feels certain or unsure before it chooses a label.</a:t>
            </a:r>
            <a:endParaRPr sz="1100"/>
          </a:p>
        </p:txBody>
      </p:sp>
      <p:sp>
        <p:nvSpPr>
          <p:cNvPr id="395" name="Google Shape;395;p36"/>
          <p:cNvSpPr/>
          <p:nvPr/>
        </p:nvSpPr>
        <p:spPr>
          <a:xfrm>
            <a:off x="6029325" y="3821906"/>
            <a:ext cx="1750219" cy="200025"/>
          </a:xfrm>
          <a:prstGeom prst="rect">
            <a:avLst/>
          </a:prstGeom>
          <a:solidFill>
            <a:srgbClr val="AAA1D7"/>
          </a:solidFill>
          <a:ln cap="flat" cmpd="sng" w="1905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6" name="Google Shape;396;p36"/>
          <p:cNvSpPr/>
          <p:nvPr/>
        </p:nvSpPr>
        <p:spPr>
          <a:xfrm>
            <a:off x="6086475" y="3843338"/>
            <a:ext cx="1635919" cy="142875"/>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700"/>
              <a:buFont typeface="Verdana"/>
              <a:buNone/>
            </a:pPr>
            <a:r>
              <a:rPr b="1" i="0" lang="en" sz="700">
                <a:solidFill>
                  <a:srgbClr val="161A1D"/>
                </a:solidFill>
                <a:latin typeface="Verdana"/>
                <a:ea typeface="Verdana"/>
                <a:cs typeface="Verdana"/>
                <a:sym typeface="Verdana"/>
              </a:rPr>
              <a:t>WHERE THE ANALOGY STOPS</a:t>
            </a:r>
            <a:endParaRPr sz="1100"/>
          </a:p>
        </p:txBody>
      </p:sp>
      <p:sp>
        <p:nvSpPr>
          <p:cNvPr id="397" name="Google Shape;397;p36"/>
          <p:cNvSpPr/>
          <p:nvPr/>
        </p:nvSpPr>
        <p:spPr>
          <a:xfrm>
            <a:off x="6029325" y="4071938"/>
            <a:ext cx="2500313" cy="300038"/>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161A1D"/>
              </a:buClr>
              <a:buSzPts val="800"/>
              <a:buFont typeface="Verdana"/>
              <a:buNone/>
            </a:pPr>
            <a:r>
              <a:rPr b="0" i="0" lang="en" sz="800">
                <a:solidFill>
                  <a:srgbClr val="161A1D"/>
                </a:solidFill>
                <a:latin typeface="Verdana"/>
                <a:ea typeface="Verdana"/>
                <a:cs typeface="Verdana"/>
                <a:sym typeface="Verdana"/>
              </a:rPr>
              <a:t>A real network does not feel confused. It calculates entropy from probabilities.</a:t>
            </a:r>
            <a:endParaRPr sz="1100"/>
          </a:p>
        </p:txBody>
      </p:sp>
      <p:sp>
        <p:nvSpPr>
          <p:cNvPr id="398" name="Google Shape;398;p36"/>
          <p:cNvSpPr/>
          <p:nvPr/>
        </p:nvSpPr>
        <p:spPr>
          <a:xfrm>
            <a:off x="500063" y="4486275"/>
            <a:ext cx="8143875" cy="300038"/>
          </a:xfrm>
          <a:prstGeom prst="rect">
            <a:avLst/>
          </a:prstGeom>
          <a:solidFill>
            <a:srgbClr val="E3BF42"/>
          </a:solidFill>
          <a:ln cap="flat" cmpd="sng" w="1905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9" name="Google Shape;399;p36"/>
          <p:cNvSpPr/>
          <p:nvPr/>
        </p:nvSpPr>
        <p:spPr>
          <a:xfrm>
            <a:off x="642938" y="4543425"/>
            <a:ext cx="7858125" cy="178594"/>
          </a:xfrm>
          <a:prstGeom prst="rect">
            <a:avLst/>
          </a:prstGeom>
          <a:noFill/>
          <a:ln>
            <a:noFill/>
          </a:ln>
        </p:spPr>
        <p:txBody>
          <a:bodyPr anchorCtr="0" anchor="ctr" bIns="14300" lIns="28575" spcFirstLastPara="1" rIns="28575" wrap="square" tIns="14300">
            <a:noAutofit/>
          </a:bodyPr>
          <a:lstStyle/>
          <a:p>
            <a:pPr indent="0" lvl="0" marL="0" marR="0" rtl="0" algn="ctr">
              <a:lnSpc>
                <a:spcPct val="100000"/>
              </a:lnSpc>
              <a:spcBef>
                <a:spcPts val="0"/>
              </a:spcBef>
              <a:spcAft>
                <a:spcPts val="0"/>
              </a:spcAft>
              <a:buClr>
                <a:srgbClr val="161A1D"/>
              </a:buClr>
              <a:buSzPts val="1000"/>
              <a:buFont typeface="Verdana"/>
              <a:buNone/>
            </a:pPr>
            <a:r>
              <a:rPr b="1" i="0" lang="en" sz="1000">
                <a:solidFill>
                  <a:srgbClr val="161A1D"/>
                </a:solidFill>
                <a:latin typeface="Verdana"/>
                <a:ea typeface="Verdana"/>
                <a:cs typeface="Verdana"/>
                <a:sym typeface="Verdana"/>
              </a:rPr>
              <a:t>Quick check: Which bag has greater entropy, and what makes it greater?</a:t>
            </a:r>
            <a:endParaRPr sz="1100"/>
          </a:p>
        </p:txBody>
      </p:sp>
      <p:sp>
        <p:nvSpPr>
          <p:cNvPr id="400" name="Google Shape;400;p36"/>
          <p:cNvSpPr/>
          <p:nvPr/>
        </p:nvSpPr>
        <p:spPr>
          <a:xfrm>
            <a:off x="464344" y="4879181"/>
            <a:ext cx="5000625" cy="128588"/>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4D5154"/>
              </a:buClr>
              <a:buSzPts val="600"/>
              <a:buFont typeface="Verdana"/>
              <a:buNone/>
            </a:pPr>
            <a:r>
              <a:rPr b="0" i="0" lang="en" sz="600">
                <a:solidFill>
                  <a:srgbClr val="4D5154"/>
                </a:solidFill>
                <a:latin typeface="Verdana"/>
                <a:ea typeface="Verdana"/>
                <a:cs typeface="Verdana"/>
                <a:sym typeface="Verdana"/>
              </a:rPr>
              <a:t>Source: Google for Developers, Machine Learning Glossary</a:t>
            </a:r>
            <a:endParaRPr sz="1100"/>
          </a:p>
        </p:txBody>
      </p:sp>
      <p:sp>
        <p:nvSpPr>
          <p:cNvPr id="401" name="Google Shape;401;p36"/>
          <p:cNvSpPr/>
          <p:nvPr/>
        </p:nvSpPr>
        <p:spPr>
          <a:xfrm>
            <a:off x="6965156" y="4864894"/>
            <a:ext cx="1750219" cy="128588"/>
          </a:xfrm>
          <a:prstGeom prst="rect">
            <a:avLst/>
          </a:prstGeom>
          <a:noFill/>
          <a:ln>
            <a:noFill/>
          </a:ln>
        </p:spPr>
        <p:txBody>
          <a:bodyPr anchorCtr="0" anchor="t" bIns="14300" lIns="28575" spcFirstLastPara="1" rIns="28575" wrap="square" tIns="14300">
            <a:noAutofit/>
          </a:bodyPr>
          <a:lstStyle/>
          <a:p>
            <a:pPr indent="0" lvl="0" marL="0" marR="0" rtl="0" algn="r">
              <a:lnSpc>
                <a:spcPct val="100000"/>
              </a:lnSpc>
              <a:spcBef>
                <a:spcPts val="0"/>
              </a:spcBef>
              <a:spcAft>
                <a:spcPts val="0"/>
              </a:spcAft>
              <a:buClr>
                <a:srgbClr val="4D5154"/>
              </a:buClr>
              <a:buSzPts val="600"/>
              <a:buFont typeface="Verdana"/>
              <a:buNone/>
            </a:pPr>
            <a:r>
              <a:rPr b="1" i="0" lang="en" sz="600">
                <a:solidFill>
                  <a:srgbClr val="4D5154"/>
                </a:solidFill>
                <a:latin typeface="Verdana"/>
                <a:ea typeface="Verdana"/>
                <a:cs typeface="Verdana"/>
                <a:sym typeface="Verdana"/>
              </a:rPr>
              <a:t>ESTHER ODAIBO  |  GROUP 4</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5"/>
        </a:solidFill>
      </p:bgPr>
    </p:bg>
    <p:spTree>
      <p:nvGrpSpPr>
        <p:cNvPr id="406" name="Shape 406"/>
        <p:cNvGrpSpPr/>
        <p:nvPr/>
      </p:nvGrpSpPr>
      <p:grpSpPr>
        <a:xfrm>
          <a:off x="0" y="0"/>
          <a:ext cx="0" cy="0"/>
          <a:chOff x="0" y="0"/>
          <a:chExt cx="0" cy="0"/>
        </a:xfrm>
      </p:grpSpPr>
      <p:sp>
        <p:nvSpPr>
          <p:cNvPr id="407" name="Google Shape;407;p37"/>
          <p:cNvSpPr/>
          <p:nvPr/>
        </p:nvSpPr>
        <p:spPr>
          <a:xfrm>
            <a:off x="300038" y="257175"/>
            <a:ext cx="4107656" cy="285750"/>
          </a:xfrm>
          <a:prstGeom prst="rect">
            <a:avLst/>
          </a:prstGeom>
          <a:solidFill>
            <a:srgbClr val="E3BF42"/>
          </a:solidFill>
          <a:ln cap="flat" cmpd="sng" w="28575">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8" name="Google Shape;408;p37"/>
          <p:cNvSpPr/>
          <p:nvPr/>
        </p:nvSpPr>
        <p:spPr>
          <a:xfrm>
            <a:off x="407194" y="321469"/>
            <a:ext cx="3893344" cy="171450"/>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700"/>
              <a:buFont typeface="Verdana"/>
              <a:buNone/>
            </a:pPr>
            <a:r>
              <a:rPr b="1" i="0" lang="en" sz="700">
                <a:solidFill>
                  <a:srgbClr val="161A1D"/>
                </a:solidFill>
                <a:latin typeface="Verdana"/>
                <a:ea typeface="Verdana"/>
                <a:cs typeface="Verdana"/>
                <a:sym typeface="Verdana"/>
              </a:rPr>
              <a:t>A04   /   ENTROPY AND CROSS ENTROPY   /   ESTHER ODAIBO</a:t>
            </a:r>
            <a:endParaRPr sz="1100"/>
          </a:p>
        </p:txBody>
      </p:sp>
      <p:sp>
        <p:nvSpPr>
          <p:cNvPr id="409" name="Google Shape;409;p37"/>
          <p:cNvSpPr/>
          <p:nvPr/>
        </p:nvSpPr>
        <p:spPr>
          <a:xfrm>
            <a:off x="392906" y="700088"/>
            <a:ext cx="8358188" cy="471488"/>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2100"/>
              <a:buFont typeface="Verdana"/>
              <a:buNone/>
            </a:pPr>
            <a:r>
              <a:rPr b="1" i="0" lang="en" sz="2100">
                <a:solidFill>
                  <a:srgbClr val="161A1D"/>
                </a:solidFill>
                <a:latin typeface="Verdana"/>
                <a:ea typeface="Verdana"/>
                <a:cs typeface="Verdana"/>
                <a:sym typeface="Verdana"/>
              </a:rPr>
              <a:t>Cross Entropy: The Mistake Score</a:t>
            </a:r>
            <a:endParaRPr sz="1100"/>
          </a:p>
        </p:txBody>
      </p:sp>
      <p:sp>
        <p:nvSpPr>
          <p:cNvPr id="410" name="Google Shape;410;p37"/>
          <p:cNvSpPr/>
          <p:nvPr/>
        </p:nvSpPr>
        <p:spPr>
          <a:xfrm>
            <a:off x="421481" y="1171575"/>
            <a:ext cx="8251031" cy="300038"/>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4D5154"/>
              </a:buClr>
              <a:buSzPts val="1100"/>
              <a:buFont typeface="Verdana"/>
              <a:buNone/>
            </a:pPr>
            <a:r>
              <a:rPr b="0" i="0" lang="en" sz="1100">
                <a:solidFill>
                  <a:srgbClr val="4D5154"/>
                </a:solidFill>
                <a:latin typeface="Verdana"/>
                <a:ea typeface="Verdana"/>
                <a:cs typeface="Verdana"/>
                <a:sym typeface="Verdana"/>
              </a:rPr>
              <a:t>Cross entropy compares the prediction with the correct answer.</a:t>
            </a:r>
            <a:endParaRPr sz="1100"/>
          </a:p>
        </p:txBody>
      </p:sp>
      <p:sp>
        <p:nvSpPr>
          <p:cNvPr id="411" name="Google Shape;411;p37"/>
          <p:cNvSpPr/>
          <p:nvPr/>
        </p:nvSpPr>
        <p:spPr>
          <a:xfrm>
            <a:off x="250031" y="200025"/>
            <a:ext cx="1321594" cy="21431"/>
          </a:xfrm>
          <a:prstGeom prst="rect">
            <a:avLst/>
          </a:prstGeom>
          <a:solidFill>
            <a:srgbClr val="161A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2" name="Google Shape;412;p37"/>
          <p:cNvSpPr/>
          <p:nvPr/>
        </p:nvSpPr>
        <p:spPr>
          <a:xfrm>
            <a:off x="250031" y="200025"/>
            <a:ext cx="21431" cy="414338"/>
          </a:xfrm>
          <a:prstGeom prst="rect">
            <a:avLst/>
          </a:prstGeom>
          <a:solidFill>
            <a:srgbClr val="161A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3" name="Google Shape;413;p37"/>
          <p:cNvSpPr/>
          <p:nvPr/>
        </p:nvSpPr>
        <p:spPr>
          <a:xfrm>
            <a:off x="7643813" y="200025"/>
            <a:ext cx="1250156" cy="21431"/>
          </a:xfrm>
          <a:prstGeom prst="rect">
            <a:avLst/>
          </a:prstGeom>
          <a:solidFill>
            <a:srgbClr val="161A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4" name="Google Shape;414;p37"/>
          <p:cNvSpPr/>
          <p:nvPr/>
        </p:nvSpPr>
        <p:spPr>
          <a:xfrm>
            <a:off x="8872538" y="200025"/>
            <a:ext cx="21431" cy="414338"/>
          </a:xfrm>
          <a:prstGeom prst="rect">
            <a:avLst/>
          </a:prstGeom>
          <a:solidFill>
            <a:srgbClr val="161A1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5" name="Google Shape;415;p37"/>
          <p:cNvSpPr/>
          <p:nvPr/>
        </p:nvSpPr>
        <p:spPr>
          <a:xfrm>
            <a:off x="400050" y="1571625"/>
            <a:ext cx="5250656" cy="2786063"/>
          </a:xfrm>
          <a:prstGeom prst="roundRect">
            <a:avLst>
              <a:gd fmla="val 3077" name="adj"/>
            </a:avLst>
          </a:prstGeom>
          <a:solidFill>
            <a:srgbClr val="FFFDF8"/>
          </a:solidFill>
          <a:ln cap="flat" cmpd="sng" w="3810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id="416" name="Google Shape;416;p37"/>
          <p:cNvPicPr preferRelativeResize="0"/>
          <p:nvPr/>
        </p:nvPicPr>
        <p:blipFill rotWithShape="1">
          <a:blip r:embed="rId3">
            <a:alphaModFix/>
          </a:blip>
          <a:srcRect b="0" l="0" r="0" t="0"/>
          <a:stretch/>
        </p:blipFill>
        <p:spPr>
          <a:xfrm>
            <a:off x="689820" y="1650206"/>
            <a:ext cx="4671117" cy="2628900"/>
          </a:xfrm>
          <a:prstGeom prst="roundRect">
            <a:avLst>
              <a:gd fmla="val 2174" name="adj"/>
            </a:avLst>
          </a:prstGeom>
          <a:noFill/>
          <a:ln>
            <a:noFill/>
          </a:ln>
        </p:spPr>
      </p:pic>
      <p:sp>
        <p:nvSpPr>
          <p:cNvPr id="417" name="Google Shape;417;p37"/>
          <p:cNvSpPr/>
          <p:nvPr/>
        </p:nvSpPr>
        <p:spPr>
          <a:xfrm>
            <a:off x="5857875" y="1571625"/>
            <a:ext cx="2871788" cy="2786063"/>
          </a:xfrm>
          <a:prstGeom prst="roundRect">
            <a:avLst>
              <a:gd fmla="val 3077" name="adj"/>
            </a:avLst>
          </a:prstGeom>
          <a:solidFill>
            <a:srgbClr val="FFFDF8"/>
          </a:solidFill>
          <a:ln cap="flat" cmpd="sng" w="3810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8" name="Google Shape;418;p37"/>
          <p:cNvSpPr/>
          <p:nvPr/>
        </p:nvSpPr>
        <p:spPr>
          <a:xfrm>
            <a:off x="6029325" y="1728788"/>
            <a:ext cx="1985963" cy="200025"/>
          </a:xfrm>
          <a:prstGeom prst="rect">
            <a:avLst/>
          </a:prstGeom>
          <a:solidFill>
            <a:srgbClr val="E96D61"/>
          </a:solidFill>
          <a:ln cap="flat" cmpd="sng" w="1905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9" name="Google Shape;419;p37"/>
          <p:cNvSpPr/>
          <p:nvPr/>
        </p:nvSpPr>
        <p:spPr>
          <a:xfrm>
            <a:off x="6086475" y="1750219"/>
            <a:ext cx="1871663" cy="142875"/>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700"/>
              <a:buFont typeface="Verdana"/>
              <a:buNone/>
            </a:pPr>
            <a:r>
              <a:rPr b="1" i="0" lang="en" sz="700">
                <a:solidFill>
                  <a:srgbClr val="161A1D"/>
                </a:solidFill>
                <a:latin typeface="Verdana"/>
                <a:ea typeface="Verdana"/>
                <a:cs typeface="Verdana"/>
                <a:sym typeface="Verdana"/>
              </a:rPr>
              <a:t>WHAT PROBLEM DOES IT SOLVE?</a:t>
            </a:r>
            <a:endParaRPr sz="1100"/>
          </a:p>
        </p:txBody>
      </p:sp>
      <p:sp>
        <p:nvSpPr>
          <p:cNvPr id="420" name="Google Shape;420;p37"/>
          <p:cNvSpPr/>
          <p:nvPr/>
        </p:nvSpPr>
        <p:spPr>
          <a:xfrm>
            <a:off x="6029325" y="2000250"/>
            <a:ext cx="2500313" cy="414338"/>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161A1D"/>
              </a:buClr>
              <a:buSzPts val="1000"/>
              <a:buFont typeface="Verdana"/>
              <a:buNone/>
            </a:pPr>
            <a:r>
              <a:rPr b="1" i="0" lang="en" sz="1000">
                <a:solidFill>
                  <a:srgbClr val="161A1D"/>
                </a:solidFill>
                <a:latin typeface="Verdana"/>
                <a:ea typeface="Verdana"/>
                <a:cs typeface="Verdana"/>
                <a:sym typeface="Verdana"/>
              </a:rPr>
              <a:t>It measures how far the predicted chances are from the correct label.</a:t>
            </a:r>
            <a:endParaRPr sz="1100"/>
          </a:p>
        </p:txBody>
      </p:sp>
      <p:sp>
        <p:nvSpPr>
          <p:cNvPr id="421" name="Google Shape;421;p37"/>
          <p:cNvSpPr/>
          <p:nvPr/>
        </p:nvSpPr>
        <p:spPr>
          <a:xfrm>
            <a:off x="6029325" y="2486025"/>
            <a:ext cx="1071563" cy="200025"/>
          </a:xfrm>
          <a:prstGeom prst="rect">
            <a:avLst/>
          </a:prstGeom>
          <a:solidFill>
            <a:srgbClr val="57B8AD"/>
          </a:solidFill>
          <a:ln cap="flat" cmpd="sng" w="1905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2" name="Google Shape;422;p37"/>
          <p:cNvSpPr/>
          <p:nvPr/>
        </p:nvSpPr>
        <p:spPr>
          <a:xfrm>
            <a:off x="6086475" y="2507456"/>
            <a:ext cx="957263" cy="142875"/>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700"/>
              <a:buFont typeface="Verdana"/>
              <a:buNone/>
            </a:pPr>
            <a:r>
              <a:rPr b="1" i="0" lang="en" sz="700">
                <a:solidFill>
                  <a:srgbClr val="161A1D"/>
                </a:solidFill>
                <a:latin typeface="Verdana"/>
                <a:ea typeface="Verdana"/>
                <a:cs typeface="Verdana"/>
                <a:sym typeface="Verdana"/>
              </a:rPr>
              <a:t>THE REAL RULE</a:t>
            </a:r>
            <a:endParaRPr sz="1100"/>
          </a:p>
        </p:txBody>
      </p:sp>
      <p:sp>
        <p:nvSpPr>
          <p:cNvPr id="423" name="Google Shape;423;p37"/>
          <p:cNvSpPr/>
          <p:nvPr/>
        </p:nvSpPr>
        <p:spPr>
          <a:xfrm>
            <a:off x="6029325" y="2750344"/>
            <a:ext cx="2500313" cy="371475"/>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161A1D"/>
              </a:buClr>
              <a:buSzPts val="1000"/>
              <a:buFont typeface="Verdana"/>
              <a:buNone/>
            </a:pPr>
            <a:r>
              <a:rPr b="1" i="0" lang="en" sz="1000">
                <a:solidFill>
                  <a:srgbClr val="161A1D"/>
                </a:solidFill>
                <a:latin typeface="Verdana"/>
                <a:ea typeface="Verdana"/>
                <a:cs typeface="Verdana"/>
                <a:sym typeface="Verdana"/>
              </a:rPr>
              <a:t>Loss = −log(chance given to the correct answer)</a:t>
            </a:r>
            <a:endParaRPr sz="1100"/>
          </a:p>
        </p:txBody>
      </p:sp>
      <p:sp>
        <p:nvSpPr>
          <p:cNvPr id="424" name="Google Shape;424;p37"/>
          <p:cNvSpPr/>
          <p:nvPr/>
        </p:nvSpPr>
        <p:spPr>
          <a:xfrm>
            <a:off x="6029325" y="3136106"/>
            <a:ext cx="2500313" cy="514350"/>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161A1D"/>
              </a:buClr>
              <a:buSzPts val="900"/>
              <a:buFont typeface="Verdana"/>
              <a:buNone/>
            </a:pPr>
            <a:r>
              <a:rPr b="0" i="0" lang="en" sz="900">
                <a:solidFill>
                  <a:srgbClr val="161A1D"/>
                </a:solidFill>
                <a:latin typeface="Verdana"/>
                <a:ea typeface="Verdana"/>
                <a:cs typeface="Verdana"/>
                <a:sym typeface="Verdana"/>
              </a:rPr>
              <a:t>High chance for the correct answer gives a small loss. A confident wrong guess gives a large loss.</a:t>
            </a:r>
            <a:endParaRPr sz="1100"/>
          </a:p>
        </p:txBody>
      </p:sp>
      <p:sp>
        <p:nvSpPr>
          <p:cNvPr id="425" name="Google Shape;425;p37"/>
          <p:cNvSpPr/>
          <p:nvPr/>
        </p:nvSpPr>
        <p:spPr>
          <a:xfrm>
            <a:off x="6029325" y="3714750"/>
            <a:ext cx="1571625" cy="200025"/>
          </a:xfrm>
          <a:prstGeom prst="rect">
            <a:avLst/>
          </a:prstGeom>
          <a:solidFill>
            <a:srgbClr val="E3BF42"/>
          </a:solidFill>
          <a:ln cap="flat" cmpd="sng" w="1905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6" name="Google Shape;426;p37"/>
          <p:cNvSpPr/>
          <p:nvPr/>
        </p:nvSpPr>
        <p:spPr>
          <a:xfrm>
            <a:off x="6086475" y="3736181"/>
            <a:ext cx="1457325" cy="142875"/>
          </a:xfrm>
          <a:prstGeom prst="rect">
            <a:avLst/>
          </a:prstGeom>
          <a:noFill/>
          <a:ln>
            <a:noFill/>
          </a:ln>
        </p:spPr>
        <p:txBody>
          <a:bodyPr anchorCtr="0" anchor="ctr" bIns="14300" lIns="28575" spcFirstLastPara="1" rIns="28575" wrap="square" tIns="14300">
            <a:noAutofit/>
          </a:bodyPr>
          <a:lstStyle/>
          <a:p>
            <a:pPr indent="0" lvl="0" marL="0" marR="0" rtl="0" algn="l">
              <a:lnSpc>
                <a:spcPct val="100000"/>
              </a:lnSpc>
              <a:spcBef>
                <a:spcPts val="0"/>
              </a:spcBef>
              <a:spcAft>
                <a:spcPts val="0"/>
              </a:spcAft>
              <a:buClr>
                <a:srgbClr val="161A1D"/>
              </a:buClr>
              <a:buSzPts val="700"/>
              <a:buFont typeface="Verdana"/>
              <a:buNone/>
            </a:pPr>
            <a:r>
              <a:rPr b="1" i="0" lang="en" sz="700">
                <a:solidFill>
                  <a:srgbClr val="161A1D"/>
                </a:solidFill>
                <a:latin typeface="Verdana"/>
                <a:ea typeface="Verdana"/>
                <a:cs typeface="Verdana"/>
                <a:sym typeface="Verdana"/>
              </a:rPr>
              <a:t>HOW LEARNING USES IT</a:t>
            </a:r>
            <a:endParaRPr sz="1100"/>
          </a:p>
        </p:txBody>
      </p:sp>
      <p:sp>
        <p:nvSpPr>
          <p:cNvPr id="427" name="Google Shape;427;p37"/>
          <p:cNvSpPr/>
          <p:nvPr/>
        </p:nvSpPr>
        <p:spPr>
          <a:xfrm>
            <a:off x="6029325" y="3964781"/>
            <a:ext cx="2500313" cy="385763"/>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161A1D"/>
              </a:buClr>
              <a:buSzPts val="800"/>
              <a:buFont typeface="Verdana"/>
              <a:buNone/>
            </a:pPr>
            <a:r>
              <a:rPr b="0" i="0" lang="en" sz="800">
                <a:solidFill>
                  <a:srgbClr val="161A1D"/>
                </a:solidFill>
                <a:latin typeface="Verdana"/>
                <a:ea typeface="Verdana"/>
                <a:cs typeface="Verdana"/>
                <a:sym typeface="Verdana"/>
              </a:rPr>
              <a:t>Training tries to lower this score. Backpropagation then helps decide which weights to adjust.</a:t>
            </a:r>
            <a:endParaRPr sz="1100"/>
          </a:p>
        </p:txBody>
      </p:sp>
      <p:sp>
        <p:nvSpPr>
          <p:cNvPr id="428" name="Google Shape;428;p37"/>
          <p:cNvSpPr/>
          <p:nvPr/>
        </p:nvSpPr>
        <p:spPr>
          <a:xfrm>
            <a:off x="500063" y="4486275"/>
            <a:ext cx="8143875" cy="300038"/>
          </a:xfrm>
          <a:prstGeom prst="rect">
            <a:avLst/>
          </a:prstGeom>
          <a:solidFill>
            <a:srgbClr val="AAA1D7"/>
          </a:solidFill>
          <a:ln cap="flat" cmpd="sng" w="19050">
            <a:solidFill>
              <a:srgbClr val="161A1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9" name="Google Shape;429;p37"/>
          <p:cNvSpPr/>
          <p:nvPr/>
        </p:nvSpPr>
        <p:spPr>
          <a:xfrm>
            <a:off x="642938" y="4543425"/>
            <a:ext cx="7858125" cy="178594"/>
          </a:xfrm>
          <a:prstGeom prst="rect">
            <a:avLst/>
          </a:prstGeom>
          <a:noFill/>
          <a:ln>
            <a:noFill/>
          </a:ln>
        </p:spPr>
        <p:txBody>
          <a:bodyPr anchorCtr="0" anchor="ctr" bIns="14300" lIns="28575" spcFirstLastPara="1" rIns="28575" wrap="square" tIns="14300">
            <a:noAutofit/>
          </a:bodyPr>
          <a:lstStyle/>
          <a:p>
            <a:pPr indent="0" lvl="0" marL="0" marR="0" rtl="0" algn="ctr">
              <a:lnSpc>
                <a:spcPct val="100000"/>
              </a:lnSpc>
              <a:spcBef>
                <a:spcPts val="0"/>
              </a:spcBef>
              <a:spcAft>
                <a:spcPts val="0"/>
              </a:spcAft>
              <a:buClr>
                <a:srgbClr val="161A1D"/>
              </a:buClr>
              <a:buSzPts val="1000"/>
              <a:buFont typeface="Verdana"/>
              <a:buNone/>
            </a:pPr>
            <a:r>
              <a:rPr b="1" i="0" lang="en" sz="1000">
                <a:solidFill>
                  <a:srgbClr val="161A1D"/>
                </a:solidFill>
                <a:latin typeface="Verdana"/>
                <a:ea typeface="Verdana"/>
                <a:cs typeface="Verdana"/>
                <a:sym typeface="Verdana"/>
              </a:rPr>
              <a:t>Analogy limit: The score measures the mistake. It does not choose the weight changes by itself.</a:t>
            </a:r>
            <a:endParaRPr sz="1100"/>
          </a:p>
        </p:txBody>
      </p:sp>
      <p:sp>
        <p:nvSpPr>
          <p:cNvPr id="430" name="Google Shape;430;p37"/>
          <p:cNvSpPr/>
          <p:nvPr/>
        </p:nvSpPr>
        <p:spPr>
          <a:xfrm>
            <a:off x="464344" y="4879181"/>
            <a:ext cx="5000625" cy="128588"/>
          </a:xfrm>
          <a:prstGeom prst="rect">
            <a:avLst/>
          </a:prstGeom>
          <a:noFill/>
          <a:ln>
            <a:noFill/>
          </a:ln>
        </p:spPr>
        <p:txBody>
          <a:bodyPr anchorCtr="0" anchor="t" bIns="14300" lIns="28575" spcFirstLastPara="1" rIns="28575" wrap="square" tIns="14300">
            <a:noAutofit/>
          </a:bodyPr>
          <a:lstStyle/>
          <a:p>
            <a:pPr indent="0" lvl="0" marL="0" marR="0" rtl="0" algn="l">
              <a:lnSpc>
                <a:spcPct val="100000"/>
              </a:lnSpc>
              <a:spcBef>
                <a:spcPts val="0"/>
              </a:spcBef>
              <a:spcAft>
                <a:spcPts val="0"/>
              </a:spcAft>
              <a:buClr>
                <a:srgbClr val="4D5154"/>
              </a:buClr>
              <a:buSzPts val="600"/>
              <a:buFont typeface="Verdana"/>
              <a:buNone/>
            </a:pPr>
            <a:r>
              <a:rPr b="0" i="0" lang="en" sz="600">
                <a:solidFill>
                  <a:srgbClr val="4D5154"/>
                </a:solidFill>
                <a:latin typeface="Verdana"/>
                <a:ea typeface="Verdana"/>
                <a:cs typeface="Verdana"/>
                <a:sym typeface="Verdana"/>
              </a:rPr>
              <a:t>Source: TensorFlow, CategoricalCrossentropy documentation</a:t>
            </a:r>
            <a:endParaRPr sz="1100"/>
          </a:p>
        </p:txBody>
      </p:sp>
      <p:sp>
        <p:nvSpPr>
          <p:cNvPr id="431" name="Google Shape;431;p37"/>
          <p:cNvSpPr/>
          <p:nvPr/>
        </p:nvSpPr>
        <p:spPr>
          <a:xfrm>
            <a:off x="6965156" y="4864894"/>
            <a:ext cx="1750219" cy="128588"/>
          </a:xfrm>
          <a:prstGeom prst="rect">
            <a:avLst/>
          </a:prstGeom>
          <a:noFill/>
          <a:ln>
            <a:noFill/>
          </a:ln>
        </p:spPr>
        <p:txBody>
          <a:bodyPr anchorCtr="0" anchor="t" bIns="14300" lIns="28575" spcFirstLastPara="1" rIns="28575" wrap="square" tIns="14300">
            <a:noAutofit/>
          </a:bodyPr>
          <a:lstStyle/>
          <a:p>
            <a:pPr indent="0" lvl="0" marL="0" marR="0" rtl="0" algn="r">
              <a:lnSpc>
                <a:spcPct val="100000"/>
              </a:lnSpc>
              <a:spcBef>
                <a:spcPts val="0"/>
              </a:spcBef>
              <a:spcAft>
                <a:spcPts val="0"/>
              </a:spcAft>
              <a:buClr>
                <a:srgbClr val="4D5154"/>
              </a:buClr>
              <a:buSzPts val="600"/>
              <a:buFont typeface="Verdana"/>
              <a:buNone/>
            </a:pPr>
            <a:r>
              <a:rPr b="1" i="0" lang="en" sz="600">
                <a:solidFill>
                  <a:srgbClr val="4D5154"/>
                </a:solidFill>
                <a:latin typeface="Verdana"/>
                <a:ea typeface="Verdana"/>
                <a:cs typeface="Verdana"/>
                <a:sym typeface="Verdana"/>
              </a:rPr>
              <a:t>ESTHER ODAIBO  |  GROUP 4</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descr="/mnt/data/a04_comic_assets/paper.png" id="436" name="Google Shape;436;p38"/>
          <p:cNvPicPr preferRelativeResize="0"/>
          <p:nvPr/>
        </p:nvPicPr>
        <p:blipFill rotWithShape="1">
          <a:blip r:embed="rId3">
            <a:alphaModFix/>
          </a:blip>
          <a:srcRect b="0" l="0" r="0" t="0"/>
          <a:stretch/>
        </p:blipFill>
        <p:spPr>
          <a:xfrm>
            <a:off x="0" y="0"/>
            <a:ext cx="9143999" cy="5143500"/>
          </a:xfrm>
          <a:prstGeom prst="rect">
            <a:avLst/>
          </a:prstGeom>
          <a:noFill/>
          <a:ln>
            <a:noFill/>
          </a:ln>
        </p:spPr>
      </p:pic>
      <p:sp>
        <p:nvSpPr>
          <p:cNvPr id="437" name="Google Shape;437;p38"/>
          <p:cNvSpPr/>
          <p:nvPr/>
        </p:nvSpPr>
        <p:spPr>
          <a:xfrm>
            <a:off x="342900" y="190500"/>
            <a:ext cx="7200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56615B"/>
                </a:solidFill>
                <a:latin typeface="Arial"/>
                <a:ea typeface="Arial"/>
                <a:cs typeface="Arial"/>
                <a:sym typeface="Arial"/>
              </a:rPr>
              <a:t>A04 / BACKPROPAGATION / KING OWUSU</a:t>
            </a:r>
            <a:endParaRPr b="1" sz="800">
              <a:solidFill>
                <a:srgbClr val="56615B"/>
              </a:solidFill>
              <a:latin typeface="Arial"/>
              <a:ea typeface="Arial"/>
              <a:cs typeface="Arial"/>
              <a:sym typeface="Arial"/>
            </a:endParaRPr>
          </a:p>
        </p:txBody>
      </p:sp>
      <p:sp>
        <p:nvSpPr>
          <p:cNvPr id="438" name="Google Shape;438;p38"/>
          <p:cNvSpPr/>
          <p:nvPr/>
        </p:nvSpPr>
        <p:spPr>
          <a:xfrm>
            <a:off x="304800" y="381000"/>
            <a:ext cx="85344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600">
                <a:solidFill>
                  <a:srgbClr val="202536"/>
                </a:solidFill>
                <a:latin typeface="Comic Neue"/>
                <a:ea typeface="Comic Neue"/>
                <a:cs typeface="Comic Neue"/>
                <a:sym typeface="Comic Neue"/>
              </a:rPr>
              <a:t>Backpropagation: Learning From Mistakes</a:t>
            </a:r>
            <a:endParaRPr b="1" sz="2600">
              <a:solidFill>
                <a:srgbClr val="202536"/>
              </a:solidFill>
              <a:latin typeface="Comic Neue"/>
              <a:ea typeface="Comic Neue"/>
              <a:cs typeface="Comic Neue"/>
              <a:sym typeface="Comic Neue"/>
            </a:endParaRPr>
          </a:p>
        </p:txBody>
      </p:sp>
      <p:sp>
        <p:nvSpPr>
          <p:cNvPr id="439" name="Google Shape;439;p38"/>
          <p:cNvSpPr/>
          <p:nvPr/>
        </p:nvSpPr>
        <p:spPr>
          <a:xfrm>
            <a:off x="323850" y="800100"/>
            <a:ext cx="84963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4A5568"/>
                </a:solidFill>
                <a:latin typeface="Arial"/>
                <a:ea typeface="Arial"/>
                <a:cs typeface="Arial"/>
                <a:sym typeface="Arial"/>
              </a:rPr>
              <a:t>Backpropagation is a method that helps a neural network learn from its mistakes.</a:t>
            </a:r>
            <a:endParaRPr b="0" sz="1200">
              <a:solidFill>
                <a:srgbClr val="4A5568"/>
              </a:solidFill>
              <a:latin typeface="Arial"/>
              <a:ea typeface="Arial"/>
              <a:cs typeface="Arial"/>
              <a:sym typeface="Arial"/>
            </a:endParaRPr>
          </a:p>
        </p:txBody>
      </p:sp>
      <p:sp>
        <p:nvSpPr>
          <p:cNvPr id="440" name="Google Shape;440;p38"/>
          <p:cNvSpPr/>
          <p:nvPr/>
        </p:nvSpPr>
        <p:spPr>
          <a:xfrm>
            <a:off x="338138" y="1195388"/>
            <a:ext cx="2667000" cy="1524000"/>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38"/>
          <p:cNvSpPr/>
          <p:nvPr/>
        </p:nvSpPr>
        <p:spPr>
          <a:xfrm>
            <a:off x="304800" y="1162050"/>
            <a:ext cx="2667000" cy="1524000"/>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38"/>
          <p:cNvSpPr/>
          <p:nvPr/>
        </p:nvSpPr>
        <p:spPr>
          <a:xfrm>
            <a:off x="361950" y="1219200"/>
            <a:ext cx="2552700" cy="266700"/>
          </a:xfrm>
          <a:prstGeom prst="rect">
            <a:avLst/>
          </a:prstGeom>
          <a:solidFill>
            <a:srgbClr val="79DCCA"/>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3" name="Google Shape;443;p38"/>
          <p:cNvSpPr/>
          <p:nvPr/>
        </p:nvSpPr>
        <p:spPr>
          <a:xfrm>
            <a:off x="400050" y="1247775"/>
            <a:ext cx="209700" cy="209700"/>
          </a:xfrm>
          <a:prstGeom prst="ellipse">
            <a:avLst/>
          </a:prstGeom>
          <a:solidFill>
            <a:srgbClr val="202536"/>
          </a:solidFill>
          <a:ln cap="flat" cmpd="sng" w="952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38"/>
          <p:cNvSpPr/>
          <p:nvPr/>
        </p:nvSpPr>
        <p:spPr>
          <a:xfrm>
            <a:off x="400050" y="1247775"/>
            <a:ext cx="2097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Comic Neue"/>
                <a:ea typeface="Comic Neue"/>
                <a:cs typeface="Comic Neue"/>
                <a:sym typeface="Comic Neue"/>
              </a:rPr>
              <a:t>1</a:t>
            </a:r>
            <a:endParaRPr b="1" sz="1100">
              <a:solidFill>
                <a:srgbClr val="FFFFFF"/>
              </a:solidFill>
              <a:latin typeface="Comic Neue"/>
              <a:ea typeface="Comic Neue"/>
              <a:cs typeface="Comic Neue"/>
              <a:sym typeface="Comic Neue"/>
            </a:endParaRPr>
          </a:p>
        </p:txBody>
      </p:sp>
      <p:sp>
        <p:nvSpPr>
          <p:cNvPr id="445" name="Google Shape;445;p38"/>
          <p:cNvSpPr/>
          <p:nvPr/>
        </p:nvSpPr>
        <p:spPr>
          <a:xfrm>
            <a:off x="666750" y="1247775"/>
            <a:ext cx="21909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02536"/>
                </a:solidFill>
                <a:latin typeface="Arial"/>
                <a:ea typeface="Arial"/>
                <a:cs typeface="Arial"/>
                <a:sym typeface="Arial"/>
              </a:rPr>
              <a:t>SHOW A PICTURE</a:t>
            </a:r>
            <a:endParaRPr b="1" sz="1000">
              <a:solidFill>
                <a:srgbClr val="202536"/>
              </a:solidFill>
              <a:latin typeface="Arial"/>
              <a:ea typeface="Arial"/>
              <a:cs typeface="Arial"/>
              <a:sym typeface="Arial"/>
            </a:endParaRPr>
          </a:p>
        </p:txBody>
      </p:sp>
      <p:sp>
        <p:nvSpPr>
          <p:cNvPr id="446" name="Google Shape;446;p38"/>
          <p:cNvSpPr/>
          <p:nvPr/>
        </p:nvSpPr>
        <p:spPr>
          <a:xfrm>
            <a:off x="400050" y="1533525"/>
            <a:ext cx="2476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202536"/>
                </a:solidFill>
                <a:latin typeface="Comic Neue"/>
                <a:ea typeface="Comic Neue"/>
                <a:cs typeface="Comic Neue"/>
                <a:sym typeface="Comic Neue"/>
              </a:rPr>
              <a:t>“It’s a cat!” 🐱</a:t>
            </a:r>
            <a:endParaRPr b="1" sz="1500">
              <a:solidFill>
                <a:srgbClr val="202536"/>
              </a:solidFill>
              <a:latin typeface="Comic Neue"/>
              <a:ea typeface="Comic Neue"/>
              <a:cs typeface="Comic Neue"/>
              <a:sym typeface="Comic Neue"/>
            </a:endParaRPr>
          </a:p>
        </p:txBody>
      </p:sp>
      <p:pic>
        <p:nvPicPr>
          <p:cNvPr id="447" name="Google Shape;447;p38"/>
          <p:cNvPicPr preferRelativeResize="0"/>
          <p:nvPr/>
        </p:nvPicPr>
        <p:blipFill rotWithShape="1">
          <a:blip r:embed="rId4">
            <a:alphaModFix/>
          </a:blip>
          <a:srcRect b="1305" l="0" r="0" t="1295"/>
          <a:stretch/>
        </p:blipFill>
        <p:spPr>
          <a:xfrm rot="-239903">
            <a:off x="400067" y="1819278"/>
            <a:ext cx="533499" cy="571395"/>
          </a:xfrm>
          <a:prstGeom prst="rect">
            <a:avLst/>
          </a:prstGeom>
          <a:noFill/>
          <a:ln>
            <a:noFill/>
          </a:ln>
        </p:spPr>
      </p:pic>
      <p:sp>
        <p:nvSpPr>
          <p:cNvPr id="448" name="Google Shape;448;p38"/>
          <p:cNvSpPr/>
          <p:nvPr/>
        </p:nvSpPr>
        <p:spPr>
          <a:xfrm>
            <a:off x="1028700" y="1790700"/>
            <a:ext cx="1848000" cy="819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202536"/>
                </a:solidFill>
                <a:latin typeface="Arial"/>
                <a:ea typeface="Arial"/>
                <a:cs typeface="Arial"/>
                <a:sym typeface="Arial"/>
              </a:rPr>
              <a:t>The network is shown a photo of a cat. It has no idea yet what the right answer is.</a:t>
            </a:r>
            <a:endParaRPr b="0" sz="1100">
              <a:solidFill>
                <a:srgbClr val="202536"/>
              </a:solidFill>
              <a:latin typeface="Arial"/>
              <a:ea typeface="Arial"/>
              <a:cs typeface="Arial"/>
              <a:sym typeface="Arial"/>
            </a:endParaRPr>
          </a:p>
        </p:txBody>
      </p:sp>
      <p:sp>
        <p:nvSpPr>
          <p:cNvPr id="449" name="Google Shape;449;p38"/>
          <p:cNvSpPr/>
          <p:nvPr/>
        </p:nvSpPr>
        <p:spPr>
          <a:xfrm>
            <a:off x="3271838" y="1195388"/>
            <a:ext cx="2667000" cy="1524000"/>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38"/>
          <p:cNvSpPr/>
          <p:nvPr/>
        </p:nvSpPr>
        <p:spPr>
          <a:xfrm>
            <a:off x="3238500" y="1162050"/>
            <a:ext cx="2667000" cy="1524000"/>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38"/>
          <p:cNvSpPr/>
          <p:nvPr/>
        </p:nvSpPr>
        <p:spPr>
          <a:xfrm>
            <a:off x="3295650" y="1219200"/>
            <a:ext cx="2552700" cy="266700"/>
          </a:xfrm>
          <a:prstGeom prst="rect">
            <a:avLst/>
          </a:prstGeom>
          <a:solidFill>
            <a:srgbClr val="FFE16A"/>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38"/>
          <p:cNvSpPr/>
          <p:nvPr/>
        </p:nvSpPr>
        <p:spPr>
          <a:xfrm>
            <a:off x="3333750" y="1247775"/>
            <a:ext cx="209700" cy="209700"/>
          </a:xfrm>
          <a:prstGeom prst="ellipse">
            <a:avLst/>
          </a:prstGeom>
          <a:solidFill>
            <a:srgbClr val="202536"/>
          </a:solidFill>
          <a:ln cap="flat" cmpd="sng" w="952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38"/>
          <p:cNvSpPr/>
          <p:nvPr/>
        </p:nvSpPr>
        <p:spPr>
          <a:xfrm>
            <a:off x="3333750" y="1247775"/>
            <a:ext cx="2097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Comic Neue"/>
                <a:ea typeface="Comic Neue"/>
                <a:cs typeface="Comic Neue"/>
                <a:sym typeface="Comic Neue"/>
              </a:rPr>
              <a:t>2</a:t>
            </a:r>
            <a:endParaRPr b="1" sz="1100">
              <a:solidFill>
                <a:srgbClr val="FFFFFF"/>
              </a:solidFill>
              <a:latin typeface="Comic Neue"/>
              <a:ea typeface="Comic Neue"/>
              <a:cs typeface="Comic Neue"/>
              <a:sym typeface="Comic Neue"/>
            </a:endParaRPr>
          </a:p>
        </p:txBody>
      </p:sp>
      <p:sp>
        <p:nvSpPr>
          <p:cNvPr id="454" name="Google Shape;454;p38"/>
          <p:cNvSpPr/>
          <p:nvPr/>
        </p:nvSpPr>
        <p:spPr>
          <a:xfrm>
            <a:off x="3600450" y="1247775"/>
            <a:ext cx="21909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02536"/>
                </a:solidFill>
                <a:latin typeface="Arial"/>
                <a:ea typeface="Arial"/>
                <a:cs typeface="Arial"/>
                <a:sym typeface="Arial"/>
              </a:rPr>
              <a:t>MAKE A GUESS</a:t>
            </a:r>
            <a:endParaRPr b="1" sz="1000">
              <a:solidFill>
                <a:srgbClr val="202536"/>
              </a:solidFill>
              <a:latin typeface="Arial"/>
              <a:ea typeface="Arial"/>
              <a:cs typeface="Arial"/>
              <a:sym typeface="Arial"/>
            </a:endParaRPr>
          </a:p>
        </p:txBody>
      </p:sp>
      <p:sp>
        <p:nvSpPr>
          <p:cNvPr id="455" name="Google Shape;455;p38"/>
          <p:cNvSpPr/>
          <p:nvPr/>
        </p:nvSpPr>
        <p:spPr>
          <a:xfrm>
            <a:off x="3333750" y="1533525"/>
            <a:ext cx="2476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202536"/>
                </a:solidFill>
                <a:latin typeface="Comic Neue"/>
                <a:ea typeface="Comic Neue"/>
                <a:cs typeface="Comic Neue"/>
                <a:sym typeface="Comic Neue"/>
              </a:rPr>
              <a:t>“Dog?” ❌</a:t>
            </a:r>
            <a:endParaRPr b="1" sz="1500">
              <a:solidFill>
                <a:srgbClr val="202536"/>
              </a:solidFill>
              <a:latin typeface="Comic Neue"/>
              <a:ea typeface="Comic Neue"/>
              <a:cs typeface="Comic Neue"/>
              <a:sym typeface="Comic Neue"/>
            </a:endParaRPr>
          </a:p>
        </p:txBody>
      </p:sp>
      <p:pic>
        <p:nvPicPr>
          <p:cNvPr id="456" name="Google Shape;456;p38"/>
          <p:cNvPicPr preferRelativeResize="0"/>
          <p:nvPr/>
        </p:nvPicPr>
        <p:blipFill rotWithShape="1">
          <a:blip r:embed="rId5">
            <a:alphaModFix/>
          </a:blip>
          <a:srcRect b="534" l="0" r="0" t="524"/>
          <a:stretch/>
        </p:blipFill>
        <p:spPr>
          <a:xfrm>
            <a:off x="3314700" y="1819275"/>
            <a:ext cx="685800" cy="628800"/>
          </a:xfrm>
          <a:prstGeom prst="rect">
            <a:avLst/>
          </a:prstGeom>
          <a:noFill/>
          <a:ln>
            <a:noFill/>
          </a:ln>
        </p:spPr>
      </p:pic>
      <p:sp>
        <p:nvSpPr>
          <p:cNvPr id="457" name="Google Shape;457;p38"/>
          <p:cNvSpPr/>
          <p:nvPr/>
        </p:nvSpPr>
        <p:spPr>
          <a:xfrm>
            <a:off x="4057650" y="1790700"/>
            <a:ext cx="1771800" cy="819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202536"/>
                </a:solidFill>
                <a:latin typeface="Arial"/>
                <a:ea typeface="Arial"/>
                <a:cs typeface="Arial"/>
                <a:sym typeface="Arial"/>
              </a:rPr>
              <a:t>Using its current settings, the network predicts “Dog” — and that guess is wrong.</a:t>
            </a:r>
            <a:endParaRPr b="0" sz="1100">
              <a:solidFill>
                <a:srgbClr val="202536"/>
              </a:solidFill>
              <a:latin typeface="Arial"/>
              <a:ea typeface="Arial"/>
              <a:cs typeface="Arial"/>
              <a:sym typeface="Arial"/>
            </a:endParaRPr>
          </a:p>
        </p:txBody>
      </p:sp>
      <p:sp>
        <p:nvSpPr>
          <p:cNvPr id="458" name="Google Shape;458;p38"/>
          <p:cNvSpPr/>
          <p:nvPr/>
        </p:nvSpPr>
        <p:spPr>
          <a:xfrm>
            <a:off x="6205538" y="1195388"/>
            <a:ext cx="2667000" cy="1524000"/>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9" name="Google Shape;459;p38"/>
          <p:cNvSpPr/>
          <p:nvPr/>
        </p:nvSpPr>
        <p:spPr>
          <a:xfrm>
            <a:off x="6172200" y="1162050"/>
            <a:ext cx="2667000" cy="1524000"/>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38"/>
          <p:cNvSpPr/>
          <p:nvPr/>
        </p:nvSpPr>
        <p:spPr>
          <a:xfrm>
            <a:off x="6229350" y="1219200"/>
            <a:ext cx="2552700" cy="266700"/>
          </a:xfrm>
          <a:prstGeom prst="rect">
            <a:avLst/>
          </a:prstGeom>
          <a:solidFill>
            <a:srgbClr val="FF7B7B"/>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38"/>
          <p:cNvSpPr/>
          <p:nvPr/>
        </p:nvSpPr>
        <p:spPr>
          <a:xfrm>
            <a:off x="6267450" y="1247775"/>
            <a:ext cx="209700" cy="209700"/>
          </a:xfrm>
          <a:prstGeom prst="ellipse">
            <a:avLst/>
          </a:prstGeom>
          <a:solidFill>
            <a:srgbClr val="202536"/>
          </a:solidFill>
          <a:ln cap="flat" cmpd="sng" w="952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38"/>
          <p:cNvSpPr/>
          <p:nvPr/>
        </p:nvSpPr>
        <p:spPr>
          <a:xfrm>
            <a:off x="6267450" y="1247775"/>
            <a:ext cx="2097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Comic Neue"/>
                <a:ea typeface="Comic Neue"/>
                <a:cs typeface="Comic Neue"/>
                <a:sym typeface="Comic Neue"/>
              </a:rPr>
              <a:t>3</a:t>
            </a:r>
            <a:endParaRPr b="1" sz="1100">
              <a:solidFill>
                <a:srgbClr val="FFFFFF"/>
              </a:solidFill>
              <a:latin typeface="Comic Neue"/>
              <a:ea typeface="Comic Neue"/>
              <a:cs typeface="Comic Neue"/>
              <a:sym typeface="Comic Neue"/>
            </a:endParaRPr>
          </a:p>
        </p:txBody>
      </p:sp>
      <p:sp>
        <p:nvSpPr>
          <p:cNvPr id="463" name="Google Shape;463;p38"/>
          <p:cNvSpPr/>
          <p:nvPr/>
        </p:nvSpPr>
        <p:spPr>
          <a:xfrm>
            <a:off x="6534150" y="1247775"/>
            <a:ext cx="21909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02536"/>
                </a:solidFill>
                <a:latin typeface="Arial"/>
                <a:ea typeface="Arial"/>
                <a:cs typeface="Arial"/>
                <a:sym typeface="Arial"/>
              </a:rPr>
              <a:t>FIND THE MISTAKE</a:t>
            </a:r>
            <a:endParaRPr b="1" sz="1000">
              <a:solidFill>
                <a:srgbClr val="202536"/>
              </a:solidFill>
              <a:latin typeface="Arial"/>
              <a:ea typeface="Arial"/>
              <a:cs typeface="Arial"/>
              <a:sym typeface="Arial"/>
            </a:endParaRPr>
          </a:p>
        </p:txBody>
      </p:sp>
      <p:sp>
        <p:nvSpPr>
          <p:cNvPr id="464" name="Google Shape;464;p38"/>
          <p:cNvSpPr/>
          <p:nvPr/>
        </p:nvSpPr>
        <p:spPr>
          <a:xfrm>
            <a:off x="6267450" y="1533525"/>
            <a:ext cx="2476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202536"/>
                </a:solidFill>
                <a:latin typeface="Comic Neue"/>
                <a:ea typeface="Comic Neue"/>
                <a:cs typeface="Comic Neue"/>
                <a:sym typeface="Comic Neue"/>
              </a:rPr>
              <a:t>“How wrong?” 📊</a:t>
            </a:r>
            <a:endParaRPr b="1" sz="1500">
              <a:solidFill>
                <a:srgbClr val="202536"/>
              </a:solidFill>
              <a:latin typeface="Comic Neue"/>
              <a:ea typeface="Comic Neue"/>
              <a:cs typeface="Comic Neue"/>
              <a:sym typeface="Comic Neue"/>
            </a:endParaRPr>
          </a:p>
        </p:txBody>
      </p:sp>
      <p:pic>
        <p:nvPicPr>
          <p:cNvPr id="465" name="Google Shape;465;p38"/>
          <p:cNvPicPr preferRelativeResize="0"/>
          <p:nvPr/>
        </p:nvPicPr>
        <p:blipFill rotWithShape="1">
          <a:blip r:embed="rId6">
            <a:alphaModFix/>
          </a:blip>
          <a:srcRect b="90" l="0" r="0" t="100"/>
          <a:stretch/>
        </p:blipFill>
        <p:spPr>
          <a:xfrm>
            <a:off x="6248400" y="1857375"/>
            <a:ext cx="666900" cy="523800"/>
          </a:xfrm>
          <a:prstGeom prst="rect">
            <a:avLst/>
          </a:prstGeom>
          <a:noFill/>
          <a:ln>
            <a:noFill/>
          </a:ln>
        </p:spPr>
      </p:pic>
      <p:sp>
        <p:nvSpPr>
          <p:cNvPr id="466" name="Google Shape;466;p38"/>
          <p:cNvSpPr/>
          <p:nvPr/>
        </p:nvSpPr>
        <p:spPr>
          <a:xfrm>
            <a:off x="6972300" y="1790700"/>
            <a:ext cx="1790700" cy="819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202536"/>
                </a:solidFill>
                <a:latin typeface="Arial"/>
                <a:ea typeface="Arial"/>
                <a:cs typeface="Arial"/>
                <a:sym typeface="Arial"/>
              </a:rPr>
              <a:t>The real answer is “cat.” The network scores how wrong that guess was.</a:t>
            </a:r>
            <a:endParaRPr b="0" sz="1100">
              <a:solidFill>
                <a:srgbClr val="202536"/>
              </a:solidFill>
              <a:latin typeface="Arial"/>
              <a:ea typeface="Arial"/>
              <a:cs typeface="Arial"/>
              <a:sym typeface="Arial"/>
            </a:endParaRPr>
          </a:p>
        </p:txBody>
      </p:sp>
      <p:sp>
        <p:nvSpPr>
          <p:cNvPr id="467" name="Google Shape;467;p38"/>
          <p:cNvSpPr/>
          <p:nvPr/>
        </p:nvSpPr>
        <p:spPr>
          <a:xfrm>
            <a:off x="338138" y="2909888"/>
            <a:ext cx="5600700" cy="1600200"/>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38"/>
          <p:cNvSpPr/>
          <p:nvPr/>
        </p:nvSpPr>
        <p:spPr>
          <a:xfrm>
            <a:off x="304800" y="2876550"/>
            <a:ext cx="5600700" cy="1600200"/>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38"/>
          <p:cNvSpPr/>
          <p:nvPr/>
        </p:nvSpPr>
        <p:spPr>
          <a:xfrm>
            <a:off x="361950" y="2933700"/>
            <a:ext cx="5486400" cy="266700"/>
          </a:xfrm>
          <a:prstGeom prst="rect">
            <a:avLst/>
          </a:prstGeom>
          <a:solidFill>
            <a:srgbClr val="FF9364"/>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38"/>
          <p:cNvSpPr/>
          <p:nvPr/>
        </p:nvSpPr>
        <p:spPr>
          <a:xfrm>
            <a:off x="400050" y="2962275"/>
            <a:ext cx="209700" cy="209700"/>
          </a:xfrm>
          <a:prstGeom prst="ellipse">
            <a:avLst/>
          </a:prstGeom>
          <a:solidFill>
            <a:srgbClr val="202536"/>
          </a:solidFill>
          <a:ln cap="flat" cmpd="sng" w="952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38"/>
          <p:cNvSpPr/>
          <p:nvPr/>
        </p:nvSpPr>
        <p:spPr>
          <a:xfrm>
            <a:off x="400050" y="2962275"/>
            <a:ext cx="2097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Comic Neue"/>
                <a:ea typeface="Comic Neue"/>
                <a:cs typeface="Comic Neue"/>
                <a:sym typeface="Comic Neue"/>
              </a:rPr>
              <a:t>4</a:t>
            </a:r>
            <a:endParaRPr b="1" sz="1100">
              <a:solidFill>
                <a:srgbClr val="FFFFFF"/>
              </a:solidFill>
              <a:latin typeface="Comic Neue"/>
              <a:ea typeface="Comic Neue"/>
              <a:cs typeface="Comic Neue"/>
              <a:sym typeface="Comic Neue"/>
            </a:endParaRPr>
          </a:p>
        </p:txBody>
      </p:sp>
      <p:sp>
        <p:nvSpPr>
          <p:cNvPr id="472" name="Google Shape;472;p38"/>
          <p:cNvSpPr/>
          <p:nvPr/>
        </p:nvSpPr>
        <p:spPr>
          <a:xfrm>
            <a:off x="666750" y="2962275"/>
            <a:ext cx="50484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02536"/>
                </a:solidFill>
                <a:latin typeface="Arial"/>
                <a:ea typeface="Arial"/>
                <a:cs typeface="Arial"/>
                <a:sym typeface="Arial"/>
              </a:rPr>
              <a:t>GO BACKWARD</a:t>
            </a:r>
            <a:endParaRPr b="1" sz="1000">
              <a:solidFill>
                <a:srgbClr val="202536"/>
              </a:solidFill>
              <a:latin typeface="Arial"/>
              <a:ea typeface="Arial"/>
              <a:cs typeface="Arial"/>
              <a:sym typeface="Arial"/>
            </a:endParaRPr>
          </a:p>
        </p:txBody>
      </p:sp>
      <p:sp>
        <p:nvSpPr>
          <p:cNvPr id="473" name="Google Shape;473;p38"/>
          <p:cNvSpPr/>
          <p:nvPr/>
        </p:nvSpPr>
        <p:spPr>
          <a:xfrm>
            <a:off x="400050" y="3248025"/>
            <a:ext cx="5334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202536"/>
                </a:solidFill>
                <a:latin typeface="Comic Neue"/>
                <a:ea typeface="Comic Neue"/>
                <a:cs typeface="Comic Neue"/>
                <a:sym typeface="Comic Neue"/>
              </a:rPr>
              <a:t>“Send the error back” 🔙</a:t>
            </a:r>
            <a:endParaRPr b="1" sz="1500">
              <a:solidFill>
                <a:srgbClr val="202536"/>
              </a:solidFill>
              <a:latin typeface="Comic Neue"/>
              <a:ea typeface="Comic Neue"/>
              <a:cs typeface="Comic Neue"/>
              <a:sym typeface="Comic Neue"/>
            </a:endParaRPr>
          </a:p>
        </p:txBody>
      </p:sp>
      <p:sp>
        <p:nvSpPr>
          <p:cNvPr id="474" name="Google Shape;474;p38"/>
          <p:cNvSpPr/>
          <p:nvPr/>
        </p:nvSpPr>
        <p:spPr>
          <a:xfrm>
            <a:off x="400050" y="3552825"/>
            <a:ext cx="5334000" cy="8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202536"/>
                </a:solidFill>
                <a:latin typeface="Arial"/>
                <a:ea typeface="Arial"/>
                <a:cs typeface="Arial"/>
                <a:sym typeface="Arial"/>
              </a:rPr>
              <a:t>That error score travels backward through the network, layer by layer — showing each part how much it contributed to the mistake.</a:t>
            </a:r>
            <a:endParaRPr b="0" sz="1200">
              <a:solidFill>
                <a:srgbClr val="202536"/>
              </a:solidFill>
              <a:latin typeface="Arial"/>
              <a:ea typeface="Arial"/>
              <a:cs typeface="Arial"/>
              <a:sym typeface="Arial"/>
            </a:endParaRPr>
          </a:p>
        </p:txBody>
      </p:sp>
      <p:sp>
        <p:nvSpPr>
          <p:cNvPr id="475" name="Google Shape;475;p38"/>
          <p:cNvSpPr/>
          <p:nvPr/>
        </p:nvSpPr>
        <p:spPr>
          <a:xfrm>
            <a:off x="6205538" y="2909888"/>
            <a:ext cx="2667000" cy="1600200"/>
          </a:xfrm>
          <a:prstGeom prst="rect">
            <a:avLst/>
          </a:prstGeom>
          <a:solidFill>
            <a:srgbClr val="202536"/>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38"/>
          <p:cNvSpPr/>
          <p:nvPr/>
        </p:nvSpPr>
        <p:spPr>
          <a:xfrm>
            <a:off x="6172200" y="2876550"/>
            <a:ext cx="2667000" cy="1600200"/>
          </a:xfrm>
          <a:prstGeom prst="rect">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38"/>
          <p:cNvSpPr/>
          <p:nvPr/>
        </p:nvSpPr>
        <p:spPr>
          <a:xfrm>
            <a:off x="6229350" y="2933700"/>
            <a:ext cx="2552700" cy="266700"/>
          </a:xfrm>
          <a:prstGeom prst="rect">
            <a:avLst/>
          </a:prstGeom>
          <a:solidFill>
            <a:srgbClr val="B8A4F1"/>
          </a:solidFill>
          <a:ln cap="flat" cmpd="sng" w="1270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8" name="Google Shape;478;p38"/>
          <p:cNvSpPr/>
          <p:nvPr/>
        </p:nvSpPr>
        <p:spPr>
          <a:xfrm>
            <a:off x="6267450" y="2962275"/>
            <a:ext cx="209700" cy="209700"/>
          </a:xfrm>
          <a:prstGeom prst="ellipse">
            <a:avLst/>
          </a:prstGeom>
          <a:solidFill>
            <a:srgbClr val="202536"/>
          </a:solidFill>
          <a:ln cap="flat" cmpd="sng" w="952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38"/>
          <p:cNvSpPr/>
          <p:nvPr/>
        </p:nvSpPr>
        <p:spPr>
          <a:xfrm>
            <a:off x="6267450" y="2962275"/>
            <a:ext cx="2097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Comic Neue"/>
                <a:ea typeface="Comic Neue"/>
                <a:cs typeface="Comic Neue"/>
                <a:sym typeface="Comic Neue"/>
              </a:rPr>
              <a:t>5</a:t>
            </a:r>
            <a:endParaRPr b="1" sz="1100">
              <a:solidFill>
                <a:srgbClr val="FFFFFF"/>
              </a:solidFill>
              <a:latin typeface="Comic Neue"/>
              <a:ea typeface="Comic Neue"/>
              <a:cs typeface="Comic Neue"/>
              <a:sym typeface="Comic Neue"/>
            </a:endParaRPr>
          </a:p>
        </p:txBody>
      </p:sp>
      <p:sp>
        <p:nvSpPr>
          <p:cNvPr id="480" name="Google Shape;480;p38"/>
          <p:cNvSpPr/>
          <p:nvPr/>
        </p:nvSpPr>
        <p:spPr>
          <a:xfrm>
            <a:off x="6534150" y="2962275"/>
            <a:ext cx="21909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02536"/>
                </a:solidFill>
                <a:latin typeface="Arial"/>
                <a:ea typeface="Arial"/>
                <a:cs typeface="Arial"/>
                <a:sym typeface="Arial"/>
              </a:rPr>
              <a:t>FIX THE WEIGHTS</a:t>
            </a:r>
            <a:endParaRPr b="1" sz="1000">
              <a:solidFill>
                <a:srgbClr val="202536"/>
              </a:solidFill>
              <a:latin typeface="Arial"/>
              <a:ea typeface="Arial"/>
              <a:cs typeface="Arial"/>
              <a:sym typeface="Arial"/>
            </a:endParaRPr>
          </a:p>
        </p:txBody>
      </p:sp>
      <p:sp>
        <p:nvSpPr>
          <p:cNvPr id="481" name="Google Shape;481;p38"/>
          <p:cNvSpPr/>
          <p:nvPr/>
        </p:nvSpPr>
        <p:spPr>
          <a:xfrm>
            <a:off x="6267450" y="3248025"/>
            <a:ext cx="2476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202536"/>
                </a:solidFill>
                <a:latin typeface="Comic Neue"/>
                <a:ea typeface="Comic Neue"/>
                <a:cs typeface="Comic Neue"/>
                <a:sym typeface="Comic Neue"/>
              </a:rPr>
              <a:t>“Adjust it” 🔧</a:t>
            </a:r>
            <a:endParaRPr b="1" sz="1500">
              <a:solidFill>
                <a:srgbClr val="202536"/>
              </a:solidFill>
              <a:latin typeface="Comic Neue"/>
              <a:ea typeface="Comic Neue"/>
              <a:cs typeface="Comic Neue"/>
              <a:sym typeface="Comic Neue"/>
            </a:endParaRPr>
          </a:p>
        </p:txBody>
      </p:sp>
      <p:pic>
        <p:nvPicPr>
          <p:cNvPr id="482" name="Google Shape;482;p38"/>
          <p:cNvPicPr preferRelativeResize="0"/>
          <p:nvPr/>
        </p:nvPicPr>
        <p:blipFill rotWithShape="1">
          <a:blip r:embed="rId7">
            <a:alphaModFix/>
          </a:blip>
          <a:srcRect b="0" l="70" r="80" t="0"/>
          <a:stretch/>
        </p:blipFill>
        <p:spPr>
          <a:xfrm rot="120627">
            <a:off x="6248418" y="3619566"/>
            <a:ext cx="667011" cy="628881"/>
          </a:xfrm>
          <a:prstGeom prst="rect">
            <a:avLst/>
          </a:prstGeom>
          <a:noFill/>
          <a:ln>
            <a:noFill/>
          </a:ln>
        </p:spPr>
      </p:pic>
      <p:sp>
        <p:nvSpPr>
          <p:cNvPr id="483" name="Google Shape;483;p38"/>
          <p:cNvSpPr/>
          <p:nvPr/>
        </p:nvSpPr>
        <p:spPr>
          <a:xfrm>
            <a:off x="6991350" y="3543300"/>
            <a:ext cx="17718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202536"/>
                </a:solidFill>
                <a:latin typeface="Arial"/>
                <a:ea typeface="Arial"/>
                <a:cs typeface="Arial"/>
                <a:sym typeface="Arial"/>
              </a:rPr>
              <a:t>The network figures out which weights to change, so it guesses better next time.</a:t>
            </a:r>
            <a:endParaRPr b="0" sz="1100">
              <a:solidFill>
                <a:srgbClr val="202536"/>
              </a:solidFill>
              <a:latin typeface="Arial"/>
              <a:ea typeface="Arial"/>
              <a:cs typeface="Arial"/>
              <a:sym typeface="Arial"/>
            </a:endParaRPr>
          </a:p>
        </p:txBody>
      </p:sp>
      <p:pic>
        <p:nvPicPr>
          <p:cNvPr id="484" name="Google Shape;484;p38"/>
          <p:cNvPicPr preferRelativeResize="0"/>
          <p:nvPr/>
        </p:nvPicPr>
        <p:blipFill rotWithShape="1">
          <a:blip r:embed="rId8">
            <a:alphaModFix/>
          </a:blip>
          <a:srcRect b="0" l="1115" r="1105" t="0"/>
          <a:stretch/>
        </p:blipFill>
        <p:spPr>
          <a:xfrm>
            <a:off x="3000375" y="1857375"/>
            <a:ext cx="209700" cy="142800"/>
          </a:xfrm>
          <a:prstGeom prst="rect">
            <a:avLst/>
          </a:prstGeom>
          <a:noFill/>
          <a:ln>
            <a:noFill/>
          </a:ln>
        </p:spPr>
      </p:pic>
      <p:pic>
        <p:nvPicPr>
          <p:cNvPr id="485" name="Google Shape;485;p38"/>
          <p:cNvPicPr preferRelativeResize="0"/>
          <p:nvPr/>
        </p:nvPicPr>
        <p:blipFill rotWithShape="1">
          <a:blip r:embed="rId8">
            <a:alphaModFix/>
          </a:blip>
          <a:srcRect b="0" l="1115" r="1105" t="0"/>
          <a:stretch/>
        </p:blipFill>
        <p:spPr>
          <a:xfrm>
            <a:off x="5934075" y="1857375"/>
            <a:ext cx="209700" cy="142800"/>
          </a:xfrm>
          <a:prstGeom prst="rect">
            <a:avLst/>
          </a:prstGeom>
          <a:noFill/>
          <a:ln>
            <a:noFill/>
          </a:ln>
        </p:spPr>
      </p:pic>
      <p:pic>
        <p:nvPicPr>
          <p:cNvPr id="486" name="Google Shape;486;p38"/>
          <p:cNvPicPr preferRelativeResize="0"/>
          <p:nvPr/>
        </p:nvPicPr>
        <p:blipFill rotWithShape="1">
          <a:blip r:embed="rId8">
            <a:alphaModFix/>
          </a:blip>
          <a:srcRect b="0" l="1115" r="1105" t="0"/>
          <a:stretch/>
        </p:blipFill>
        <p:spPr>
          <a:xfrm>
            <a:off x="5934075" y="3600450"/>
            <a:ext cx="209700" cy="142800"/>
          </a:xfrm>
          <a:prstGeom prst="rect">
            <a:avLst/>
          </a:prstGeom>
          <a:noFill/>
          <a:ln>
            <a:noFill/>
          </a:ln>
        </p:spPr>
      </p:pic>
      <p:sp>
        <p:nvSpPr>
          <p:cNvPr id="487" name="Google Shape;487;p38"/>
          <p:cNvSpPr/>
          <p:nvPr/>
        </p:nvSpPr>
        <p:spPr>
          <a:xfrm>
            <a:off x="304800" y="4629150"/>
            <a:ext cx="8534400" cy="304800"/>
          </a:xfrm>
          <a:prstGeom prst="rect">
            <a:avLst/>
          </a:prstGeom>
          <a:solidFill>
            <a:srgbClr val="FFE16A"/>
          </a:solidFill>
          <a:ln cap="flat" cmpd="sng" w="190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38"/>
          <p:cNvSpPr/>
          <p:nvPr/>
        </p:nvSpPr>
        <p:spPr>
          <a:xfrm>
            <a:off x="342900" y="4629150"/>
            <a:ext cx="84582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202536"/>
                </a:solidFill>
                <a:latin typeface="Comic Neue"/>
                <a:ea typeface="Comic Neue"/>
                <a:cs typeface="Comic Neue"/>
                <a:sym typeface="Comic Neue"/>
              </a:rPr>
              <a:t>Key takeaway: Backpropagation helps a neural network understand what contributed to its error.</a:t>
            </a:r>
            <a:endParaRPr b="1" sz="1300">
              <a:solidFill>
                <a:srgbClr val="202536"/>
              </a:solidFill>
              <a:latin typeface="Comic Neue"/>
              <a:ea typeface="Comic Neue"/>
              <a:cs typeface="Comic Neue"/>
              <a:sym typeface="Comic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id="493" name="Google Shape;493;p39"/>
          <p:cNvPicPr preferRelativeResize="0"/>
          <p:nvPr/>
        </p:nvPicPr>
        <p:blipFill rotWithShape="1">
          <a:blip r:embed="rId3">
            <a:alphaModFix/>
          </a:blip>
          <a:srcRect b="0" l="0" r="0" t="10"/>
          <a:stretch/>
        </p:blipFill>
        <p:spPr>
          <a:xfrm>
            <a:off x="0" y="0"/>
            <a:ext cx="9144000" cy="5143500"/>
          </a:xfrm>
          <a:prstGeom prst="rect">
            <a:avLst/>
          </a:prstGeom>
          <a:noFill/>
          <a:ln>
            <a:noFill/>
          </a:ln>
        </p:spPr>
      </p:pic>
      <p:sp>
        <p:nvSpPr>
          <p:cNvPr id="494" name="Google Shape;494;p39"/>
          <p:cNvSpPr txBox="1"/>
          <p:nvPr/>
        </p:nvSpPr>
        <p:spPr>
          <a:xfrm>
            <a:off x="361950" y="190500"/>
            <a:ext cx="72009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56615B"/>
                </a:solidFill>
                <a:latin typeface="Arial"/>
                <a:ea typeface="Arial"/>
                <a:cs typeface="Arial"/>
                <a:sym typeface="Arial"/>
              </a:rPr>
              <a:t>A04 / BACKPROPAGATION / KING OWUSU</a:t>
            </a:r>
            <a:endParaRPr b="1" sz="800">
              <a:solidFill>
                <a:srgbClr val="56615B"/>
              </a:solidFill>
              <a:latin typeface="Arial"/>
              <a:ea typeface="Arial"/>
              <a:cs typeface="Arial"/>
              <a:sym typeface="Arial"/>
            </a:endParaRPr>
          </a:p>
        </p:txBody>
      </p:sp>
      <p:sp>
        <p:nvSpPr>
          <p:cNvPr id="495" name="Google Shape;495;p39"/>
          <p:cNvSpPr txBox="1"/>
          <p:nvPr/>
        </p:nvSpPr>
        <p:spPr>
          <a:xfrm>
            <a:off x="333375" y="400050"/>
            <a:ext cx="8505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5">
                <a:solidFill>
                  <a:srgbClr val="202536"/>
                </a:solidFill>
                <a:latin typeface="Comic Neue"/>
                <a:ea typeface="Comic Neue"/>
                <a:cs typeface="Comic Neue"/>
                <a:sym typeface="Comic Neue"/>
              </a:rPr>
              <a:t>The Learning Loop</a:t>
            </a:r>
            <a:endParaRPr b="1" sz="2405">
              <a:solidFill>
                <a:srgbClr val="202536"/>
              </a:solidFill>
              <a:latin typeface="Comic Neue"/>
              <a:ea typeface="Comic Neue"/>
              <a:cs typeface="Comic Neue"/>
              <a:sym typeface="Comic Neue"/>
            </a:endParaRPr>
          </a:p>
        </p:txBody>
      </p:sp>
      <p:sp>
        <p:nvSpPr>
          <p:cNvPr id="496" name="Google Shape;496;p39"/>
          <p:cNvSpPr txBox="1"/>
          <p:nvPr/>
        </p:nvSpPr>
        <p:spPr>
          <a:xfrm>
            <a:off x="361950" y="838200"/>
            <a:ext cx="8353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202536"/>
                </a:solidFill>
                <a:latin typeface="Arial"/>
                <a:ea typeface="Arial"/>
                <a:cs typeface="Arial"/>
                <a:sym typeface="Arial"/>
              </a:rPr>
              <a:t>Backpropagation repeats this cycle again and again until the network gets better.</a:t>
            </a:r>
            <a:endParaRPr b="0" sz="1300">
              <a:solidFill>
                <a:srgbClr val="202536"/>
              </a:solidFill>
              <a:latin typeface="Arial"/>
              <a:ea typeface="Arial"/>
              <a:cs typeface="Arial"/>
              <a:sym typeface="Arial"/>
            </a:endParaRPr>
          </a:p>
        </p:txBody>
      </p:sp>
      <p:grpSp>
        <p:nvGrpSpPr>
          <p:cNvPr id="497" name="Google Shape;497;p39"/>
          <p:cNvGrpSpPr/>
          <p:nvPr/>
        </p:nvGrpSpPr>
        <p:grpSpPr>
          <a:xfrm>
            <a:off x="304800" y="1190625"/>
            <a:ext cx="2752875" cy="1562100"/>
            <a:chOff x="0" y="0"/>
            <a:chExt cx="2752875" cy="1562100"/>
          </a:xfrm>
        </p:grpSpPr>
        <p:sp>
          <p:nvSpPr>
            <p:cNvPr id="498" name="Google Shape;498;p39"/>
            <p:cNvSpPr/>
            <p:nvPr/>
          </p:nvSpPr>
          <p:spPr>
            <a:xfrm>
              <a:off x="28575" y="38100"/>
              <a:ext cx="2724300" cy="1524000"/>
            </a:xfrm>
            <a:prstGeom prst="roundRect">
              <a:avLst>
                <a:gd fmla="val 6250" name="adj"/>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39"/>
            <p:cNvSpPr/>
            <p:nvPr/>
          </p:nvSpPr>
          <p:spPr>
            <a:xfrm>
              <a:off x="0" y="0"/>
              <a:ext cx="2724300" cy="1524000"/>
            </a:xfrm>
            <a:prstGeom prst="roundRect">
              <a:avLst>
                <a:gd fmla="val 6250" name="adj"/>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39"/>
            <p:cNvSpPr/>
            <p:nvPr/>
          </p:nvSpPr>
          <p:spPr>
            <a:xfrm>
              <a:off x="66675" y="66675"/>
              <a:ext cx="2581200" cy="285900"/>
            </a:xfrm>
            <a:prstGeom prst="roundRect">
              <a:avLst>
                <a:gd fmla="val 20000" name="adj"/>
              </a:avLst>
            </a:prstGeom>
            <a:solidFill>
              <a:srgbClr val="79DCCA"/>
            </a:solidFill>
            <a:ln cap="flat" cmpd="sng" w="1237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39"/>
            <p:cNvSpPr/>
            <p:nvPr/>
          </p:nvSpPr>
          <p:spPr>
            <a:xfrm>
              <a:off x="114300" y="95250"/>
              <a:ext cx="228600" cy="228600"/>
            </a:xfrm>
            <a:prstGeom prst="ellipse">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2" name="Google Shape;502;p39"/>
            <p:cNvSpPr txBox="1"/>
            <p:nvPr/>
          </p:nvSpPr>
          <p:spPr>
            <a:xfrm>
              <a:off x="114300" y="9525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Comic Neue"/>
                  <a:ea typeface="Comic Neue"/>
                  <a:cs typeface="Comic Neue"/>
                  <a:sym typeface="Comic Neue"/>
                </a:rPr>
                <a:t>1</a:t>
              </a:r>
              <a:endParaRPr b="1" sz="1300">
                <a:solidFill>
                  <a:srgbClr val="FFFFFF"/>
                </a:solidFill>
                <a:latin typeface="Comic Neue"/>
                <a:ea typeface="Comic Neue"/>
                <a:cs typeface="Comic Neue"/>
                <a:sym typeface="Comic Neue"/>
              </a:endParaRPr>
            </a:p>
          </p:txBody>
        </p:sp>
        <p:sp>
          <p:nvSpPr>
            <p:cNvPr id="503" name="Google Shape;503;p39"/>
            <p:cNvSpPr txBox="1"/>
            <p:nvPr/>
          </p:nvSpPr>
          <p:spPr>
            <a:xfrm>
              <a:off x="457200" y="95250"/>
              <a:ext cx="20955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02536"/>
                  </a:solidFill>
                  <a:latin typeface="Arial"/>
                  <a:ea typeface="Arial"/>
                  <a:cs typeface="Arial"/>
                  <a:sym typeface="Arial"/>
                </a:rPr>
                <a:t>INPUT</a:t>
              </a:r>
              <a:endParaRPr b="1" sz="1100">
                <a:solidFill>
                  <a:srgbClr val="202536"/>
                </a:solidFill>
                <a:latin typeface="Arial"/>
                <a:ea typeface="Arial"/>
                <a:cs typeface="Arial"/>
                <a:sym typeface="Arial"/>
              </a:endParaRPr>
            </a:p>
          </p:txBody>
        </p:sp>
        <p:sp>
          <p:nvSpPr>
            <p:cNvPr id="504" name="Google Shape;504;p39"/>
            <p:cNvSpPr txBox="1"/>
            <p:nvPr/>
          </p:nvSpPr>
          <p:spPr>
            <a:xfrm>
              <a:off x="133350" y="400050"/>
              <a:ext cx="2476500" cy="2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202536"/>
                  </a:solidFill>
                  <a:latin typeface="Comic Neue"/>
                  <a:ea typeface="Comic Neue"/>
                  <a:cs typeface="Comic Neue"/>
                  <a:sym typeface="Comic Neue"/>
                </a:rPr>
                <a:t>“Data goes in” 📥</a:t>
              </a:r>
              <a:endParaRPr b="1" sz="1600">
                <a:solidFill>
                  <a:srgbClr val="202536"/>
                </a:solidFill>
                <a:latin typeface="Comic Neue"/>
                <a:ea typeface="Comic Neue"/>
                <a:cs typeface="Comic Neue"/>
                <a:sym typeface="Comic Neue"/>
              </a:endParaRPr>
            </a:p>
          </p:txBody>
        </p:sp>
        <p:pic>
          <p:nvPicPr>
            <p:cNvPr id="505" name="Google Shape;505;p39"/>
            <p:cNvPicPr preferRelativeResize="0"/>
            <p:nvPr/>
          </p:nvPicPr>
          <p:blipFill rotWithShape="1">
            <a:blip r:embed="rId4">
              <a:alphaModFix/>
            </a:blip>
            <a:srcRect b="0" l="80" r="70" t="0"/>
            <a:stretch/>
          </p:blipFill>
          <p:spPr>
            <a:xfrm>
              <a:off x="133350" y="714375"/>
              <a:ext cx="561900" cy="619200"/>
            </a:xfrm>
            <a:prstGeom prst="roundRect">
              <a:avLst>
                <a:gd fmla="val 13559" name="adj"/>
              </a:avLst>
            </a:prstGeom>
            <a:noFill/>
            <a:ln>
              <a:noFill/>
            </a:ln>
          </p:spPr>
        </p:pic>
        <p:sp>
          <p:nvSpPr>
            <p:cNvPr id="506" name="Google Shape;506;p39"/>
            <p:cNvSpPr txBox="1"/>
            <p:nvPr/>
          </p:nvSpPr>
          <p:spPr>
            <a:xfrm>
              <a:off x="781050" y="685800"/>
              <a:ext cx="1809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10">
                  <a:solidFill>
                    <a:srgbClr val="202536"/>
                  </a:solidFill>
                  <a:latin typeface="Arial"/>
                  <a:ea typeface="Arial"/>
                  <a:cs typeface="Arial"/>
                  <a:sym typeface="Arial"/>
                </a:rPr>
                <a:t>Raw input — like a photo — enters the neural network to begin the loop.</a:t>
              </a:r>
              <a:endParaRPr b="0" sz="1110">
                <a:solidFill>
                  <a:srgbClr val="202536"/>
                </a:solidFill>
                <a:latin typeface="Arial"/>
                <a:ea typeface="Arial"/>
                <a:cs typeface="Arial"/>
                <a:sym typeface="Arial"/>
              </a:endParaRPr>
            </a:p>
          </p:txBody>
        </p:sp>
      </p:grpSp>
      <p:pic>
        <p:nvPicPr>
          <p:cNvPr id="507" name="Google Shape;507;p39"/>
          <p:cNvPicPr preferRelativeResize="0"/>
          <p:nvPr/>
        </p:nvPicPr>
        <p:blipFill rotWithShape="1">
          <a:blip r:embed="rId5">
            <a:alphaModFix/>
          </a:blip>
          <a:srcRect b="0" l="2381" r="2381" t="0"/>
          <a:stretch/>
        </p:blipFill>
        <p:spPr>
          <a:xfrm>
            <a:off x="3028950" y="1885950"/>
            <a:ext cx="190500" cy="133500"/>
          </a:xfrm>
          <a:prstGeom prst="rect">
            <a:avLst/>
          </a:prstGeom>
          <a:noFill/>
          <a:ln>
            <a:noFill/>
          </a:ln>
        </p:spPr>
      </p:pic>
      <p:grpSp>
        <p:nvGrpSpPr>
          <p:cNvPr id="508" name="Google Shape;508;p39"/>
          <p:cNvGrpSpPr/>
          <p:nvPr/>
        </p:nvGrpSpPr>
        <p:grpSpPr>
          <a:xfrm>
            <a:off x="3209925" y="1190625"/>
            <a:ext cx="2752875" cy="1562100"/>
            <a:chOff x="0" y="0"/>
            <a:chExt cx="2752875" cy="1562100"/>
          </a:xfrm>
        </p:grpSpPr>
        <p:sp>
          <p:nvSpPr>
            <p:cNvPr id="509" name="Google Shape;509;p39"/>
            <p:cNvSpPr/>
            <p:nvPr/>
          </p:nvSpPr>
          <p:spPr>
            <a:xfrm>
              <a:off x="28575" y="38100"/>
              <a:ext cx="2724300" cy="1524000"/>
            </a:xfrm>
            <a:prstGeom prst="roundRect">
              <a:avLst>
                <a:gd fmla="val 6250" name="adj"/>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0" name="Google Shape;510;p39"/>
            <p:cNvSpPr/>
            <p:nvPr/>
          </p:nvSpPr>
          <p:spPr>
            <a:xfrm>
              <a:off x="0" y="0"/>
              <a:ext cx="2724300" cy="1524000"/>
            </a:xfrm>
            <a:prstGeom prst="roundRect">
              <a:avLst>
                <a:gd fmla="val 6250" name="adj"/>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39"/>
            <p:cNvSpPr/>
            <p:nvPr/>
          </p:nvSpPr>
          <p:spPr>
            <a:xfrm>
              <a:off x="66675" y="66675"/>
              <a:ext cx="2581200" cy="285900"/>
            </a:xfrm>
            <a:prstGeom prst="roundRect">
              <a:avLst>
                <a:gd fmla="val 20000" name="adj"/>
              </a:avLst>
            </a:prstGeom>
            <a:solidFill>
              <a:srgbClr val="FFE16A"/>
            </a:solidFill>
            <a:ln cap="flat" cmpd="sng" w="1237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2" name="Google Shape;512;p39"/>
            <p:cNvSpPr/>
            <p:nvPr/>
          </p:nvSpPr>
          <p:spPr>
            <a:xfrm>
              <a:off x="114300" y="95250"/>
              <a:ext cx="228600" cy="228600"/>
            </a:xfrm>
            <a:prstGeom prst="ellipse">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3" name="Google Shape;513;p39"/>
            <p:cNvSpPr txBox="1"/>
            <p:nvPr/>
          </p:nvSpPr>
          <p:spPr>
            <a:xfrm>
              <a:off x="114300" y="9525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Comic Neue"/>
                  <a:ea typeface="Comic Neue"/>
                  <a:cs typeface="Comic Neue"/>
                  <a:sym typeface="Comic Neue"/>
                </a:rPr>
                <a:t>2</a:t>
              </a:r>
              <a:endParaRPr b="1" sz="1300">
                <a:solidFill>
                  <a:srgbClr val="FFFFFF"/>
                </a:solidFill>
                <a:latin typeface="Comic Neue"/>
                <a:ea typeface="Comic Neue"/>
                <a:cs typeface="Comic Neue"/>
                <a:sym typeface="Comic Neue"/>
              </a:endParaRPr>
            </a:p>
          </p:txBody>
        </p:sp>
        <p:sp>
          <p:nvSpPr>
            <p:cNvPr id="514" name="Google Shape;514;p39"/>
            <p:cNvSpPr txBox="1"/>
            <p:nvPr/>
          </p:nvSpPr>
          <p:spPr>
            <a:xfrm>
              <a:off x="457200" y="95250"/>
              <a:ext cx="20955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02536"/>
                  </a:solidFill>
                  <a:latin typeface="Arial"/>
                  <a:ea typeface="Arial"/>
                  <a:cs typeface="Arial"/>
                  <a:sym typeface="Arial"/>
                </a:rPr>
                <a:t>NEURAL NETWORK</a:t>
              </a:r>
              <a:endParaRPr b="1" sz="1100">
                <a:solidFill>
                  <a:srgbClr val="202536"/>
                </a:solidFill>
                <a:latin typeface="Arial"/>
                <a:ea typeface="Arial"/>
                <a:cs typeface="Arial"/>
                <a:sym typeface="Arial"/>
              </a:endParaRPr>
            </a:p>
          </p:txBody>
        </p:sp>
        <p:sp>
          <p:nvSpPr>
            <p:cNvPr id="515" name="Google Shape;515;p39"/>
            <p:cNvSpPr txBox="1"/>
            <p:nvPr/>
          </p:nvSpPr>
          <p:spPr>
            <a:xfrm>
              <a:off x="133350" y="400050"/>
              <a:ext cx="2476500" cy="2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202536"/>
                  </a:solidFill>
                  <a:latin typeface="Comic Neue"/>
                  <a:ea typeface="Comic Neue"/>
                  <a:cs typeface="Comic Neue"/>
                  <a:sym typeface="Comic Neue"/>
                </a:rPr>
                <a:t>“Process it” 🧠</a:t>
              </a:r>
              <a:endParaRPr b="1" sz="1600">
                <a:solidFill>
                  <a:srgbClr val="202536"/>
                </a:solidFill>
                <a:latin typeface="Comic Neue"/>
                <a:ea typeface="Comic Neue"/>
                <a:cs typeface="Comic Neue"/>
                <a:sym typeface="Comic Neue"/>
              </a:endParaRPr>
            </a:p>
          </p:txBody>
        </p:sp>
        <p:pic>
          <p:nvPicPr>
            <p:cNvPr id="516" name="Google Shape;516;p39"/>
            <p:cNvPicPr preferRelativeResize="0"/>
            <p:nvPr/>
          </p:nvPicPr>
          <p:blipFill rotWithShape="1">
            <a:blip r:embed="rId6">
              <a:alphaModFix/>
            </a:blip>
            <a:srcRect b="80" l="0" r="0" t="80"/>
            <a:stretch/>
          </p:blipFill>
          <p:spPr>
            <a:xfrm>
              <a:off x="114300" y="685800"/>
              <a:ext cx="762000" cy="705000"/>
            </a:xfrm>
            <a:prstGeom prst="roundRect">
              <a:avLst>
                <a:gd fmla="val 10810" name="adj"/>
              </a:avLst>
            </a:prstGeom>
            <a:noFill/>
            <a:ln>
              <a:noFill/>
            </a:ln>
          </p:spPr>
        </p:pic>
        <p:sp>
          <p:nvSpPr>
            <p:cNvPr id="517" name="Google Shape;517;p39"/>
            <p:cNvSpPr txBox="1"/>
            <p:nvPr/>
          </p:nvSpPr>
          <p:spPr>
            <a:xfrm>
              <a:off x="933450" y="685800"/>
              <a:ext cx="16668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10">
                  <a:solidFill>
                    <a:srgbClr val="202536"/>
                  </a:solidFill>
                  <a:latin typeface="Arial"/>
                  <a:ea typeface="Arial"/>
                  <a:cs typeface="Arial"/>
                  <a:sym typeface="Arial"/>
                </a:rPr>
                <a:t>The network passes the input through its layers and comes up with a prediction.</a:t>
              </a:r>
              <a:endParaRPr b="0" sz="1110">
                <a:solidFill>
                  <a:srgbClr val="202536"/>
                </a:solidFill>
                <a:latin typeface="Arial"/>
                <a:ea typeface="Arial"/>
                <a:cs typeface="Arial"/>
                <a:sym typeface="Arial"/>
              </a:endParaRPr>
            </a:p>
          </p:txBody>
        </p:sp>
      </p:grpSp>
      <p:pic>
        <p:nvPicPr>
          <p:cNvPr id="518" name="Google Shape;518;p39"/>
          <p:cNvPicPr preferRelativeResize="0"/>
          <p:nvPr/>
        </p:nvPicPr>
        <p:blipFill rotWithShape="1">
          <a:blip r:embed="rId5">
            <a:alphaModFix/>
          </a:blip>
          <a:srcRect b="0" l="2381" r="2381" t="0"/>
          <a:stretch/>
        </p:blipFill>
        <p:spPr>
          <a:xfrm>
            <a:off x="5934075" y="1885950"/>
            <a:ext cx="190500" cy="133500"/>
          </a:xfrm>
          <a:prstGeom prst="rect">
            <a:avLst/>
          </a:prstGeom>
          <a:noFill/>
          <a:ln>
            <a:noFill/>
          </a:ln>
        </p:spPr>
      </p:pic>
      <p:grpSp>
        <p:nvGrpSpPr>
          <p:cNvPr id="519" name="Google Shape;519;p39"/>
          <p:cNvGrpSpPr/>
          <p:nvPr/>
        </p:nvGrpSpPr>
        <p:grpSpPr>
          <a:xfrm>
            <a:off x="6115050" y="1190625"/>
            <a:ext cx="2752875" cy="1562100"/>
            <a:chOff x="0" y="0"/>
            <a:chExt cx="2752875" cy="1562100"/>
          </a:xfrm>
        </p:grpSpPr>
        <p:sp>
          <p:nvSpPr>
            <p:cNvPr id="520" name="Google Shape;520;p39"/>
            <p:cNvSpPr/>
            <p:nvPr/>
          </p:nvSpPr>
          <p:spPr>
            <a:xfrm>
              <a:off x="28575" y="38100"/>
              <a:ext cx="2724300" cy="1524000"/>
            </a:xfrm>
            <a:prstGeom prst="roundRect">
              <a:avLst>
                <a:gd fmla="val 6250" name="adj"/>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39"/>
            <p:cNvSpPr/>
            <p:nvPr/>
          </p:nvSpPr>
          <p:spPr>
            <a:xfrm>
              <a:off x="0" y="0"/>
              <a:ext cx="2724300" cy="1524000"/>
            </a:xfrm>
            <a:prstGeom prst="roundRect">
              <a:avLst>
                <a:gd fmla="val 6250" name="adj"/>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39"/>
            <p:cNvSpPr/>
            <p:nvPr/>
          </p:nvSpPr>
          <p:spPr>
            <a:xfrm>
              <a:off x="66675" y="66675"/>
              <a:ext cx="2581200" cy="285900"/>
            </a:xfrm>
            <a:prstGeom prst="roundRect">
              <a:avLst>
                <a:gd fmla="val 20000" name="adj"/>
              </a:avLst>
            </a:prstGeom>
            <a:solidFill>
              <a:srgbClr val="FF7B7B"/>
            </a:solidFill>
            <a:ln cap="flat" cmpd="sng" w="1237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39"/>
            <p:cNvSpPr/>
            <p:nvPr/>
          </p:nvSpPr>
          <p:spPr>
            <a:xfrm>
              <a:off x="114300" y="95250"/>
              <a:ext cx="228600" cy="228600"/>
            </a:xfrm>
            <a:prstGeom prst="ellipse">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4" name="Google Shape;524;p39"/>
            <p:cNvSpPr txBox="1"/>
            <p:nvPr/>
          </p:nvSpPr>
          <p:spPr>
            <a:xfrm>
              <a:off x="114300" y="9525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Comic Neue"/>
                  <a:ea typeface="Comic Neue"/>
                  <a:cs typeface="Comic Neue"/>
                  <a:sym typeface="Comic Neue"/>
                </a:rPr>
                <a:t>3</a:t>
              </a:r>
              <a:endParaRPr b="1" sz="1300">
                <a:solidFill>
                  <a:srgbClr val="FFFFFF"/>
                </a:solidFill>
                <a:latin typeface="Comic Neue"/>
                <a:ea typeface="Comic Neue"/>
                <a:cs typeface="Comic Neue"/>
                <a:sym typeface="Comic Neue"/>
              </a:endParaRPr>
            </a:p>
          </p:txBody>
        </p:sp>
        <p:sp>
          <p:nvSpPr>
            <p:cNvPr id="525" name="Google Shape;525;p39"/>
            <p:cNvSpPr txBox="1"/>
            <p:nvPr/>
          </p:nvSpPr>
          <p:spPr>
            <a:xfrm>
              <a:off x="457200" y="95250"/>
              <a:ext cx="20955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02536"/>
                  </a:solidFill>
                  <a:latin typeface="Arial"/>
                  <a:ea typeface="Arial"/>
                  <a:cs typeface="Arial"/>
                  <a:sym typeface="Arial"/>
                </a:rPr>
                <a:t>PREDICTION → ERROR</a:t>
              </a:r>
              <a:endParaRPr b="1" sz="1100">
                <a:solidFill>
                  <a:srgbClr val="202536"/>
                </a:solidFill>
                <a:latin typeface="Arial"/>
                <a:ea typeface="Arial"/>
                <a:cs typeface="Arial"/>
                <a:sym typeface="Arial"/>
              </a:endParaRPr>
            </a:p>
          </p:txBody>
        </p:sp>
        <p:sp>
          <p:nvSpPr>
            <p:cNvPr id="526" name="Google Shape;526;p39"/>
            <p:cNvSpPr txBox="1"/>
            <p:nvPr/>
          </p:nvSpPr>
          <p:spPr>
            <a:xfrm>
              <a:off x="133350" y="400050"/>
              <a:ext cx="2476500" cy="2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202536"/>
                  </a:solidFill>
                  <a:latin typeface="Comic Neue"/>
                  <a:ea typeface="Comic Neue"/>
                  <a:cs typeface="Comic Neue"/>
                  <a:sym typeface="Comic Neue"/>
                </a:rPr>
                <a:t>“Spot it” ❌</a:t>
              </a:r>
              <a:endParaRPr b="1" sz="1600">
                <a:solidFill>
                  <a:srgbClr val="202536"/>
                </a:solidFill>
                <a:latin typeface="Comic Neue"/>
                <a:ea typeface="Comic Neue"/>
                <a:cs typeface="Comic Neue"/>
                <a:sym typeface="Comic Neue"/>
              </a:endParaRPr>
            </a:p>
          </p:txBody>
        </p:sp>
        <p:pic>
          <p:nvPicPr>
            <p:cNvPr id="527" name="Google Shape;527;p39"/>
            <p:cNvPicPr preferRelativeResize="0"/>
            <p:nvPr/>
          </p:nvPicPr>
          <p:blipFill rotWithShape="1">
            <a:blip r:embed="rId7">
              <a:alphaModFix/>
            </a:blip>
            <a:srcRect b="328" l="0" r="0" t="328"/>
            <a:stretch/>
          </p:blipFill>
          <p:spPr>
            <a:xfrm>
              <a:off x="114300" y="742950"/>
              <a:ext cx="743100" cy="581100"/>
            </a:xfrm>
            <a:prstGeom prst="roundRect">
              <a:avLst>
                <a:gd fmla="val 13114" name="adj"/>
              </a:avLst>
            </a:prstGeom>
            <a:noFill/>
            <a:ln>
              <a:noFill/>
            </a:ln>
          </p:spPr>
        </p:pic>
        <p:sp>
          <p:nvSpPr>
            <p:cNvPr id="528" name="Google Shape;528;p39"/>
            <p:cNvSpPr txBox="1"/>
            <p:nvPr/>
          </p:nvSpPr>
          <p:spPr>
            <a:xfrm>
              <a:off x="914400" y="685800"/>
              <a:ext cx="1695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10">
                  <a:solidFill>
                    <a:srgbClr val="202536"/>
                  </a:solidFill>
                  <a:latin typeface="Arial"/>
                  <a:ea typeface="Arial"/>
                  <a:cs typeface="Arial"/>
                  <a:sym typeface="Arial"/>
                </a:rPr>
                <a:t>The prediction is compared to the answer to score how wrong it was.</a:t>
              </a:r>
              <a:endParaRPr b="0" sz="1110">
                <a:solidFill>
                  <a:srgbClr val="202536"/>
                </a:solidFill>
                <a:latin typeface="Arial"/>
                <a:ea typeface="Arial"/>
                <a:cs typeface="Arial"/>
                <a:sym typeface="Arial"/>
              </a:endParaRPr>
            </a:p>
          </p:txBody>
        </p:sp>
      </p:grpSp>
      <p:grpSp>
        <p:nvGrpSpPr>
          <p:cNvPr id="529" name="Google Shape;529;p39"/>
          <p:cNvGrpSpPr/>
          <p:nvPr/>
        </p:nvGrpSpPr>
        <p:grpSpPr>
          <a:xfrm>
            <a:off x="304800" y="2857500"/>
            <a:ext cx="5657775" cy="1657200"/>
            <a:chOff x="0" y="0"/>
            <a:chExt cx="5657775" cy="1657200"/>
          </a:xfrm>
        </p:grpSpPr>
        <p:sp>
          <p:nvSpPr>
            <p:cNvPr id="530" name="Google Shape;530;p39"/>
            <p:cNvSpPr/>
            <p:nvPr/>
          </p:nvSpPr>
          <p:spPr>
            <a:xfrm>
              <a:off x="28575" y="38100"/>
              <a:ext cx="5629200" cy="1619100"/>
            </a:xfrm>
            <a:prstGeom prst="roundRect">
              <a:avLst>
                <a:gd fmla="val 5882" name="adj"/>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39"/>
            <p:cNvSpPr/>
            <p:nvPr/>
          </p:nvSpPr>
          <p:spPr>
            <a:xfrm>
              <a:off x="0" y="0"/>
              <a:ext cx="5629200" cy="1619100"/>
            </a:xfrm>
            <a:prstGeom prst="roundRect">
              <a:avLst>
                <a:gd fmla="val 5882" name="adj"/>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2" name="Google Shape;532;p39"/>
            <p:cNvSpPr/>
            <p:nvPr/>
          </p:nvSpPr>
          <p:spPr>
            <a:xfrm>
              <a:off x="66675" y="66675"/>
              <a:ext cx="5486400" cy="285900"/>
            </a:xfrm>
            <a:prstGeom prst="roundRect">
              <a:avLst>
                <a:gd fmla="val 20000" name="adj"/>
              </a:avLst>
            </a:prstGeom>
            <a:solidFill>
              <a:srgbClr val="FF9364"/>
            </a:solidFill>
            <a:ln cap="flat" cmpd="sng" w="1237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3" name="Google Shape;533;p39"/>
            <p:cNvSpPr/>
            <p:nvPr/>
          </p:nvSpPr>
          <p:spPr>
            <a:xfrm>
              <a:off x="114300" y="95250"/>
              <a:ext cx="228600" cy="228600"/>
            </a:xfrm>
            <a:prstGeom prst="ellipse">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4" name="Google Shape;534;p39"/>
            <p:cNvSpPr txBox="1"/>
            <p:nvPr/>
          </p:nvSpPr>
          <p:spPr>
            <a:xfrm>
              <a:off x="114300" y="9525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Comic Neue"/>
                  <a:ea typeface="Comic Neue"/>
                  <a:cs typeface="Comic Neue"/>
                  <a:sym typeface="Comic Neue"/>
                </a:rPr>
                <a:t>4</a:t>
              </a:r>
              <a:endParaRPr b="1" sz="1300">
                <a:solidFill>
                  <a:srgbClr val="FFFFFF"/>
                </a:solidFill>
                <a:latin typeface="Comic Neue"/>
                <a:ea typeface="Comic Neue"/>
                <a:cs typeface="Comic Neue"/>
                <a:sym typeface="Comic Neue"/>
              </a:endParaRPr>
            </a:p>
          </p:txBody>
        </p:sp>
        <p:sp>
          <p:nvSpPr>
            <p:cNvPr id="535" name="Google Shape;535;p39"/>
            <p:cNvSpPr txBox="1"/>
            <p:nvPr/>
          </p:nvSpPr>
          <p:spPr>
            <a:xfrm>
              <a:off x="457200" y="95250"/>
              <a:ext cx="4953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02536"/>
                  </a:solidFill>
                  <a:latin typeface="Arial"/>
                  <a:ea typeface="Arial"/>
                  <a:cs typeface="Arial"/>
                  <a:sym typeface="Arial"/>
                </a:rPr>
                <a:t>BACKPROPAGATION</a:t>
              </a:r>
              <a:endParaRPr b="1" sz="1100">
                <a:solidFill>
                  <a:srgbClr val="202536"/>
                </a:solidFill>
                <a:latin typeface="Arial"/>
                <a:ea typeface="Arial"/>
                <a:cs typeface="Arial"/>
                <a:sym typeface="Arial"/>
              </a:endParaRPr>
            </a:p>
          </p:txBody>
        </p:sp>
        <p:sp>
          <p:nvSpPr>
            <p:cNvPr id="536" name="Google Shape;536;p39"/>
            <p:cNvSpPr txBox="1"/>
            <p:nvPr/>
          </p:nvSpPr>
          <p:spPr>
            <a:xfrm>
              <a:off x="133350" y="400050"/>
              <a:ext cx="5334000" cy="2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202536"/>
                  </a:solidFill>
                  <a:latin typeface="Comic Neue"/>
                  <a:ea typeface="Comic Neue"/>
                  <a:cs typeface="Comic Neue"/>
                  <a:sym typeface="Comic Neue"/>
                </a:rPr>
                <a:t>“Send it backward” 📐</a:t>
              </a:r>
              <a:endParaRPr b="1" sz="1600">
                <a:solidFill>
                  <a:srgbClr val="202536"/>
                </a:solidFill>
                <a:latin typeface="Comic Neue"/>
                <a:ea typeface="Comic Neue"/>
                <a:cs typeface="Comic Neue"/>
                <a:sym typeface="Comic Neue"/>
              </a:endParaRPr>
            </a:p>
          </p:txBody>
        </p:sp>
        <p:sp>
          <p:nvSpPr>
            <p:cNvPr id="537" name="Google Shape;537;p39"/>
            <p:cNvSpPr txBox="1"/>
            <p:nvPr/>
          </p:nvSpPr>
          <p:spPr>
            <a:xfrm>
              <a:off x="190500" y="704850"/>
              <a:ext cx="52389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10">
                  <a:solidFill>
                    <a:srgbClr val="202536"/>
                  </a:solidFill>
                  <a:latin typeface="Arial"/>
                  <a:ea typeface="Arial"/>
                  <a:cs typeface="Arial"/>
                  <a:sym typeface="Arial"/>
                </a:rPr>
                <a:t>The error travels backward through the network, and the network calculates gradients — directions that show how to reduce the error.</a:t>
              </a:r>
              <a:endParaRPr b="0" sz="1110">
                <a:solidFill>
                  <a:srgbClr val="202536"/>
                </a:solidFill>
                <a:latin typeface="Arial"/>
                <a:ea typeface="Arial"/>
                <a:cs typeface="Arial"/>
                <a:sym typeface="Arial"/>
              </a:endParaRPr>
            </a:p>
          </p:txBody>
        </p:sp>
      </p:grpSp>
      <p:pic>
        <p:nvPicPr>
          <p:cNvPr id="538" name="Google Shape;538;p39"/>
          <p:cNvPicPr preferRelativeResize="0"/>
          <p:nvPr/>
        </p:nvPicPr>
        <p:blipFill rotWithShape="1">
          <a:blip r:embed="rId5">
            <a:alphaModFix/>
          </a:blip>
          <a:srcRect b="0" l="2381" r="2381" t="0"/>
          <a:stretch/>
        </p:blipFill>
        <p:spPr>
          <a:xfrm>
            <a:off x="5934075" y="3600450"/>
            <a:ext cx="190500" cy="133500"/>
          </a:xfrm>
          <a:prstGeom prst="rect">
            <a:avLst/>
          </a:prstGeom>
          <a:noFill/>
          <a:ln>
            <a:noFill/>
          </a:ln>
        </p:spPr>
      </p:pic>
      <p:grpSp>
        <p:nvGrpSpPr>
          <p:cNvPr id="539" name="Google Shape;539;p39"/>
          <p:cNvGrpSpPr/>
          <p:nvPr/>
        </p:nvGrpSpPr>
        <p:grpSpPr>
          <a:xfrm>
            <a:off x="6115050" y="2857500"/>
            <a:ext cx="2752875" cy="1657200"/>
            <a:chOff x="0" y="0"/>
            <a:chExt cx="2752875" cy="1657200"/>
          </a:xfrm>
        </p:grpSpPr>
        <p:sp>
          <p:nvSpPr>
            <p:cNvPr id="540" name="Google Shape;540;p39"/>
            <p:cNvSpPr/>
            <p:nvPr/>
          </p:nvSpPr>
          <p:spPr>
            <a:xfrm>
              <a:off x="28575" y="38100"/>
              <a:ext cx="2724300" cy="1619100"/>
            </a:xfrm>
            <a:prstGeom prst="roundRect">
              <a:avLst>
                <a:gd fmla="val 5882" name="adj"/>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39"/>
            <p:cNvSpPr/>
            <p:nvPr/>
          </p:nvSpPr>
          <p:spPr>
            <a:xfrm>
              <a:off x="0" y="0"/>
              <a:ext cx="2724300" cy="1619100"/>
            </a:xfrm>
            <a:prstGeom prst="roundRect">
              <a:avLst>
                <a:gd fmla="val 5882" name="adj"/>
              </a:avLst>
            </a:prstGeom>
            <a:solidFill>
              <a:srgbClr val="FFFFFF"/>
            </a:solidFill>
            <a:ln cap="flat" cmpd="sng" w="228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2" name="Google Shape;542;p39"/>
            <p:cNvSpPr/>
            <p:nvPr/>
          </p:nvSpPr>
          <p:spPr>
            <a:xfrm>
              <a:off x="66675" y="66675"/>
              <a:ext cx="2581200" cy="285900"/>
            </a:xfrm>
            <a:prstGeom prst="roundRect">
              <a:avLst>
                <a:gd fmla="val 20000" name="adj"/>
              </a:avLst>
            </a:prstGeom>
            <a:solidFill>
              <a:srgbClr val="B8A4F1"/>
            </a:solidFill>
            <a:ln cap="flat" cmpd="sng" w="12375">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3" name="Google Shape;543;p39"/>
            <p:cNvSpPr/>
            <p:nvPr/>
          </p:nvSpPr>
          <p:spPr>
            <a:xfrm>
              <a:off x="114300" y="95250"/>
              <a:ext cx="228600" cy="228600"/>
            </a:xfrm>
            <a:prstGeom prst="ellipse">
              <a:avLst/>
            </a:prstGeom>
            <a:solidFill>
              <a:srgbClr val="2025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39"/>
            <p:cNvSpPr txBox="1"/>
            <p:nvPr/>
          </p:nvSpPr>
          <p:spPr>
            <a:xfrm>
              <a:off x="114300" y="9525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Comic Neue"/>
                  <a:ea typeface="Comic Neue"/>
                  <a:cs typeface="Comic Neue"/>
                  <a:sym typeface="Comic Neue"/>
                </a:rPr>
                <a:t>5</a:t>
              </a:r>
              <a:endParaRPr b="1" sz="1300">
                <a:solidFill>
                  <a:srgbClr val="FFFFFF"/>
                </a:solidFill>
                <a:latin typeface="Comic Neue"/>
                <a:ea typeface="Comic Neue"/>
                <a:cs typeface="Comic Neue"/>
                <a:sym typeface="Comic Neue"/>
              </a:endParaRPr>
            </a:p>
          </p:txBody>
        </p:sp>
        <p:sp>
          <p:nvSpPr>
            <p:cNvPr id="545" name="Google Shape;545;p39"/>
            <p:cNvSpPr txBox="1"/>
            <p:nvPr/>
          </p:nvSpPr>
          <p:spPr>
            <a:xfrm>
              <a:off x="457200" y="95250"/>
              <a:ext cx="20955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02536"/>
                  </a:solidFill>
                  <a:latin typeface="Arial"/>
                  <a:ea typeface="Arial"/>
                  <a:cs typeface="Arial"/>
                  <a:sym typeface="Arial"/>
                </a:rPr>
                <a:t>ADJUST &amp; REPEAT</a:t>
              </a:r>
              <a:endParaRPr b="1" sz="1100">
                <a:solidFill>
                  <a:srgbClr val="202536"/>
                </a:solidFill>
                <a:latin typeface="Arial"/>
                <a:ea typeface="Arial"/>
                <a:cs typeface="Arial"/>
                <a:sym typeface="Arial"/>
              </a:endParaRPr>
            </a:p>
          </p:txBody>
        </p:sp>
        <p:sp>
          <p:nvSpPr>
            <p:cNvPr id="546" name="Google Shape;546;p39"/>
            <p:cNvSpPr txBox="1"/>
            <p:nvPr/>
          </p:nvSpPr>
          <p:spPr>
            <a:xfrm>
              <a:off x="133350" y="400050"/>
              <a:ext cx="2476500" cy="2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202536"/>
                  </a:solidFill>
                  <a:latin typeface="Comic Neue"/>
                  <a:ea typeface="Comic Neue"/>
                  <a:cs typeface="Comic Neue"/>
                  <a:sym typeface="Comic Neue"/>
                </a:rPr>
                <a:t>“Try again!” 🔧</a:t>
              </a:r>
              <a:endParaRPr b="1" sz="1600">
                <a:solidFill>
                  <a:srgbClr val="202536"/>
                </a:solidFill>
                <a:latin typeface="Comic Neue"/>
                <a:ea typeface="Comic Neue"/>
                <a:cs typeface="Comic Neue"/>
                <a:sym typeface="Comic Neue"/>
              </a:endParaRPr>
            </a:p>
          </p:txBody>
        </p:sp>
        <p:pic>
          <p:nvPicPr>
            <p:cNvPr id="547" name="Google Shape;547;p39"/>
            <p:cNvPicPr preferRelativeResize="0"/>
            <p:nvPr/>
          </p:nvPicPr>
          <p:blipFill rotWithShape="1">
            <a:blip r:embed="rId8">
              <a:alphaModFix/>
            </a:blip>
            <a:srcRect b="169" l="0" r="0" t="169"/>
            <a:stretch/>
          </p:blipFill>
          <p:spPr>
            <a:xfrm>
              <a:off x="114300" y="723900"/>
              <a:ext cx="771600" cy="723900"/>
            </a:xfrm>
            <a:prstGeom prst="roundRect">
              <a:avLst>
                <a:gd fmla="val 10526" name="adj"/>
              </a:avLst>
            </a:prstGeom>
            <a:noFill/>
            <a:ln>
              <a:noFill/>
            </a:ln>
          </p:spPr>
        </p:pic>
        <p:sp>
          <p:nvSpPr>
            <p:cNvPr id="548" name="Google Shape;548;p39"/>
            <p:cNvSpPr txBox="1"/>
            <p:nvPr/>
          </p:nvSpPr>
          <p:spPr>
            <a:xfrm>
              <a:off x="933450" y="685800"/>
              <a:ext cx="1666800" cy="8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10">
                  <a:solidFill>
                    <a:srgbClr val="202536"/>
                  </a:solidFill>
                  <a:latin typeface="Arial"/>
                  <a:ea typeface="Arial"/>
                  <a:cs typeface="Arial"/>
                  <a:sym typeface="Arial"/>
                </a:rPr>
                <a:t>The network adjusts its weights using the gradients, then tries again!</a:t>
              </a:r>
              <a:endParaRPr b="0" sz="1110">
                <a:solidFill>
                  <a:srgbClr val="202536"/>
                </a:solidFill>
                <a:latin typeface="Arial"/>
                <a:ea typeface="Arial"/>
                <a:cs typeface="Arial"/>
                <a:sym typeface="Arial"/>
              </a:endParaRPr>
            </a:p>
          </p:txBody>
        </p:sp>
      </p:grpSp>
      <p:sp>
        <p:nvSpPr>
          <p:cNvPr id="549" name="Google Shape;549;p39"/>
          <p:cNvSpPr/>
          <p:nvPr/>
        </p:nvSpPr>
        <p:spPr>
          <a:xfrm>
            <a:off x="304800" y="4619625"/>
            <a:ext cx="8534400" cy="324000"/>
          </a:xfrm>
          <a:prstGeom prst="roundRect">
            <a:avLst>
              <a:gd fmla="val 17647" name="adj"/>
            </a:avLst>
          </a:prstGeom>
          <a:solidFill>
            <a:srgbClr val="FFE16A"/>
          </a:solidFill>
          <a:ln cap="flat" cmpd="sng" w="19050">
            <a:solidFill>
              <a:srgbClr val="2025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39"/>
          <p:cNvSpPr txBox="1"/>
          <p:nvPr/>
        </p:nvSpPr>
        <p:spPr>
          <a:xfrm>
            <a:off x="342900" y="4619625"/>
            <a:ext cx="84582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202536"/>
                </a:solidFill>
                <a:latin typeface="Comic Neue"/>
                <a:ea typeface="Comic Neue"/>
                <a:cs typeface="Comic Neue"/>
                <a:sym typeface="Comic Neue"/>
              </a:rPr>
              <a:t>🔁 The loop: Input → Predict → Error → Backprop → Adjust → Repeat!</a:t>
            </a:r>
            <a:endParaRPr b="1" sz="1600">
              <a:solidFill>
                <a:srgbClr val="202536"/>
              </a:solidFill>
              <a:latin typeface="Comic Neue"/>
              <a:ea typeface="Comic Neue"/>
              <a:cs typeface="Comic Neue"/>
              <a:sym typeface="Comic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3E8"/>
        </a:solidFill>
      </p:bgPr>
    </p:bg>
    <p:spTree>
      <p:nvGrpSpPr>
        <p:cNvPr id="554" name="Shape 554"/>
        <p:cNvGrpSpPr/>
        <p:nvPr/>
      </p:nvGrpSpPr>
      <p:grpSpPr>
        <a:xfrm>
          <a:off x="0" y="0"/>
          <a:ext cx="0" cy="0"/>
          <a:chOff x="0" y="0"/>
          <a:chExt cx="0" cy="0"/>
        </a:xfrm>
      </p:grpSpPr>
      <p:pic>
        <p:nvPicPr>
          <p:cNvPr descr="a04_cartoon_slide_1.png" id="555" name="Google Shape;555;p40"/>
          <p:cNvPicPr preferRelativeResize="0"/>
          <p:nvPr/>
        </p:nvPicPr>
        <p:blipFill rotWithShape="1">
          <a:blip r:embed="rId3">
            <a:alphaModFix/>
          </a:blip>
          <a:srcRect b="0" l="0" r="0" t="0"/>
          <a:stretch/>
        </p:blipFill>
        <p:spPr>
          <a:xfrm>
            <a:off x="236350" y="247600"/>
            <a:ext cx="8688801" cy="4637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3E8"/>
        </a:solidFill>
      </p:bgPr>
    </p:bg>
    <p:spTree>
      <p:nvGrpSpPr>
        <p:cNvPr id="559" name="Shape 559"/>
        <p:cNvGrpSpPr/>
        <p:nvPr/>
      </p:nvGrpSpPr>
      <p:grpSpPr>
        <a:xfrm>
          <a:off x="0" y="0"/>
          <a:ext cx="0" cy="0"/>
          <a:chOff x="0" y="0"/>
          <a:chExt cx="0" cy="0"/>
        </a:xfrm>
      </p:grpSpPr>
      <p:pic>
        <p:nvPicPr>
          <p:cNvPr descr="a04_cartoon_slide_2.png" id="560" name="Google Shape;560;p41"/>
          <p:cNvPicPr preferRelativeResize="0"/>
          <p:nvPr/>
        </p:nvPicPr>
        <p:blipFill rotWithShape="1">
          <a:blip r:embed="rId3">
            <a:alphaModFix/>
          </a:blip>
          <a:srcRect b="0" l="0" r="0" t="0"/>
          <a:stretch/>
        </p:blipFill>
        <p:spPr>
          <a:xfrm>
            <a:off x="225100" y="213850"/>
            <a:ext cx="8711300" cy="4715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descr="a_wide_infographic_cartoon_poster_in_the_same_styl.png" id="565" name="Google Shape;565;p42"/>
          <p:cNvPicPr preferRelativeResize="0"/>
          <p:nvPr/>
        </p:nvPicPr>
        <p:blipFill rotWithShape="1">
          <a:blip r:embed="rId3">
            <a:alphaModFix/>
          </a:blip>
          <a:srcRect b="0" l="0" r="0" t="0"/>
          <a:stretch/>
        </p:blipFill>
        <p:spPr>
          <a:xfrm>
            <a:off x="236350" y="236350"/>
            <a:ext cx="8576248" cy="46933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